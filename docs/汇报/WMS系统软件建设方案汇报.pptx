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ommentAuthors.xml" ContentType="application/vnd.openxmlformats-officedocument.presentationml.commentAuthor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sldIdLst>
    <p:sldId id="903" r:id="rId3"/>
    <p:sldId id="673" r:id="rId5"/>
    <p:sldId id="723" r:id="rId6"/>
    <p:sldId id="842" r:id="rId7"/>
    <p:sldId id="825" r:id="rId8"/>
    <p:sldId id="1065" r:id="rId9"/>
    <p:sldId id="979" r:id="rId10"/>
    <p:sldId id="941" r:id="rId11"/>
    <p:sldId id="834" r:id="rId12"/>
    <p:sldId id="837" r:id="rId13"/>
    <p:sldId id="1131" r:id="rId14"/>
    <p:sldId id="1132" r:id="rId15"/>
    <p:sldId id="1133" r:id="rId16"/>
    <p:sldId id="1135" r:id="rId17"/>
    <p:sldId id="1136" r:id="rId18"/>
    <p:sldId id="1137" r:id="rId19"/>
    <p:sldId id="1138" r:id="rId20"/>
    <p:sldId id="1139" r:id="rId21"/>
    <p:sldId id="1140" r:id="rId22"/>
    <p:sldId id="1141" r:id="rId23"/>
    <p:sldId id="1142" r:id="rId24"/>
    <p:sldId id="1143" r:id="rId25"/>
    <p:sldId id="1144" r:id="rId26"/>
    <p:sldId id="1145" r:id="rId27"/>
    <p:sldId id="1146" r:id="rId28"/>
    <p:sldId id="1147" r:id="rId29"/>
    <p:sldId id="1148" r:id="rId30"/>
    <p:sldId id="1149" r:id="rId31"/>
    <p:sldId id="1129" r:id="rId32"/>
    <p:sldId id="1130" r:id="rId33"/>
    <p:sldId id="853" r:id="rId34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3760" userDrawn="1">
          <p15:clr>
            <a:srgbClr val="A4A3A4"/>
          </p15:clr>
        </p15:guide>
        <p15:guide id="2" orient="horz" pos="2152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2" name="作者" initials="A" lastIdx="0" clrIdx="1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BBE0E3"/>
    <a:srgbClr val="15B3EB"/>
    <a:srgbClr val="BFBFBF"/>
    <a:srgbClr val="00B0F0"/>
    <a:srgbClr val="13B6F1"/>
    <a:srgbClr val="000000"/>
    <a:srgbClr val="404040"/>
    <a:srgbClr val="404F64"/>
    <a:srgbClr val="3C87CF"/>
    <a:srgbClr val="11559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823" autoAdjust="0"/>
    <p:restoredTop sz="94660"/>
  </p:normalViewPr>
  <p:slideViewPr>
    <p:cSldViewPr snapToGrid="0" showGuides="1">
      <p:cViewPr varScale="1">
        <p:scale>
          <a:sx n="110" d="100"/>
          <a:sy n="110" d="100"/>
        </p:scale>
        <p:origin x="642" y="102"/>
      </p:cViewPr>
      <p:guideLst>
        <p:guide pos="3760"/>
        <p:guide orient="horz" pos="2152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62" d="100"/>
        <a:sy n="62" d="100"/>
      </p:scale>
      <p:origin x="0" y="0"/>
    </p:cViewPr>
  </p:sorterViewPr>
  <p:notesViewPr>
    <p:cSldViewPr snapToGrid="0">
      <p:cViewPr varScale="1">
        <p:scale>
          <a:sx n="88" d="100"/>
          <a:sy n="88" d="100"/>
        </p:scale>
        <p:origin x="3822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8" Type="http://schemas.openxmlformats.org/officeDocument/2006/relationships/commentAuthors" Target="commentAuthors.xml"/><Relationship Id="rId37" Type="http://schemas.openxmlformats.org/officeDocument/2006/relationships/tableStyles" Target="tableStyles.xml"/><Relationship Id="rId36" Type="http://schemas.openxmlformats.org/officeDocument/2006/relationships/viewProps" Target="viewProps.xml"/><Relationship Id="rId35" Type="http://schemas.openxmlformats.org/officeDocument/2006/relationships/presProps" Target="presProps.xml"/><Relationship Id="rId34" Type="http://schemas.openxmlformats.org/officeDocument/2006/relationships/slide" Target="slides/slide31.xml"/><Relationship Id="rId33" Type="http://schemas.openxmlformats.org/officeDocument/2006/relationships/slide" Target="slides/slide30.xml"/><Relationship Id="rId32" Type="http://schemas.openxmlformats.org/officeDocument/2006/relationships/slide" Target="slides/slide29.xml"/><Relationship Id="rId31" Type="http://schemas.openxmlformats.org/officeDocument/2006/relationships/slide" Target="slides/slide28.xml"/><Relationship Id="rId30" Type="http://schemas.openxmlformats.org/officeDocument/2006/relationships/slide" Target="slides/slide27.xml"/><Relationship Id="rId3" Type="http://schemas.openxmlformats.org/officeDocument/2006/relationships/slide" Target="slides/slide1.xml"/><Relationship Id="rId29" Type="http://schemas.openxmlformats.org/officeDocument/2006/relationships/slide" Target="slides/slide26.xml"/><Relationship Id="rId28" Type="http://schemas.openxmlformats.org/officeDocument/2006/relationships/slide" Target="slides/slide25.xml"/><Relationship Id="rId27" Type="http://schemas.openxmlformats.org/officeDocument/2006/relationships/slide" Target="slides/slide24.xml"/><Relationship Id="rId26" Type="http://schemas.openxmlformats.org/officeDocument/2006/relationships/slide" Target="slides/slide23.xml"/><Relationship Id="rId25" Type="http://schemas.openxmlformats.org/officeDocument/2006/relationships/slide" Target="slides/slide22.xml"/><Relationship Id="rId24" Type="http://schemas.openxmlformats.org/officeDocument/2006/relationships/slide" Target="slides/slide21.xml"/><Relationship Id="rId23" Type="http://schemas.openxmlformats.org/officeDocument/2006/relationships/slide" Target="slides/slide20.xml"/><Relationship Id="rId22" Type="http://schemas.openxmlformats.org/officeDocument/2006/relationships/slide" Target="slides/slide19.xml"/><Relationship Id="rId21" Type="http://schemas.openxmlformats.org/officeDocument/2006/relationships/slide" Target="slides/slide18.xml"/><Relationship Id="rId20" Type="http://schemas.openxmlformats.org/officeDocument/2006/relationships/slide" Target="slides/slide17.xml"/><Relationship Id="rId2" Type="http://schemas.openxmlformats.org/officeDocument/2006/relationships/theme" Target="theme/theme1.xml"/><Relationship Id="rId19" Type="http://schemas.openxmlformats.org/officeDocument/2006/relationships/slide" Target="slides/slide16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2CF1072-4486-4170-8B77-790875179B6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A65FB31-D8C3-4D38-AD6C-8C13CBFE13B9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6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7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8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9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0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2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3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4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5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6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7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8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9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0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/>
          <p:nvPr>
            <p:ph type="sldImg" idx="2"/>
          </p:nvPr>
        </p:nvSpPr>
        <p:spPr/>
      </p:sp>
      <p:sp>
        <p:nvSpPr>
          <p:cNvPr id="3" name="文本占位符 2"/>
          <p:cNvSpPr/>
          <p:nvPr>
            <p:ph type="body" idx="3"/>
          </p:nvPr>
        </p:nvSpPr>
        <p:spPr/>
        <p:txBody>
          <a:bodyPr/>
          <a:p>
            <a:r>
              <a:rPr lang="zh-CN" altLang="en-US"/>
              <a:t>各位领导，大家上午好，我是中建技术中心的毕艳，这次验收会由我来为大家汇报《》开发与完成情况。</a:t>
            </a:r>
            <a:endParaRPr lang="zh-CN" alt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74281D7-AB8B-4A49-B31C-4FE8BBA57302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第一部分是总体概述</a:t>
            </a:r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74281D7-AB8B-4A49-B31C-4FE8BBA57302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74281D7-AB8B-4A49-B31C-4FE8BBA57302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74281D7-AB8B-4A49-B31C-4FE8BBA57302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第二部分为平台详细介绍</a:t>
            </a:r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74281D7-AB8B-4A49-B31C-4FE8BBA57302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74281D7-AB8B-4A49-B31C-4FE8BBA57302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首先咱们要做的第一个工作就是模型轻量化，将</a:t>
            </a:r>
            <a:r>
              <a:rPr lang="en-US" altLang="zh-CN"/>
              <a:t>BIM</a:t>
            </a:r>
            <a:r>
              <a:rPr lang="zh-CN" altLang="en-US"/>
              <a:t>模型通过插件在</a:t>
            </a:r>
            <a:r>
              <a:rPr lang="en-US" altLang="zh-CN"/>
              <a:t>revit</a:t>
            </a:r>
            <a:r>
              <a:rPr lang="zh-CN" altLang="en-US"/>
              <a:t>里面导出轻量化模型，将模型轻量化的目的就是为了让模型能够更快、更好的在平台上展示出来。</a:t>
            </a:r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74281D7-AB8B-4A49-B31C-4FE8BBA57302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74281D7-AB8B-4A49-B31C-4FE8BBA57302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74281D7-AB8B-4A49-B31C-4FE8BBA57302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74281D7-AB8B-4A49-B31C-4FE8BBA57302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74281D7-AB8B-4A49-B31C-4FE8BBA57302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74281D7-AB8B-4A49-B31C-4FE8BBA57302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74281D7-AB8B-4A49-B31C-4FE8BBA57302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74281D7-AB8B-4A49-B31C-4FE8BBA57302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74281D7-AB8B-4A49-B31C-4FE8BBA57302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74281D7-AB8B-4A49-B31C-4FE8BBA57302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74281D7-AB8B-4A49-B31C-4FE8BBA57302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74281D7-AB8B-4A49-B31C-4FE8BBA57302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74281D7-AB8B-4A49-B31C-4FE8BBA57302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74281D7-AB8B-4A49-B31C-4FE8BBA57302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74281D7-AB8B-4A49-B31C-4FE8BBA57302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74281D7-AB8B-4A49-B31C-4FE8BBA57302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74281D7-AB8B-4A49-B31C-4FE8BBA57302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74281D7-AB8B-4A49-B31C-4FE8BBA57302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74281D7-AB8B-4A49-B31C-4FE8BBA57302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74281D7-AB8B-4A49-B31C-4FE8BBA57302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74281D7-AB8B-4A49-B31C-4FE8BBA57302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第二部分为平台详细介绍</a:t>
            </a:r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74281D7-AB8B-4A49-B31C-4FE8BBA57302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dirty="0">
              <a:solidFill>
                <a:schemeClr val="tx1">
                  <a:lumMod val="95000"/>
                  <a:lumOff val="5000"/>
                </a:schemeClr>
              </a:solidFill>
              <a:latin typeface="苹方-简" panose="020B0400000000000000" charset="-122"/>
              <a:ea typeface="苹方-简" panose="020B0400000000000000" charset="-122"/>
              <a:sym typeface="Source Han Serif SC" panose="02020400000000000000" pitchFamily="18" charset="-122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74281D7-AB8B-4A49-B31C-4FE8BBA57302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algn="l" defTabSz="914400" rtl="0" eaLnBrk="1" latinLnBrk="0" hangingPunct="1"/>
            <a:endParaRPr lang="zh-CN" altLang="en-US" sz="28700" b="0" i="0" kern="1200" baseline="0" dirty="0">
              <a:solidFill>
                <a:schemeClr val="tx1"/>
              </a:solidFill>
              <a:effectLst/>
              <a:latin typeface="+mn-ea"/>
              <a:ea typeface="+mn-ea"/>
              <a:cs typeface="+mn-cs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3D5ECE6-943B-49D7-A8A9-CDF5665F1A48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914401" y="2130427"/>
            <a:ext cx="10363200" cy="1470025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828801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zh-CN" altLang="en-US"/>
              <a:t>单击此处编辑母版副标题样式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3AE4B8-DA9A-4BB8-AEEC-2269BDB78975}" type="datetimeFigureOut">
              <a:rPr lang="zh-CN" altLang="en-US" smtClean="0">
                <a:solidFill>
                  <a:prstClr val="black">
                    <a:tint val="75000"/>
                  </a:prstClr>
                </a:solidFill>
              </a:rPr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A1528B-296A-4977-9204-26D6325B9518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  <p:transition spd="slow" advClick="0" advTm="2000">
    <p:push dir="u"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3AE4B8-DA9A-4BB8-AEEC-2269BDB78975}" type="datetimeFigureOut">
              <a:rPr lang="zh-CN" altLang="en-US" smtClean="0">
                <a:solidFill>
                  <a:prstClr val="black">
                    <a:tint val="75000"/>
                  </a:prstClr>
                </a:solidFill>
              </a:rPr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A1528B-296A-4977-9204-26D6325B9518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  <p:transition spd="slow" advClick="0" advTm="2000">
    <p:push dir="u"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963085" y="4406902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963085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3AE4B8-DA9A-4BB8-AEEC-2269BDB78975}" type="datetimeFigureOut">
              <a:rPr lang="zh-CN" altLang="en-US" smtClean="0">
                <a:solidFill>
                  <a:prstClr val="black">
                    <a:tint val="75000"/>
                  </a:prstClr>
                </a:solidFill>
              </a:rPr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A1528B-296A-4977-9204-26D6325B9518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  <p:transition spd="slow" advClick="0" advTm="2000">
    <p:push dir="u"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609601" y="1600202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97600" y="1600202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3AE4B8-DA9A-4BB8-AEEC-2269BDB78975}" type="datetimeFigureOut">
              <a:rPr lang="zh-CN" altLang="en-US" smtClean="0">
                <a:solidFill>
                  <a:prstClr val="black">
                    <a:tint val="75000"/>
                  </a:prstClr>
                </a:solidFill>
              </a:rPr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A1528B-296A-4977-9204-26D6325B9518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  <p:transition spd="slow" advClick="0" advTm="2000">
    <p:push dir="u"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93367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93367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3AE4B8-DA9A-4BB8-AEEC-2269BDB78975}" type="datetimeFigureOut">
              <a:rPr lang="zh-CN" altLang="en-US" smtClean="0">
                <a:solidFill>
                  <a:prstClr val="black">
                    <a:tint val="75000"/>
                  </a:prstClr>
                </a:solidFill>
              </a:rPr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A1528B-296A-4977-9204-26D6325B9518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  <p:transition spd="slow" advClick="0" advTm="2000">
    <p:push dir="u"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3AE4B8-DA9A-4BB8-AEEC-2269BDB78975}" type="datetimeFigureOut">
              <a:rPr lang="zh-CN" altLang="en-US" smtClean="0">
                <a:solidFill>
                  <a:prstClr val="black">
                    <a:tint val="75000"/>
                  </a:prstClr>
                </a:solidFill>
              </a:rPr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A1528B-296A-4977-9204-26D6325B9518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  <p:transition spd="slow" advClick="0" advTm="2000">
    <p:push dir="u"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3AE4B8-DA9A-4BB8-AEEC-2269BDB78975}" type="datetimeFigureOut">
              <a:rPr lang="zh-CN" altLang="en-US" smtClean="0">
                <a:solidFill>
                  <a:prstClr val="black">
                    <a:tint val="75000"/>
                  </a:prstClr>
                </a:solidFill>
              </a:rPr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A1528B-296A-4977-9204-26D6325B9518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  <p:transition spd="slow" advClick="0" advTm="2000">
    <p:push dir="u"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09600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4766734" y="273052"/>
            <a:ext cx="681566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609600" y="1435102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3AE4B8-DA9A-4BB8-AEEC-2269BDB78975}" type="datetimeFigureOut">
              <a:rPr lang="zh-CN" altLang="en-US" smtClean="0">
                <a:solidFill>
                  <a:prstClr val="black">
                    <a:tint val="75000"/>
                  </a:prstClr>
                </a:solidFill>
              </a:rPr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A1528B-296A-4977-9204-26D6325B9518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  <p:transition spd="slow" advClick="0" advTm="2000">
    <p:push dir="u"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3AE4B8-DA9A-4BB8-AEEC-2269BDB78975}" type="datetimeFigureOut">
              <a:rPr lang="zh-CN" altLang="en-US" smtClean="0">
                <a:solidFill>
                  <a:prstClr val="black">
                    <a:tint val="75000"/>
                  </a:prstClr>
                </a:solidFill>
              </a:rPr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A1528B-296A-4977-9204-26D6325B9518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  <p:transition spd="slow" advClick="0" advTm="2000">
    <p:push dir="u"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3AE4B8-DA9A-4BB8-AEEC-2269BDB78975}" type="datetimeFigureOut">
              <a:rPr lang="zh-CN" altLang="en-US" smtClean="0">
                <a:solidFill>
                  <a:prstClr val="black">
                    <a:tint val="75000"/>
                  </a:prstClr>
                </a:solidFill>
              </a:rPr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A1528B-296A-4977-9204-26D6325B9518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  <p:transition spd="slow" advClick="0" advTm="2000">
    <p:push dir="u"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839200" y="274640"/>
            <a:ext cx="2743200" cy="5851525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609601" y="274640"/>
            <a:ext cx="8026400" cy="5851525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3AE4B8-DA9A-4BB8-AEEC-2269BDB78975}" type="datetimeFigureOut">
              <a:rPr lang="zh-CN" altLang="en-US" smtClean="0">
                <a:solidFill>
                  <a:prstClr val="black">
                    <a:tint val="75000"/>
                  </a:prstClr>
                </a:solidFill>
              </a:rPr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A1528B-296A-4977-9204-26D6325B9518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  <p:transition spd="slow" advClick="0" advTm="2000">
    <p:push dir="u"/>
  </p:transition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CFCFC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</p:cSld>
  <p:clrMapOvr>
    <a:masterClrMapping/>
  </p:clrMapOvr>
  <p:transition spd="slow" advClick="0" advTm="2000">
    <p:push dir="u"/>
  </p:transition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CFCFC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</p:cSld>
  <p:clrMapOvr>
    <a:masterClrMapping/>
  </p:clrMapOvr>
  <p:transition spd="slow" advClick="0" advTm="2000">
    <p:push dir="u"/>
  </p:transition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</p:cSld>
  <p:clrMapOvr>
    <a:masterClrMapping/>
  </p:clrMapOvr>
  <p:transition spd="slow" advClick="0" advTm="2000">
    <p:push dir="u"/>
  </p:transition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9" name="组合 8"/>
          <p:cNvGrpSpPr/>
          <p:nvPr userDrawn="1"/>
        </p:nvGrpSpPr>
        <p:grpSpPr>
          <a:xfrm>
            <a:off x="-1" y="32647"/>
            <a:ext cx="12192001" cy="797348"/>
            <a:chOff x="-1" y="-5751"/>
            <a:chExt cx="12192001" cy="874143"/>
          </a:xfrm>
        </p:grpSpPr>
        <p:sp>
          <p:nvSpPr>
            <p:cNvPr id="10" name="五边形 24"/>
            <p:cNvSpPr/>
            <p:nvPr userDrawn="1"/>
          </p:nvSpPr>
          <p:spPr>
            <a:xfrm>
              <a:off x="-1" y="-5751"/>
              <a:ext cx="2271623" cy="874143"/>
            </a:xfrm>
            <a:custGeom>
              <a:avLst/>
              <a:gdLst>
                <a:gd name="connsiteX0" fmla="*/ 0 w 2641600"/>
                <a:gd name="connsiteY0" fmla="*/ 0 h 787400"/>
                <a:gd name="connsiteX1" fmla="*/ 2247900 w 2641600"/>
                <a:gd name="connsiteY1" fmla="*/ 0 h 787400"/>
                <a:gd name="connsiteX2" fmla="*/ 2641600 w 2641600"/>
                <a:gd name="connsiteY2" fmla="*/ 393700 h 787400"/>
                <a:gd name="connsiteX3" fmla="*/ 2247900 w 2641600"/>
                <a:gd name="connsiteY3" fmla="*/ 787400 h 787400"/>
                <a:gd name="connsiteX4" fmla="*/ 0 w 2641600"/>
                <a:gd name="connsiteY4" fmla="*/ 787400 h 787400"/>
                <a:gd name="connsiteX5" fmla="*/ 0 w 2641600"/>
                <a:gd name="connsiteY5" fmla="*/ 0 h 787400"/>
                <a:gd name="connsiteX0-1" fmla="*/ 0 w 2247900"/>
                <a:gd name="connsiteY0-2" fmla="*/ 0 h 787400"/>
                <a:gd name="connsiteX1-3" fmla="*/ 2247900 w 2247900"/>
                <a:gd name="connsiteY1-4" fmla="*/ 0 h 787400"/>
                <a:gd name="connsiteX2-5" fmla="*/ 2247900 w 2247900"/>
                <a:gd name="connsiteY2-6" fmla="*/ 787400 h 787400"/>
                <a:gd name="connsiteX3-7" fmla="*/ 0 w 2247900"/>
                <a:gd name="connsiteY3-8" fmla="*/ 787400 h 787400"/>
                <a:gd name="connsiteX4-9" fmla="*/ 0 w 2247900"/>
                <a:gd name="connsiteY4-10" fmla="*/ 0 h 787400"/>
                <a:gd name="connsiteX0-11" fmla="*/ 0 w 2247900"/>
                <a:gd name="connsiteY0-12" fmla="*/ 0 h 787400"/>
                <a:gd name="connsiteX1-13" fmla="*/ 2158690 w 2247900"/>
                <a:gd name="connsiteY1-14" fmla="*/ 0 h 787400"/>
                <a:gd name="connsiteX2-15" fmla="*/ 2247900 w 2247900"/>
                <a:gd name="connsiteY2-16" fmla="*/ 787400 h 787400"/>
                <a:gd name="connsiteX3-17" fmla="*/ 0 w 2247900"/>
                <a:gd name="connsiteY3-18" fmla="*/ 787400 h 787400"/>
                <a:gd name="connsiteX4-19" fmla="*/ 0 w 2247900"/>
                <a:gd name="connsiteY4-20" fmla="*/ 0 h 787400"/>
              </a:gdLst>
              <a:ahLst/>
              <a:cxnLst>
                <a:cxn ang="0">
                  <a:pos x="connsiteX0-1" y="connsiteY0-2"/>
                </a:cxn>
                <a:cxn ang="0">
                  <a:pos x="connsiteX1-3" y="connsiteY1-4"/>
                </a:cxn>
                <a:cxn ang="0">
                  <a:pos x="connsiteX2-5" y="connsiteY2-6"/>
                </a:cxn>
                <a:cxn ang="0">
                  <a:pos x="connsiteX3-7" y="connsiteY3-8"/>
                </a:cxn>
                <a:cxn ang="0">
                  <a:pos x="connsiteX4-9" y="connsiteY4-10"/>
                </a:cxn>
              </a:cxnLst>
              <a:rect l="l" t="t" r="r" b="b"/>
              <a:pathLst>
                <a:path w="2247900" h="787400">
                  <a:moveTo>
                    <a:pt x="0" y="0"/>
                  </a:moveTo>
                  <a:lnTo>
                    <a:pt x="2158690" y="0"/>
                  </a:lnTo>
                  <a:lnTo>
                    <a:pt x="2247900" y="787400"/>
                  </a:lnTo>
                  <a:lnTo>
                    <a:pt x="0" y="7874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3546A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2400" dirty="0"/>
            </a:p>
          </p:txBody>
        </p:sp>
        <p:sp>
          <p:nvSpPr>
            <p:cNvPr id="11" name="矩形 10"/>
            <p:cNvSpPr/>
            <p:nvPr userDrawn="1"/>
          </p:nvSpPr>
          <p:spPr>
            <a:xfrm>
              <a:off x="0" y="34507"/>
              <a:ext cx="12192000" cy="787400"/>
            </a:xfrm>
            <a:prstGeom prst="rect">
              <a:avLst/>
            </a:prstGeom>
            <a:solidFill>
              <a:srgbClr val="404F64"/>
            </a:solidFill>
            <a:ln>
              <a:noFill/>
            </a:ln>
            <a:effectLst>
              <a:outerShdw blurRad="482600" dist="88900" dir="5400000" algn="t" rotWithShape="0">
                <a:schemeClr val="tx1">
                  <a:alpha val="20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2" name="五边形 24"/>
            <p:cNvSpPr/>
            <p:nvPr userDrawn="1"/>
          </p:nvSpPr>
          <p:spPr>
            <a:xfrm>
              <a:off x="0" y="0"/>
              <a:ext cx="2247900" cy="838200"/>
            </a:xfrm>
            <a:custGeom>
              <a:avLst/>
              <a:gdLst>
                <a:gd name="connsiteX0" fmla="*/ 0 w 2641600"/>
                <a:gd name="connsiteY0" fmla="*/ 0 h 787400"/>
                <a:gd name="connsiteX1" fmla="*/ 2247900 w 2641600"/>
                <a:gd name="connsiteY1" fmla="*/ 0 h 787400"/>
                <a:gd name="connsiteX2" fmla="*/ 2641600 w 2641600"/>
                <a:gd name="connsiteY2" fmla="*/ 393700 h 787400"/>
                <a:gd name="connsiteX3" fmla="*/ 2247900 w 2641600"/>
                <a:gd name="connsiteY3" fmla="*/ 787400 h 787400"/>
                <a:gd name="connsiteX4" fmla="*/ 0 w 2641600"/>
                <a:gd name="connsiteY4" fmla="*/ 787400 h 787400"/>
                <a:gd name="connsiteX5" fmla="*/ 0 w 2641600"/>
                <a:gd name="connsiteY5" fmla="*/ 0 h 787400"/>
                <a:gd name="connsiteX0-1" fmla="*/ 0 w 2247900"/>
                <a:gd name="connsiteY0-2" fmla="*/ 0 h 787400"/>
                <a:gd name="connsiteX1-3" fmla="*/ 2247900 w 2247900"/>
                <a:gd name="connsiteY1-4" fmla="*/ 0 h 787400"/>
                <a:gd name="connsiteX2-5" fmla="*/ 2247900 w 2247900"/>
                <a:gd name="connsiteY2-6" fmla="*/ 787400 h 787400"/>
                <a:gd name="connsiteX3-7" fmla="*/ 0 w 2247900"/>
                <a:gd name="connsiteY3-8" fmla="*/ 787400 h 787400"/>
                <a:gd name="connsiteX4-9" fmla="*/ 0 w 2247900"/>
                <a:gd name="connsiteY4-10" fmla="*/ 0 h 787400"/>
                <a:gd name="connsiteX0-11" fmla="*/ 0 w 2247900"/>
                <a:gd name="connsiteY0-12" fmla="*/ 0 h 787400"/>
                <a:gd name="connsiteX1-13" fmla="*/ 2158690 w 2247900"/>
                <a:gd name="connsiteY1-14" fmla="*/ 0 h 787400"/>
                <a:gd name="connsiteX2-15" fmla="*/ 2247900 w 2247900"/>
                <a:gd name="connsiteY2-16" fmla="*/ 787400 h 787400"/>
                <a:gd name="connsiteX3-17" fmla="*/ 0 w 2247900"/>
                <a:gd name="connsiteY3-18" fmla="*/ 787400 h 787400"/>
                <a:gd name="connsiteX4-19" fmla="*/ 0 w 2247900"/>
                <a:gd name="connsiteY4-20" fmla="*/ 0 h 787400"/>
              </a:gdLst>
              <a:ahLst/>
              <a:cxnLst>
                <a:cxn ang="0">
                  <a:pos x="connsiteX0-1" y="connsiteY0-2"/>
                </a:cxn>
                <a:cxn ang="0">
                  <a:pos x="connsiteX1-3" y="connsiteY1-4"/>
                </a:cxn>
                <a:cxn ang="0">
                  <a:pos x="connsiteX2-5" y="connsiteY2-6"/>
                </a:cxn>
                <a:cxn ang="0">
                  <a:pos x="connsiteX3-7" y="connsiteY3-8"/>
                </a:cxn>
                <a:cxn ang="0">
                  <a:pos x="connsiteX4-9" y="connsiteY4-10"/>
                </a:cxn>
              </a:cxnLst>
              <a:rect l="l" t="t" r="r" b="b"/>
              <a:pathLst>
                <a:path w="2247900" h="787400">
                  <a:moveTo>
                    <a:pt x="0" y="0"/>
                  </a:moveTo>
                  <a:lnTo>
                    <a:pt x="2158690" y="0"/>
                  </a:lnTo>
                  <a:lnTo>
                    <a:pt x="2247900" y="787400"/>
                  </a:lnTo>
                  <a:lnTo>
                    <a:pt x="0" y="7874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1559C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2400" dirty="0"/>
            </a:p>
          </p:txBody>
        </p:sp>
      </p:grpSp>
    </p:spTree>
  </p:cSld>
  <p:clrMapOvr>
    <a:masterClrMapping/>
  </p:clrMapOvr>
  <p:transition spd="slow" advClick="0" advTm="2000">
    <p:push dir="u"/>
  </p:transition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_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CFCFC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</p:cSld>
  <p:clrMapOvr>
    <a:masterClrMapping/>
  </p:clrMapOvr>
  <p:transition spd="slow" advClick="0" advTm="2000">
    <p:push dir="u"/>
  </p:transition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5_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CFCFC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</p:cSld>
  <p:clrMapOvr>
    <a:masterClrMapping/>
  </p:clrMapOvr>
  <p:transition spd="slow" advClick="0" advTm="2000">
    <p:push dir="u"/>
  </p:transition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6_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CFCFC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</p:cSld>
  <p:clrMapOvr>
    <a:masterClrMapping/>
  </p:clrMapOvr>
  <p:transition spd="slow" advClick="0" advTm="2000">
    <p:push dir="u"/>
  </p:transition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7_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CFCFC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</p:cSld>
  <p:clrMapOvr>
    <a:masterClrMapping/>
  </p:clrMapOvr>
  <p:transition spd="slow" advClick="0" advTm="2000">
    <p:push dir="u"/>
  </p:transition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Firs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icture Placeholder 2"/>
          <p:cNvSpPr>
            <a:spLocks noGrp="1"/>
          </p:cNvSpPr>
          <p:nvPr>
            <p:ph type="pic" sz="quarter" idx="17"/>
          </p:nvPr>
        </p:nvSpPr>
        <p:spPr>
          <a:xfrm>
            <a:off x="4064000" y="441961"/>
            <a:ext cx="4368800" cy="3083564"/>
          </a:xfrm>
          <a:custGeom>
            <a:avLst/>
            <a:gdLst/>
            <a:ahLst/>
            <a:cxnLst/>
            <a:rect l="l" t="t" r="r" b="b"/>
            <a:pathLst>
              <a:path w="3276600" h="3124200">
                <a:moveTo>
                  <a:pt x="3028950" y="0"/>
                </a:moveTo>
                <a:cubicBezTo>
                  <a:pt x="3165723" y="0"/>
                  <a:pt x="3276600" y="110877"/>
                  <a:pt x="3276600" y="247650"/>
                </a:cubicBezTo>
                <a:lnTo>
                  <a:pt x="3276600" y="2876550"/>
                </a:lnTo>
                <a:cubicBezTo>
                  <a:pt x="3276600" y="3013323"/>
                  <a:pt x="3165723" y="3124200"/>
                  <a:pt x="3028950" y="3124200"/>
                </a:cubicBezTo>
                <a:cubicBezTo>
                  <a:pt x="2892177" y="3124200"/>
                  <a:pt x="2781300" y="3013323"/>
                  <a:pt x="2781300" y="2876550"/>
                </a:cubicBezTo>
                <a:lnTo>
                  <a:pt x="2781300" y="247650"/>
                </a:lnTo>
                <a:cubicBezTo>
                  <a:pt x="2781300" y="110877"/>
                  <a:pt x="2892177" y="0"/>
                  <a:pt x="3028950" y="0"/>
                </a:cubicBezTo>
                <a:close/>
                <a:moveTo>
                  <a:pt x="2317750" y="0"/>
                </a:moveTo>
                <a:cubicBezTo>
                  <a:pt x="2454523" y="0"/>
                  <a:pt x="2565400" y="110877"/>
                  <a:pt x="2565400" y="247650"/>
                </a:cubicBezTo>
                <a:lnTo>
                  <a:pt x="2565400" y="2876550"/>
                </a:lnTo>
                <a:cubicBezTo>
                  <a:pt x="2565400" y="3013323"/>
                  <a:pt x="2454523" y="3124200"/>
                  <a:pt x="2317750" y="3124200"/>
                </a:cubicBezTo>
                <a:cubicBezTo>
                  <a:pt x="2180977" y="3124200"/>
                  <a:pt x="2070100" y="3013323"/>
                  <a:pt x="2070100" y="2876550"/>
                </a:cubicBezTo>
                <a:lnTo>
                  <a:pt x="2070100" y="247650"/>
                </a:lnTo>
                <a:cubicBezTo>
                  <a:pt x="2070100" y="110877"/>
                  <a:pt x="2180977" y="0"/>
                  <a:pt x="2317750" y="0"/>
                </a:cubicBezTo>
                <a:close/>
                <a:moveTo>
                  <a:pt x="1606550" y="0"/>
                </a:moveTo>
                <a:cubicBezTo>
                  <a:pt x="1743323" y="0"/>
                  <a:pt x="1854200" y="110877"/>
                  <a:pt x="1854200" y="247650"/>
                </a:cubicBezTo>
                <a:lnTo>
                  <a:pt x="1854200" y="2876550"/>
                </a:lnTo>
                <a:cubicBezTo>
                  <a:pt x="1854200" y="3013323"/>
                  <a:pt x="1743323" y="3124200"/>
                  <a:pt x="1606550" y="3124200"/>
                </a:cubicBezTo>
                <a:cubicBezTo>
                  <a:pt x="1469777" y="3124200"/>
                  <a:pt x="1358900" y="3013323"/>
                  <a:pt x="1358900" y="2876550"/>
                </a:cubicBezTo>
                <a:lnTo>
                  <a:pt x="1358900" y="247650"/>
                </a:lnTo>
                <a:cubicBezTo>
                  <a:pt x="1358900" y="110877"/>
                  <a:pt x="1469777" y="0"/>
                  <a:pt x="1606550" y="0"/>
                </a:cubicBezTo>
                <a:close/>
                <a:moveTo>
                  <a:pt x="958850" y="0"/>
                </a:moveTo>
                <a:cubicBezTo>
                  <a:pt x="1095623" y="0"/>
                  <a:pt x="1206500" y="110877"/>
                  <a:pt x="1206500" y="247650"/>
                </a:cubicBezTo>
                <a:lnTo>
                  <a:pt x="1206500" y="2876550"/>
                </a:lnTo>
                <a:cubicBezTo>
                  <a:pt x="1206500" y="3013323"/>
                  <a:pt x="1095623" y="3124200"/>
                  <a:pt x="958850" y="3124200"/>
                </a:cubicBezTo>
                <a:cubicBezTo>
                  <a:pt x="822077" y="3124200"/>
                  <a:pt x="711200" y="3013323"/>
                  <a:pt x="711200" y="2876550"/>
                </a:cubicBezTo>
                <a:lnTo>
                  <a:pt x="711200" y="247650"/>
                </a:lnTo>
                <a:cubicBezTo>
                  <a:pt x="711200" y="110877"/>
                  <a:pt x="822077" y="0"/>
                  <a:pt x="958850" y="0"/>
                </a:cubicBezTo>
                <a:close/>
                <a:moveTo>
                  <a:pt x="247650" y="0"/>
                </a:moveTo>
                <a:cubicBezTo>
                  <a:pt x="384423" y="0"/>
                  <a:pt x="495300" y="110877"/>
                  <a:pt x="495300" y="247650"/>
                </a:cubicBezTo>
                <a:lnTo>
                  <a:pt x="495300" y="2876550"/>
                </a:lnTo>
                <a:cubicBezTo>
                  <a:pt x="495300" y="3013323"/>
                  <a:pt x="384423" y="3124200"/>
                  <a:pt x="247650" y="3124200"/>
                </a:cubicBezTo>
                <a:cubicBezTo>
                  <a:pt x="110877" y="3124200"/>
                  <a:pt x="0" y="3013323"/>
                  <a:pt x="0" y="2876550"/>
                </a:cubicBezTo>
                <a:lnTo>
                  <a:pt x="0" y="247650"/>
                </a:lnTo>
                <a:cubicBezTo>
                  <a:pt x="0" y="110877"/>
                  <a:pt x="110877" y="0"/>
                  <a:pt x="247650" y="0"/>
                </a:cubicBezTo>
                <a:close/>
              </a:path>
            </a:pathLst>
          </a:custGeom>
          <a:effectLst/>
        </p:spPr>
        <p:txBody>
          <a:bodyPr vert="horz" lIns="95057" tIns="47529" rIns="95057" bIns="47529"/>
          <a:lstStyle>
            <a:lvl1pPr marL="0" indent="0" algn="ctr">
              <a:buNone/>
              <a:defRPr sz="1080">
                <a:solidFill>
                  <a:srgbClr val="7F7F7F"/>
                </a:solidFill>
                <a:latin typeface="Lato Regular"/>
                <a:cs typeface="Lato Regular"/>
              </a:defRPr>
            </a:lvl1pPr>
          </a:lstStyle>
          <a:p>
            <a:endParaRPr lang="en-US" dirty="0"/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0" hasCustomPrompt="1"/>
          </p:nvPr>
        </p:nvSpPr>
        <p:spPr>
          <a:xfrm>
            <a:off x="3954706" y="3801452"/>
            <a:ext cx="4511964" cy="431780"/>
          </a:xfrm>
          <a:prstGeom prst="rect">
            <a:avLst/>
          </a:prstGeom>
        </p:spPr>
        <p:txBody>
          <a:bodyPr vert="horz" lIns="0" tIns="40504" rIns="0" bIns="40504"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4200" b="1">
                <a:solidFill>
                  <a:schemeClr val="bg1"/>
                </a:solidFill>
                <a:latin typeface="Lato Hairline"/>
                <a:cs typeface="Lato Hairline"/>
              </a:defRPr>
            </a:lvl1pPr>
          </a:lstStyle>
          <a:p>
            <a:pPr lvl="0"/>
            <a:r>
              <a:rPr lang="es-ES_tradnl" dirty="0"/>
              <a:t>TITLE HERE</a:t>
            </a:r>
            <a:endParaRPr lang="es-ES_tradnl" dirty="0"/>
          </a:p>
        </p:txBody>
      </p:sp>
      <p:sp>
        <p:nvSpPr>
          <p:cNvPr id="9" name="Text Placeholder 7"/>
          <p:cNvSpPr>
            <a:spLocks noGrp="1"/>
          </p:cNvSpPr>
          <p:nvPr>
            <p:ph type="body" sz="quarter" idx="11" hasCustomPrompt="1"/>
          </p:nvPr>
        </p:nvSpPr>
        <p:spPr>
          <a:xfrm>
            <a:off x="3954706" y="4385250"/>
            <a:ext cx="4511964" cy="228451"/>
          </a:xfrm>
          <a:prstGeom prst="rect">
            <a:avLst/>
          </a:prstGeom>
        </p:spPr>
        <p:txBody>
          <a:bodyPr vert="horz" lIns="0" tIns="40504" rIns="0" bIns="40504"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chemeClr val="accent3"/>
                </a:solidFill>
                <a:latin typeface="Lato Light"/>
                <a:cs typeface="Lato Light"/>
              </a:defRPr>
            </a:lvl1pPr>
          </a:lstStyle>
          <a:p>
            <a:pPr lvl="0"/>
            <a:r>
              <a:rPr lang="es-ES_tradnl" dirty="0" err="1"/>
              <a:t>Ultimate</a:t>
            </a:r>
            <a:r>
              <a:rPr lang="es-ES_tradnl" dirty="0"/>
              <a:t> </a:t>
            </a:r>
            <a:r>
              <a:rPr lang="es-ES_tradnl" dirty="0" err="1"/>
              <a:t>Powerpoint</a:t>
            </a:r>
            <a:r>
              <a:rPr lang="es-ES_tradnl" dirty="0"/>
              <a:t> </a:t>
            </a:r>
            <a:r>
              <a:rPr lang="es-ES_tradnl" dirty="0" err="1"/>
              <a:t>Template</a:t>
            </a:r>
            <a:endParaRPr lang="es-ES_tradnl" dirty="0"/>
          </a:p>
        </p:txBody>
      </p:sp>
      <p:sp>
        <p:nvSpPr>
          <p:cNvPr id="10" name="Text Placeholder 2"/>
          <p:cNvSpPr>
            <a:spLocks noGrp="1"/>
          </p:cNvSpPr>
          <p:nvPr>
            <p:ph type="body" sz="quarter" idx="16" hasCustomPrompt="1"/>
          </p:nvPr>
        </p:nvSpPr>
        <p:spPr>
          <a:xfrm>
            <a:off x="3975167" y="4817825"/>
            <a:ext cx="4488039" cy="1536868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ctr">
              <a:lnSpc>
                <a:spcPct val="130000"/>
              </a:lnSpc>
              <a:buNone/>
              <a:defRPr sz="144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cs typeface="Lato Regular"/>
              </a:defRPr>
            </a:lvl1pPr>
          </a:lstStyle>
          <a:p>
            <a:pPr lvl="0"/>
            <a:r>
              <a:rPr lang="en-US" dirty="0" err="1"/>
              <a:t>Lorem</a:t>
            </a:r>
            <a:r>
              <a:rPr lang="en-US" dirty="0"/>
              <a:t> </a:t>
            </a:r>
            <a:r>
              <a:rPr lang="en-US" dirty="0" err="1"/>
              <a:t>ipsum</a:t>
            </a:r>
            <a:r>
              <a:rPr lang="en-US" dirty="0"/>
              <a:t>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</a:t>
            </a:r>
            <a:r>
              <a:rPr lang="en-US" dirty="0" err="1"/>
              <a:t>Fusce</a:t>
            </a:r>
            <a:r>
              <a:rPr lang="en-US" dirty="0"/>
              <a:t> </a:t>
            </a:r>
            <a:r>
              <a:rPr lang="en-US" dirty="0" err="1"/>
              <a:t>diam</a:t>
            </a:r>
            <a:r>
              <a:rPr lang="en-US" dirty="0"/>
              <a:t> </a:t>
            </a:r>
            <a:r>
              <a:rPr lang="en-US" dirty="0" err="1"/>
              <a:t>tortor</a:t>
            </a:r>
            <a:r>
              <a:rPr lang="en-US" dirty="0"/>
              <a:t>, </a:t>
            </a:r>
            <a:r>
              <a:rPr lang="en-US" dirty="0" err="1"/>
              <a:t>mattis</a:t>
            </a:r>
            <a:r>
              <a:rPr lang="en-US" dirty="0"/>
              <a:t> </a:t>
            </a:r>
            <a:r>
              <a:rPr lang="en-US" dirty="0" err="1"/>
              <a:t>quis</a:t>
            </a:r>
            <a:r>
              <a:rPr lang="en-US" dirty="0"/>
              <a:t> </a:t>
            </a:r>
            <a:r>
              <a:rPr lang="en-US" dirty="0" err="1"/>
              <a:t>dapibus</a:t>
            </a:r>
            <a:r>
              <a:rPr lang="en-US" dirty="0"/>
              <a:t> vitae, </a:t>
            </a:r>
            <a:r>
              <a:rPr lang="en-US" dirty="0" err="1"/>
              <a:t>euismod</a:t>
            </a:r>
            <a:r>
              <a:rPr lang="en-US" dirty="0"/>
              <a:t> non </a:t>
            </a:r>
            <a:r>
              <a:rPr lang="en-US" dirty="0" err="1"/>
              <a:t>purus</a:t>
            </a:r>
            <a:r>
              <a:rPr lang="en-US" dirty="0"/>
              <a:t>. Maecenas </a:t>
            </a:r>
            <a:r>
              <a:rPr lang="en-US" dirty="0" err="1"/>
              <a:t>ut</a:t>
            </a:r>
            <a:r>
              <a:rPr lang="en-US" dirty="0"/>
              <a:t> lacus </a:t>
            </a:r>
            <a:r>
              <a:rPr lang="en-US" dirty="0" err="1"/>
              <a:t>nec</a:t>
            </a:r>
            <a:r>
              <a:rPr lang="en-US" dirty="0"/>
              <a:t> </a:t>
            </a:r>
            <a:r>
              <a:rPr lang="en-US" dirty="0" err="1"/>
              <a:t>mauris</a:t>
            </a:r>
            <a:r>
              <a:rPr lang="en-US" dirty="0"/>
              <a:t> </a:t>
            </a:r>
            <a:r>
              <a:rPr lang="en-US" dirty="0" err="1"/>
              <a:t>feugiat</a:t>
            </a:r>
            <a:r>
              <a:rPr lang="en-US" dirty="0"/>
              <a:t> </a:t>
            </a:r>
            <a:r>
              <a:rPr lang="en-US" dirty="0" err="1"/>
              <a:t>tristique</a:t>
            </a:r>
            <a:r>
              <a:rPr lang="en-US" dirty="0"/>
              <a:t>.</a:t>
            </a:r>
            <a:endParaRPr lang="en-US" dirty="0"/>
          </a:p>
        </p:txBody>
      </p:sp>
    </p:spTree>
  </p:cSld>
  <p:clrMapOvr>
    <a:masterClrMapping/>
  </p:clrMapOvr>
  <p:transition spd="slow" advClick="0" advTm="2000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after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5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" dur="400" fill="hold"/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400" fill="hold"/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500" fill="hold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500" fill="hold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8" grpId="0" build="p">
        <p:tmplLst>
          <p:tmpl lvl="1">
            <p:tnLst>
              <p:par>
                <p:cTn presetID="42" presetClass="entr" presetSubtype="0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fade">
                      <p:cBhvr>
                        <p:cTn dur="400"/>
                        <p:tgtEl>
                          <p:spTgt spid="8"/>
                        </p:tgtEl>
                      </p:cBhvr>
                    </p:animEffect>
                    <p:anim calcmode="lin" valueType="num">
                      <p:cBhvr>
                        <p:cTn dur="400" fill="hold"/>
                        <p:tgtEl>
                          <p:spTgt spid="8"/>
                        </p:tgtEl>
                        <p:attrNameLst>
                          <p:attrName>ppt_x</p:attrName>
                        </p:attrNameLst>
                      </p:cBhvr>
                      <p:tavLst>
                        <p:tav tm="0">
                          <p:val>
                            <p:strVal val="#ppt_x"/>
                          </p:val>
                        </p:tav>
                        <p:tav tm="100000">
                          <p:val>
                            <p:strVal val="#ppt_x"/>
                          </p:val>
                        </p:tav>
                      </p:tavLst>
                    </p:anim>
                    <p:anim calcmode="lin" valueType="num">
                      <p:cBhvr>
                        <p:cTn dur="400" fill="hold"/>
                        <p:tgtEl>
                          <p:spTgt spid="8"/>
                        </p:tgtEl>
                        <p:attrNameLst>
                          <p:attrName>ppt_y</p:attrName>
                        </p:attrNameLst>
                      </p:cBhvr>
                      <p:tavLst>
                        <p:tav tm="0">
                          <p:val>
                            <p:strVal val="#ppt_y+.1"/>
                          </p:val>
                        </p:tav>
                        <p:tav tm="100000">
                          <p:val>
                            <p:strVal val="#ppt_y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9" grpId="0" build="p">
        <p:tmplLst>
          <p:tmpl lvl="1">
            <p:tnLst>
              <p:par>
                <p:cTn presetID="42" presetClass="entr" presetSubtype="0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fade">
                      <p:cBhvr>
                        <p:cTn dur="500"/>
                        <p:tgtEl>
                          <p:spTgt spid="9"/>
                        </p:tgtEl>
                      </p:cBhvr>
                    </p:animEffect>
                    <p:anim calcmode="lin" valueType="num">
                      <p:cBhvr>
                        <p:cTn dur="500" fill="hold"/>
                        <p:tgtEl>
                          <p:spTgt spid="9"/>
                        </p:tgtEl>
                        <p:attrNameLst>
                          <p:attrName>ppt_x</p:attrName>
                        </p:attrNameLst>
                      </p:cBhvr>
                      <p:tavLst>
                        <p:tav tm="0">
                          <p:val>
                            <p:strVal val="#ppt_x"/>
                          </p:val>
                        </p:tav>
                        <p:tav tm="100000">
                          <p:val>
                            <p:strVal val="#ppt_x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9"/>
                        </p:tgtEl>
                        <p:attrNameLst>
                          <p:attrName>ppt_y</p:attrName>
                        </p:attrNameLst>
                      </p:cBhvr>
                      <p:tavLst>
                        <p:tav tm="0">
                          <p:val>
                            <p:strVal val="#ppt_y+.1"/>
                          </p:val>
                        </p:tav>
                        <p:tav tm="100000">
                          <p:val>
                            <p:strVal val="#ppt_y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10" grpId="0" build="p">
        <p:tmplLst>
          <p:tmpl lvl="1">
            <p:tnLst>
              <p:par>
                <p:cTn presetID="10" presetClass="entr" presetSubtype="0" fill="hold" nodeType="withEffect">
                  <p:stCondLst>
                    <p:cond delay="8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10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fade">
                      <p:cBhvr>
                        <p:cTn dur="500"/>
                        <p:tgtEl>
                          <p:spTgt spid="10"/>
                        </p:tgtEl>
                      </p:cBhvr>
                    </p:animEffect>
                  </p:childTnLst>
                </p:cTn>
              </p:par>
            </p:tnLst>
          </p:tmpl>
        </p:tmplLst>
      </p:bldP>
    </p:bldLst>
  </p:timing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图片占位符 9"/>
          <p:cNvSpPr>
            <a:spLocks noGrp="1"/>
          </p:cNvSpPr>
          <p:nvPr>
            <p:ph type="pic" sz="quarter" idx="10"/>
          </p:nvPr>
        </p:nvSpPr>
        <p:spPr>
          <a:xfrm>
            <a:off x="1227221" y="2336617"/>
            <a:ext cx="4535905" cy="2566220"/>
          </a:xfrm>
          <a:custGeom>
            <a:avLst/>
            <a:gdLst>
              <a:gd name="connsiteX0" fmla="*/ 0 w 4535905"/>
              <a:gd name="connsiteY0" fmla="*/ 0 h 2566220"/>
              <a:gd name="connsiteX1" fmla="*/ 4535905 w 4535905"/>
              <a:gd name="connsiteY1" fmla="*/ 0 h 2566220"/>
              <a:gd name="connsiteX2" fmla="*/ 4535905 w 4535905"/>
              <a:gd name="connsiteY2" fmla="*/ 2566220 h 2566220"/>
              <a:gd name="connsiteX3" fmla="*/ 0 w 4535905"/>
              <a:gd name="connsiteY3" fmla="*/ 2566220 h 25662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535905" h="2566220">
                <a:moveTo>
                  <a:pt x="0" y="0"/>
                </a:moveTo>
                <a:lnTo>
                  <a:pt x="4535905" y="0"/>
                </a:lnTo>
                <a:lnTo>
                  <a:pt x="4535905" y="2566220"/>
                </a:lnTo>
                <a:lnTo>
                  <a:pt x="0" y="2566220"/>
                </a:ln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zh-CN" altLang="en-US"/>
          </a:p>
        </p:txBody>
      </p:sp>
    </p:spTree>
  </p:cSld>
  <p:clrMapOvr>
    <a:masterClrMapping/>
  </p:clrMapOvr>
  <p:transition spd="slow" advClick="0" advTm="2000">
    <p:push dir="u"/>
  </p:transition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9_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ransition spd="slow" advClick="0" advTm="2000">
    <p:push dir="u"/>
  </p:transition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3" Type="http://schemas.openxmlformats.org/officeDocument/2006/relationships/theme" Target="../theme/theme1.xml"/><Relationship Id="rId22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1.xml"/><Relationship Id="rId20" Type="http://schemas.openxmlformats.org/officeDocument/2006/relationships/slideLayout" Target="../slideLayouts/slideLayout20.xml"/><Relationship Id="rId2" Type="http://schemas.openxmlformats.org/officeDocument/2006/relationships/slideLayout" Target="../slideLayouts/slideLayout2.xml"/><Relationship Id="rId19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18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609601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609601" y="1600202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609601" y="6356352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43AE4B8-DA9A-4BB8-AEEC-2269BDB78975}" type="datetimeFigureOut">
              <a:rPr lang="zh-CN" altLang="en-US" smtClean="0">
                <a:solidFill>
                  <a:prstClr val="black">
                    <a:tint val="75000"/>
                  </a:prstClr>
                </a:solidFill>
              </a:rPr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165601" y="6356352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737601" y="6356352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AA1528B-296A-4977-9204-26D6325B9518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  <p:sldLayoutId id="2147483670" r:id="rId22"/>
  </p:sldLayoutIdLst>
  <p:transition spd="slow" advClick="0" advTm="2000">
    <p:push dir="u"/>
  </p:transition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1.xml"/><Relationship Id="rId4" Type="http://schemas.openxmlformats.org/officeDocument/2006/relationships/slideLayout" Target="../slideLayouts/slideLayout12.xml"/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image" Target="../media/image1.jpeg"/></Relationships>
</file>

<file path=ppt/slides/_rels/slide2.xml.rels><?xml version="1.0" encoding="UTF-8" standalone="yes"?>
<Relationships xmlns="http://schemas.openxmlformats.org/package/2006/relationships"><Relationship Id="rId9" Type="http://schemas.openxmlformats.org/officeDocument/2006/relationships/tags" Target="../tags/tag8.xml"/><Relationship Id="rId8" Type="http://schemas.openxmlformats.org/officeDocument/2006/relationships/tags" Target="../tags/tag7.xml"/><Relationship Id="rId7" Type="http://schemas.openxmlformats.org/officeDocument/2006/relationships/tags" Target="../tags/tag6.xml"/><Relationship Id="rId6" Type="http://schemas.openxmlformats.org/officeDocument/2006/relationships/tags" Target="../tags/tag5.xml"/><Relationship Id="rId5" Type="http://schemas.openxmlformats.org/officeDocument/2006/relationships/tags" Target="../tags/tag4.xml"/><Relationship Id="rId4" Type="http://schemas.openxmlformats.org/officeDocument/2006/relationships/tags" Target="../tags/tag3.xml"/><Relationship Id="rId3" Type="http://schemas.openxmlformats.org/officeDocument/2006/relationships/tags" Target="../tags/tag2.xml"/><Relationship Id="rId2" Type="http://schemas.openxmlformats.org/officeDocument/2006/relationships/image" Target="../media/image4.jpeg"/><Relationship Id="rId16" Type="http://schemas.openxmlformats.org/officeDocument/2006/relationships/notesSlide" Target="../notesSlides/notesSlide2.xml"/><Relationship Id="rId15" Type="http://schemas.openxmlformats.org/officeDocument/2006/relationships/slideLayout" Target="../slideLayouts/slideLayout13.xml"/><Relationship Id="rId14" Type="http://schemas.openxmlformats.org/officeDocument/2006/relationships/tags" Target="../tags/tag13.xml"/><Relationship Id="rId13" Type="http://schemas.openxmlformats.org/officeDocument/2006/relationships/tags" Target="../tags/tag12.xml"/><Relationship Id="rId12" Type="http://schemas.openxmlformats.org/officeDocument/2006/relationships/tags" Target="../tags/tag11.xml"/><Relationship Id="rId11" Type="http://schemas.openxmlformats.org/officeDocument/2006/relationships/tags" Target="../tags/tag10.xml"/><Relationship Id="rId10" Type="http://schemas.openxmlformats.org/officeDocument/2006/relationships/tags" Target="../tags/tag9.xml"/><Relationship Id="rId1" Type="http://schemas.openxmlformats.org/officeDocument/2006/relationships/tags" Target="../tags/tag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.xml"/><Relationship Id="rId2" Type="http://schemas.openxmlformats.org/officeDocument/2006/relationships/slideLayout" Target="../slideLayouts/slideLayout15.xml"/><Relationship Id="rId1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9" Type="http://schemas.openxmlformats.org/officeDocument/2006/relationships/tags" Target="../tags/tag22.xml"/><Relationship Id="rId8" Type="http://schemas.openxmlformats.org/officeDocument/2006/relationships/tags" Target="../tags/tag21.xml"/><Relationship Id="rId7" Type="http://schemas.openxmlformats.org/officeDocument/2006/relationships/tags" Target="../tags/tag20.xml"/><Relationship Id="rId6" Type="http://schemas.openxmlformats.org/officeDocument/2006/relationships/tags" Target="../tags/tag19.xml"/><Relationship Id="rId5" Type="http://schemas.openxmlformats.org/officeDocument/2006/relationships/tags" Target="../tags/tag18.xml"/><Relationship Id="rId4" Type="http://schemas.openxmlformats.org/officeDocument/2006/relationships/tags" Target="../tags/tag17.xml"/><Relationship Id="rId3" Type="http://schemas.openxmlformats.org/officeDocument/2006/relationships/tags" Target="../tags/tag16.xml"/><Relationship Id="rId2" Type="http://schemas.openxmlformats.org/officeDocument/2006/relationships/tags" Target="../tags/tag15.xml"/><Relationship Id="rId11" Type="http://schemas.openxmlformats.org/officeDocument/2006/relationships/notesSlide" Target="../notesSlides/notesSlide5.xml"/><Relationship Id="rId10" Type="http://schemas.openxmlformats.org/officeDocument/2006/relationships/slideLayout" Target="../slideLayouts/slideLayout15.xml"/><Relationship Id="rId1" Type="http://schemas.openxmlformats.org/officeDocument/2006/relationships/tags" Target="../tags/tag1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7.xml"/><Relationship Id="rId2" Type="http://schemas.openxmlformats.org/officeDocument/2006/relationships/slideLayout" Target="../slideLayouts/slideLayout15.xml"/><Relationship Id="rId1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9" Type="http://schemas.openxmlformats.org/officeDocument/2006/relationships/tags" Target="../tags/tag31.xml"/><Relationship Id="rId8" Type="http://schemas.openxmlformats.org/officeDocument/2006/relationships/tags" Target="../tags/tag30.xml"/><Relationship Id="rId7" Type="http://schemas.openxmlformats.org/officeDocument/2006/relationships/tags" Target="../tags/tag29.xml"/><Relationship Id="rId6" Type="http://schemas.openxmlformats.org/officeDocument/2006/relationships/tags" Target="../tags/tag28.xml"/><Relationship Id="rId5" Type="http://schemas.openxmlformats.org/officeDocument/2006/relationships/tags" Target="../tags/tag27.xml"/><Relationship Id="rId4" Type="http://schemas.openxmlformats.org/officeDocument/2006/relationships/tags" Target="../tags/tag26.xml"/><Relationship Id="rId31" Type="http://schemas.openxmlformats.org/officeDocument/2006/relationships/notesSlide" Target="../notesSlides/notesSlide8.xml"/><Relationship Id="rId30" Type="http://schemas.openxmlformats.org/officeDocument/2006/relationships/slideLayout" Target="../slideLayouts/slideLayout15.xml"/><Relationship Id="rId3" Type="http://schemas.openxmlformats.org/officeDocument/2006/relationships/tags" Target="../tags/tag25.xml"/><Relationship Id="rId29" Type="http://schemas.openxmlformats.org/officeDocument/2006/relationships/tags" Target="../tags/tag51.xml"/><Relationship Id="rId28" Type="http://schemas.openxmlformats.org/officeDocument/2006/relationships/tags" Target="../tags/tag50.xml"/><Relationship Id="rId27" Type="http://schemas.openxmlformats.org/officeDocument/2006/relationships/tags" Target="../tags/tag49.xml"/><Relationship Id="rId26" Type="http://schemas.openxmlformats.org/officeDocument/2006/relationships/tags" Target="../tags/tag48.xml"/><Relationship Id="rId25" Type="http://schemas.openxmlformats.org/officeDocument/2006/relationships/tags" Target="../tags/tag47.xml"/><Relationship Id="rId24" Type="http://schemas.openxmlformats.org/officeDocument/2006/relationships/tags" Target="../tags/tag46.xml"/><Relationship Id="rId23" Type="http://schemas.openxmlformats.org/officeDocument/2006/relationships/tags" Target="../tags/tag45.xml"/><Relationship Id="rId22" Type="http://schemas.openxmlformats.org/officeDocument/2006/relationships/tags" Target="../tags/tag44.xml"/><Relationship Id="rId21" Type="http://schemas.openxmlformats.org/officeDocument/2006/relationships/tags" Target="../tags/tag43.xml"/><Relationship Id="rId20" Type="http://schemas.openxmlformats.org/officeDocument/2006/relationships/tags" Target="../tags/tag42.xml"/><Relationship Id="rId2" Type="http://schemas.openxmlformats.org/officeDocument/2006/relationships/tags" Target="../tags/tag24.xml"/><Relationship Id="rId19" Type="http://schemas.openxmlformats.org/officeDocument/2006/relationships/tags" Target="../tags/tag41.xml"/><Relationship Id="rId18" Type="http://schemas.openxmlformats.org/officeDocument/2006/relationships/tags" Target="../tags/tag40.xml"/><Relationship Id="rId17" Type="http://schemas.openxmlformats.org/officeDocument/2006/relationships/tags" Target="../tags/tag39.xml"/><Relationship Id="rId16" Type="http://schemas.openxmlformats.org/officeDocument/2006/relationships/tags" Target="../tags/tag38.xml"/><Relationship Id="rId15" Type="http://schemas.openxmlformats.org/officeDocument/2006/relationships/tags" Target="../tags/tag37.xml"/><Relationship Id="rId14" Type="http://schemas.openxmlformats.org/officeDocument/2006/relationships/tags" Target="../tags/tag36.xml"/><Relationship Id="rId13" Type="http://schemas.openxmlformats.org/officeDocument/2006/relationships/tags" Target="../tags/tag35.xml"/><Relationship Id="rId12" Type="http://schemas.openxmlformats.org/officeDocument/2006/relationships/tags" Target="../tags/tag34.xml"/><Relationship Id="rId11" Type="http://schemas.openxmlformats.org/officeDocument/2006/relationships/tags" Target="../tags/tag33.xml"/><Relationship Id="rId10" Type="http://schemas.openxmlformats.org/officeDocument/2006/relationships/tags" Target="../tags/tag32.xml"/><Relationship Id="rId1" Type="http://schemas.openxmlformats.org/officeDocument/2006/relationships/tags" Target="../tags/tag2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9.xml"/><Relationship Id="rId2" Type="http://schemas.openxmlformats.org/officeDocument/2006/relationships/slideLayout" Target="../slideLayouts/slideLayout15.xml"/><Relationship Id="rId1" Type="http://schemas.openxmlformats.org/officeDocument/2006/relationships/image" Target="../media/image7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0.xml"/><Relationship Id="rId2" Type="http://schemas.openxmlformats.org/officeDocument/2006/relationships/slideLayout" Target="../slideLayouts/slideLayout15.xml"/><Relationship Id="rId1" Type="http://schemas.openxmlformats.org/officeDocument/2006/relationships/image" Target="../media/image8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1.xml"/><Relationship Id="rId2" Type="http://schemas.openxmlformats.org/officeDocument/2006/relationships/slideLayout" Target="../slideLayouts/slideLayout15.xml"/><Relationship Id="rId1" Type="http://schemas.openxmlformats.org/officeDocument/2006/relationships/image" Target="../media/image9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2.xml"/><Relationship Id="rId2" Type="http://schemas.openxmlformats.org/officeDocument/2006/relationships/slideLayout" Target="../slideLayouts/slideLayout15.xml"/><Relationship Id="rId1" Type="http://schemas.openxmlformats.org/officeDocument/2006/relationships/image" Target="../media/image10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3.xml"/><Relationship Id="rId2" Type="http://schemas.openxmlformats.org/officeDocument/2006/relationships/slideLayout" Target="../slideLayouts/slideLayout15.xml"/><Relationship Id="rId1" Type="http://schemas.openxmlformats.org/officeDocument/2006/relationships/image" Target="../media/image11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4.xml"/><Relationship Id="rId2" Type="http://schemas.openxmlformats.org/officeDocument/2006/relationships/slideLayout" Target="../slideLayouts/slideLayout15.xml"/><Relationship Id="rId1" Type="http://schemas.openxmlformats.org/officeDocument/2006/relationships/image" Target="../media/image12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5.xml"/><Relationship Id="rId2" Type="http://schemas.openxmlformats.org/officeDocument/2006/relationships/slideLayout" Target="../slideLayouts/slideLayout15.xml"/><Relationship Id="rId1" Type="http://schemas.openxmlformats.org/officeDocument/2006/relationships/image" Target="../media/image12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6.xml"/><Relationship Id="rId2" Type="http://schemas.openxmlformats.org/officeDocument/2006/relationships/slideLayout" Target="../slideLayouts/slideLayout15.xml"/><Relationship Id="rId1" Type="http://schemas.openxmlformats.org/officeDocument/2006/relationships/image" Target="../media/image13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7.xml"/><Relationship Id="rId2" Type="http://schemas.openxmlformats.org/officeDocument/2006/relationships/slideLayout" Target="../slideLayouts/slideLayout15.xml"/><Relationship Id="rId1" Type="http://schemas.openxmlformats.org/officeDocument/2006/relationships/image" Target="../media/image14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8.xml"/><Relationship Id="rId2" Type="http://schemas.openxmlformats.org/officeDocument/2006/relationships/slideLayout" Target="../slideLayouts/slideLayout15.xml"/><Relationship Id="rId1" Type="http://schemas.openxmlformats.org/officeDocument/2006/relationships/image" Target="../media/image15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9.xml"/><Relationship Id="rId2" Type="http://schemas.openxmlformats.org/officeDocument/2006/relationships/slideLayout" Target="../slideLayouts/slideLayout15.xml"/><Relationship Id="rId1" Type="http://schemas.openxmlformats.org/officeDocument/2006/relationships/image" Target="../media/image16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0.xml"/><Relationship Id="rId2" Type="http://schemas.openxmlformats.org/officeDocument/2006/relationships/slideLayout" Target="../slideLayouts/slideLayout15.xml"/><Relationship Id="rId1" Type="http://schemas.openxmlformats.org/officeDocument/2006/relationships/image" Target="../media/image17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1.xml"/><Relationship Id="rId2" Type="http://schemas.openxmlformats.org/officeDocument/2006/relationships/slideLayout" Target="../slideLayouts/slideLayout15.xml"/><Relationship Id="rId1" Type="http://schemas.openxmlformats.org/officeDocument/2006/relationships/image" Target="../media/image18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2.xml"/><Relationship Id="rId2" Type="http://schemas.openxmlformats.org/officeDocument/2006/relationships/slideLayout" Target="../slideLayouts/slideLayout15.xml"/><Relationship Id="rId1" Type="http://schemas.openxmlformats.org/officeDocument/2006/relationships/image" Target="../media/image19.png"/></Relationships>
</file>

<file path=ppt/slides/_rels/slide23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23.xml"/><Relationship Id="rId3" Type="http://schemas.openxmlformats.org/officeDocument/2006/relationships/slideLayout" Target="../slideLayouts/slideLayout15.xml"/><Relationship Id="rId2" Type="http://schemas.openxmlformats.org/officeDocument/2006/relationships/image" Target="../media/image20.png"/><Relationship Id="rId1" Type="http://schemas.openxmlformats.org/officeDocument/2006/relationships/image" Target="../media/image19.png"/></Relationships>
</file>

<file path=ppt/slides/_rels/slide24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24.xml"/><Relationship Id="rId3" Type="http://schemas.openxmlformats.org/officeDocument/2006/relationships/slideLayout" Target="../slideLayouts/slideLayout15.xml"/><Relationship Id="rId2" Type="http://schemas.openxmlformats.org/officeDocument/2006/relationships/image" Target="../media/image21.png"/><Relationship Id="rId1" Type="http://schemas.openxmlformats.org/officeDocument/2006/relationships/image" Target="../media/image19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5.xml"/><Relationship Id="rId2" Type="http://schemas.openxmlformats.org/officeDocument/2006/relationships/slideLayout" Target="../slideLayouts/slideLayout15.xml"/><Relationship Id="rId1" Type="http://schemas.openxmlformats.org/officeDocument/2006/relationships/image" Target="../media/image22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6.xml"/><Relationship Id="rId2" Type="http://schemas.openxmlformats.org/officeDocument/2006/relationships/slideLayout" Target="../slideLayouts/slideLayout15.xml"/><Relationship Id="rId1" Type="http://schemas.openxmlformats.org/officeDocument/2006/relationships/image" Target="../media/image23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7.xml"/><Relationship Id="rId2" Type="http://schemas.openxmlformats.org/officeDocument/2006/relationships/slideLayout" Target="../slideLayouts/slideLayout15.xml"/><Relationship Id="rId1" Type="http://schemas.openxmlformats.org/officeDocument/2006/relationships/image" Target="../media/image24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8.xml"/><Relationship Id="rId2" Type="http://schemas.openxmlformats.org/officeDocument/2006/relationships/slideLayout" Target="../slideLayouts/slideLayout15.xml"/><Relationship Id="rId1" Type="http://schemas.openxmlformats.org/officeDocument/2006/relationships/image" Target="../media/image25.png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4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5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1.xml"/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26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/>
          <p:cNvSpPr/>
          <p:nvPr/>
        </p:nvSpPr>
        <p:spPr>
          <a:xfrm>
            <a:off x="5899150" y="1240790"/>
            <a:ext cx="6288405" cy="4543425"/>
          </a:xfrm>
          <a:custGeom>
            <a:avLst/>
            <a:gdLst>
              <a:gd name="connsiteX0" fmla="*/ 0 w 9476"/>
              <a:gd name="connsiteY0" fmla="*/ 7150 h 7155"/>
              <a:gd name="connsiteX1" fmla="*/ 1787 w 9476"/>
              <a:gd name="connsiteY1" fmla="*/ 0 h 7155"/>
              <a:gd name="connsiteX2" fmla="*/ 9476 w 9476"/>
              <a:gd name="connsiteY2" fmla="*/ 16 h 7155"/>
              <a:gd name="connsiteX3" fmla="*/ 9476 w 9476"/>
              <a:gd name="connsiteY3" fmla="*/ 7155 h 7155"/>
              <a:gd name="connsiteX4" fmla="*/ 0 w 9476"/>
              <a:gd name="connsiteY4" fmla="*/ 7150 h 71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476" h="7155">
                <a:moveTo>
                  <a:pt x="0" y="7150"/>
                </a:moveTo>
                <a:lnTo>
                  <a:pt x="1787" y="0"/>
                </a:lnTo>
                <a:lnTo>
                  <a:pt x="9476" y="16"/>
                </a:lnTo>
                <a:lnTo>
                  <a:pt x="9476" y="7155"/>
                </a:lnTo>
                <a:lnTo>
                  <a:pt x="0" y="7150"/>
                </a:lnTo>
                <a:close/>
              </a:path>
            </a:pathLst>
          </a:custGeom>
          <a:blipFill dpi="0" rotWithShape="1">
            <a:blip r:embed="rId1"/>
            <a:srcRect/>
            <a:stretch>
              <a:fillRect/>
            </a:stretch>
          </a:blipFill>
          <a:ln>
            <a:noFill/>
          </a:ln>
          <a:effectLst>
            <a:outerShdw blurRad="50800" dist="38100" dir="2700000" algn="tl" rotWithShape="0">
              <a:prstClr val="black">
                <a:alpha val="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>
              <a:latin typeface="苹方-简" panose="020B0400000000000000" charset="-122"/>
              <a:ea typeface="苹方-简" panose="020B0400000000000000" charset="-122"/>
              <a:cs typeface="+mn-ea"/>
              <a:sym typeface="+mn-lt"/>
            </a:endParaRPr>
          </a:p>
        </p:txBody>
      </p:sp>
      <p:grpSp>
        <p:nvGrpSpPr>
          <p:cNvPr id="11" name="组合 10"/>
          <p:cNvGrpSpPr/>
          <p:nvPr/>
        </p:nvGrpSpPr>
        <p:grpSpPr>
          <a:xfrm>
            <a:off x="1515110" y="344805"/>
            <a:ext cx="4064635" cy="368300"/>
            <a:chOff x="1963" y="543"/>
            <a:chExt cx="6401" cy="580"/>
          </a:xfrm>
        </p:grpSpPr>
        <p:sp>
          <p:nvSpPr>
            <p:cNvPr id="3" name="文本框 2"/>
            <p:cNvSpPr txBox="1"/>
            <p:nvPr/>
          </p:nvSpPr>
          <p:spPr>
            <a:xfrm>
              <a:off x="1963" y="543"/>
              <a:ext cx="5328" cy="58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p>
              <a:pPr algn="l"/>
              <a:r>
                <a:rPr lang="zh-CN" altLang="en-US"/>
                <a:t>中科乾唐（北京）科技股份公司</a:t>
              </a:r>
              <a:endParaRPr lang="zh-CN" altLang="en-US"/>
            </a:p>
          </p:txBody>
        </p:sp>
        <p:sp>
          <p:nvSpPr>
            <p:cNvPr id="6" name="文本框 5"/>
            <p:cNvSpPr txBox="1"/>
            <p:nvPr/>
          </p:nvSpPr>
          <p:spPr>
            <a:xfrm>
              <a:off x="7356" y="543"/>
              <a:ext cx="1008" cy="58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p>
              <a:r>
                <a:rPr lang="zh-CN" altLang="en-US"/>
                <a:t>研发</a:t>
              </a:r>
              <a:endParaRPr lang="zh-CN" altLang="en-US"/>
            </a:p>
          </p:txBody>
        </p:sp>
      </p:grpSp>
      <p:grpSp>
        <p:nvGrpSpPr>
          <p:cNvPr id="15" name="组合 14"/>
          <p:cNvGrpSpPr/>
          <p:nvPr/>
        </p:nvGrpSpPr>
        <p:grpSpPr>
          <a:xfrm>
            <a:off x="-1905" y="1240790"/>
            <a:ext cx="7302500" cy="3819525"/>
            <a:chOff x="-3" y="1954"/>
            <a:chExt cx="11500" cy="6015"/>
          </a:xfrm>
        </p:grpSpPr>
        <p:sp>
          <p:nvSpPr>
            <p:cNvPr id="5" name="矩形 2"/>
            <p:cNvSpPr/>
            <p:nvPr/>
          </p:nvSpPr>
          <p:spPr>
            <a:xfrm>
              <a:off x="-3" y="1954"/>
              <a:ext cx="11500" cy="6015"/>
            </a:xfrm>
            <a:custGeom>
              <a:avLst/>
              <a:gdLst>
                <a:gd name="connsiteX0" fmla="*/ 0 w 8048625"/>
                <a:gd name="connsiteY0" fmla="*/ 0 h 3819525"/>
                <a:gd name="connsiteX1" fmla="*/ 8048625 w 8048625"/>
                <a:gd name="connsiteY1" fmla="*/ 0 h 3819525"/>
                <a:gd name="connsiteX2" fmla="*/ 8048625 w 8048625"/>
                <a:gd name="connsiteY2" fmla="*/ 3819525 h 3819525"/>
                <a:gd name="connsiteX3" fmla="*/ 0 w 8048625"/>
                <a:gd name="connsiteY3" fmla="*/ 3819525 h 3819525"/>
                <a:gd name="connsiteX4" fmla="*/ 0 w 8048625"/>
                <a:gd name="connsiteY4" fmla="*/ 0 h 3819525"/>
                <a:gd name="connsiteX0-1" fmla="*/ 0 w 8048625"/>
                <a:gd name="connsiteY0-2" fmla="*/ 0 h 3819525"/>
                <a:gd name="connsiteX1-3" fmla="*/ 8048625 w 8048625"/>
                <a:gd name="connsiteY1-4" fmla="*/ 0 h 3819525"/>
                <a:gd name="connsiteX2-5" fmla="*/ 8048625 w 8048625"/>
                <a:gd name="connsiteY2-6" fmla="*/ 3819525 h 3819525"/>
                <a:gd name="connsiteX3-7" fmla="*/ 7124700 w 8048625"/>
                <a:gd name="connsiteY3-8" fmla="*/ 3810000 h 3819525"/>
                <a:gd name="connsiteX4-9" fmla="*/ 0 w 8048625"/>
                <a:gd name="connsiteY4-10" fmla="*/ 3819525 h 3819525"/>
                <a:gd name="connsiteX5" fmla="*/ 0 w 8048625"/>
                <a:gd name="connsiteY5" fmla="*/ 0 h 3819525"/>
                <a:gd name="connsiteX0-11" fmla="*/ 0 w 8048625"/>
                <a:gd name="connsiteY0-12" fmla="*/ 0 h 3819525"/>
                <a:gd name="connsiteX1-13" fmla="*/ 8048625 w 8048625"/>
                <a:gd name="connsiteY1-14" fmla="*/ 0 h 3819525"/>
                <a:gd name="connsiteX2-15" fmla="*/ 7124700 w 8048625"/>
                <a:gd name="connsiteY2-16" fmla="*/ 3810000 h 3819525"/>
                <a:gd name="connsiteX3-17" fmla="*/ 0 w 8048625"/>
                <a:gd name="connsiteY3-18" fmla="*/ 3819525 h 3819525"/>
                <a:gd name="connsiteX4-19" fmla="*/ 0 w 8048625"/>
                <a:gd name="connsiteY4-20" fmla="*/ 0 h 3819525"/>
              </a:gdLst>
              <a:ahLst/>
              <a:cxnLst>
                <a:cxn ang="0">
                  <a:pos x="connsiteX0-1" y="connsiteY0-2"/>
                </a:cxn>
                <a:cxn ang="0">
                  <a:pos x="connsiteX1-3" y="connsiteY1-4"/>
                </a:cxn>
                <a:cxn ang="0">
                  <a:pos x="connsiteX2-5" y="connsiteY2-6"/>
                </a:cxn>
                <a:cxn ang="0">
                  <a:pos x="connsiteX3-7" y="connsiteY3-8"/>
                </a:cxn>
                <a:cxn ang="0">
                  <a:pos x="connsiteX4-9" y="connsiteY4-10"/>
                </a:cxn>
              </a:cxnLst>
              <a:rect l="l" t="t" r="r" b="b"/>
              <a:pathLst>
                <a:path w="8048625" h="3819525">
                  <a:moveTo>
                    <a:pt x="0" y="0"/>
                  </a:moveTo>
                  <a:lnTo>
                    <a:pt x="8048625" y="0"/>
                  </a:lnTo>
                  <a:lnTo>
                    <a:pt x="7124700" y="3810000"/>
                  </a:lnTo>
                  <a:lnTo>
                    <a:pt x="0" y="381952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1559C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>
                <a:latin typeface="苹方-简" panose="020B0400000000000000" charset="-122"/>
                <a:ea typeface="苹方-简" panose="020B0400000000000000" charset="-122"/>
                <a:cs typeface="+mn-ea"/>
                <a:sym typeface="+mn-lt"/>
              </a:endParaRPr>
            </a:p>
          </p:txBody>
        </p:sp>
        <p:sp>
          <p:nvSpPr>
            <p:cNvPr id="9" name="文本框 8"/>
            <p:cNvSpPr txBox="1"/>
            <p:nvPr/>
          </p:nvSpPr>
          <p:spPr>
            <a:xfrm>
              <a:off x="987" y="2953"/>
              <a:ext cx="9025" cy="3271"/>
            </a:xfrm>
            <a:prstGeom prst="rect">
              <a:avLst/>
            </a:prstGeom>
            <a:noFill/>
            <a:effectLst>
              <a:outerShdw blurRad="50800" dist="38100" dir="2700000" algn="tl" rotWithShape="0">
                <a:prstClr val="black">
                  <a:alpha val="20000"/>
                </a:prstClr>
              </a:outerShdw>
            </a:effectLst>
          </p:spPr>
          <p:txBody>
            <a:bodyPr wrap="none" lIns="0" tIns="0" rIns="0" bIns="0" rtlCol="0">
              <a:spAutoFit/>
            </a:bodyPr>
            <a:p>
              <a:pPr algn="l">
                <a:lnSpc>
                  <a:spcPct val="100000"/>
                </a:lnSpc>
              </a:pPr>
              <a:r>
                <a:rPr lang="en-US" altLang="zh-CN" sz="4200" b="1">
                  <a:solidFill>
                    <a:srgbClr val="FFFFFF"/>
                  </a:solidFill>
                  <a:latin typeface="微软雅黑" panose="020B0503020204020204" pitchFamily="34" charset="-122"/>
                </a:rPr>
                <a:t>WMS</a:t>
              </a:r>
              <a:r>
                <a:rPr lang="zh-CN" altLang="en-US" sz="4200" b="1">
                  <a:solidFill>
                    <a:srgbClr val="FFFFFF"/>
                  </a:solidFill>
                  <a:latin typeface="微软雅黑" panose="020B0503020204020204" pitchFamily="34" charset="-122"/>
                </a:rPr>
                <a:t>系统软件及本地化</a:t>
              </a:r>
              <a:br>
                <a:rPr lang="zh-CN" altLang="en-US" sz="4200" b="1">
                  <a:solidFill>
                    <a:srgbClr val="FFFFFF"/>
                  </a:solidFill>
                  <a:latin typeface="微软雅黑" panose="020B0503020204020204" pitchFamily="34" charset="-122"/>
                </a:rPr>
              </a:br>
              <a:r>
                <a:rPr lang="zh-CN" altLang="en-US" sz="4200" b="1">
                  <a:solidFill>
                    <a:srgbClr val="FFFFFF"/>
                  </a:solidFill>
                  <a:latin typeface="微软雅黑" panose="020B0503020204020204" pitchFamily="34" charset="-122"/>
                </a:rPr>
                <a:t>自建服务器部署</a:t>
              </a:r>
              <a:endParaRPr lang="zh-CN" altLang="en-US" sz="4200" b="1">
                <a:solidFill>
                  <a:srgbClr val="FFFFFF"/>
                </a:solidFill>
                <a:latin typeface="微软雅黑" panose="020B0503020204020204" pitchFamily="34" charset="-122"/>
              </a:endParaRPr>
            </a:p>
            <a:p>
              <a:pPr algn="l">
                <a:lnSpc>
                  <a:spcPct val="150000"/>
                </a:lnSpc>
              </a:pPr>
              <a:endParaRPr lang="zh-CN" altLang="en-US" sz="3400" kern="800" spc="200" dirty="0">
                <a:solidFill>
                  <a:schemeClr val="bg1"/>
                </a:solidFill>
                <a:uFillTx/>
                <a:latin typeface="苹方-简" panose="020B0400000000000000" charset="-122"/>
                <a:ea typeface="苹方-简" panose="020B0400000000000000" charset="-122"/>
                <a:cs typeface="+mn-ea"/>
                <a:sym typeface="+mn-lt"/>
              </a:endParaRPr>
            </a:p>
          </p:txBody>
        </p:sp>
        <p:sp>
          <p:nvSpPr>
            <p:cNvPr id="10" name="文本框 9"/>
            <p:cNvSpPr txBox="1"/>
            <p:nvPr/>
          </p:nvSpPr>
          <p:spPr>
            <a:xfrm>
              <a:off x="987" y="6303"/>
              <a:ext cx="3413" cy="630"/>
            </a:xfrm>
            <a:prstGeom prst="rect">
              <a:avLst/>
            </a:prstGeom>
            <a:noFill/>
            <a:effectLst>
              <a:outerShdw blurRad="50800" dist="38100" dir="2700000" algn="tl" rotWithShape="0">
                <a:prstClr val="black">
                  <a:alpha val="20000"/>
                </a:prstClr>
              </a:outerShdw>
            </a:effectLst>
          </p:spPr>
          <p:txBody>
            <a:bodyPr wrap="none" lIns="0" tIns="0" rIns="0" bIns="0" rtlCol="0">
              <a:spAutoFit/>
            </a:bodyPr>
            <a:p>
              <a:pPr algn="l"/>
              <a:r>
                <a:rPr lang="en-US" altLang="zh-CN" sz="2600" spc="400" dirty="0">
                  <a:solidFill>
                    <a:schemeClr val="bg1"/>
                  </a:solidFill>
                  <a:uFillTx/>
                  <a:latin typeface="苹方-简" panose="020B0400000000000000" charset="-122"/>
                  <a:ea typeface="苹方-简" panose="020B0400000000000000" charset="-122"/>
                  <a:cs typeface="+mn-ea"/>
                  <a:sym typeface="+mn-lt"/>
                </a:rPr>
                <a:t>2026</a:t>
              </a:r>
              <a:r>
                <a:rPr lang="zh-CN" altLang="en-US" sz="2600" spc="400" dirty="0">
                  <a:solidFill>
                    <a:schemeClr val="bg1"/>
                  </a:solidFill>
                  <a:uFillTx/>
                  <a:latin typeface="苹方-简" panose="020B0400000000000000" charset="-122"/>
                  <a:ea typeface="苹方-简" panose="020B0400000000000000" charset="-122"/>
                  <a:cs typeface="+mn-ea"/>
                  <a:sym typeface="+mn-lt"/>
                </a:rPr>
                <a:t>年</a:t>
              </a:r>
              <a:r>
                <a:rPr lang="en-US" altLang="zh-CN" sz="2600" spc="400" dirty="0">
                  <a:solidFill>
                    <a:schemeClr val="bg1"/>
                  </a:solidFill>
                  <a:uFillTx/>
                  <a:latin typeface="苹方-简" panose="020B0400000000000000" charset="-122"/>
                  <a:ea typeface="苹方-简" panose="020B0400000000000000" charset="-122"/>
                  <a:cs typeface="+mn-ea"/>
                  <a:sym typeface="+mn-lt"/>
                </a:rPr>
                <a:t>8</a:t>
              </a:r>
              <a:r>
                <a:rPr lang="zh-CN" altLang="en-US" sz="2600" spc="400" dirty="0">
                  <a:solidFill>
                    <a:schemeClr val="bg1"/>
                  </a:solidFill>
                  <a:uFillTx/>
                  <a:latin typeface="苹方-简" panose="020B0400000000000000" charset="-122"/>
                  <a:ea typeface="苹方-简" panose="020B0400000000000000" charset="-122"/>
                  <a:cs typeface="+mn-ea"/>
                  <a:sym typeface="+mn-lt"/>
                </a:rPr>
                <a:t>月 </a:t>
              </a:r>
              <a:endParaRPr lang="zh-CN" altLang="en-US" sz="2600" spc="400" dirty="0">
                <a:solidFill>
                  <a:schemeClr val="bg1"/>
                </a:solidFill>
                <a:uFillTx/>
                <a:latin typeface="苹方-简" panose="020B0400000000000000" charset="-122"/>
                <a:ea typeface="苹方-简" panose="020B0400000000000000" charset="-122"/>
                <a:cs typeface="+mn-ea"/>
                <a:sym typeface="+mn-lt"/>
              </a:endParaRPr>
            </a:p>
          </p:txBody>
        </p:sp>
      </p:grpSp>
      <p:pic>
        <p:nvPicPr>
          <p:cNvPr id="40" name="图片 1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083" y="344488"/>
            <a:ext cx="1321435" cy="4730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8" name="图片 1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32065" y="1965960"/>
            <a:ext cx="4520565" cy="2715895"/>
          </a:xfrm>
          <a:prstGeom prst="rect">
            <a:avLst/>
          </a:prstGeom>
        </p:spPr>
      </p:pic>
    </p:spTree>
  </p:cSld>
  <p:clrMapOvr>
    <a:masterClrMapping/>
  </p:clrMapOvr>
  <p:transition spd="slow" advClick="0" advTm="2000"/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任意多边形 29"/>
          <p:cNvSpPr/>
          <p:nvPr/>
        </p:nvSpPr>
        <p:spPr>
          <a:xfrm>
            <a:off x="2135383" y="-12208"/>
            <a:ext cx="3670935" cy="1835785"/>
          </a:xfrm>
          <a:custGeom>
            <a:avLst/>
            <a:gdLst>
              <a:gd name="connsiteX0" fmla="*/ 2722 w 5781"/>
              <a:gd name="connsiteY0" fmla="*/ 30 h 2891"/>
              <a:gd name="connsiteX1" fmla="*/ 5781 w 5781"/>
              <a:gd name="connsiteY1" fmla="*/ 0 h 2891"/>
              <a:gd name="connsiteX2" fmla="*/ 2890 w 5781"/>
              <a:gd name="connsiteY2" fmla="*/ 2891 h 2891"/>
              <a:gd name="connsiteX3" fmla="*/ 0 w 5781"/>
              <a:gd name="connsiteY3" fmla="*/ 0 h 2891"/>
              <a:gd name="connsiteX4" fmla="*/ 2722 w 5781"/>
              <a:gd name="connsiteY4" fmla="*/ 30 h 28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781" h="2891">
                <a:moveTo>
                  <a:pt x="2722" y="30"/>
                </a:moveTo>
                <a:lnTo>
                  <a:pt x="5781" y="0"/>
                </a:lnTo>
                <a:lnTo>
                  <a:pt x="2890" y="2891"/>
                </a:lnTo>
                <a:lnTo>
                  <a:pt x="0" y="0"/>
                </a:lnTo>
                <a:lnTo>
                  <a:pt x="2722" y="30"/>
                </a:lnTo>
                <a:close/>
              </a:path>
            </a:pathLst>
          </a:custGeom>
          <a:solidFill>
            <a:srgbClr val="11559C"/>
          </a:solidFill>
          <a:ln>
            <a:noFill/>
          </a:ln>
          <a:effectLst>
            <a:outerShdw blurRad="254000" dist="635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anchor="t" anchorCtr="0" compatLnSpc="1"/>
          <a:lstStyle/>
          <a:p>
            <a:endParaRPr lang="zh-CN" altLang="en-US">
              <a:latin typeface="苹方-简" panose="020B0400000000000000" charset="-122"/>
              <a:ea typeface="苹方-简" panose="020B0400000000000000" charset="-122"/>
              <a:cs typeface="+mn-ea"/>
              <a:sym typeface="+mn-lt"/>
            </a:endParaRPr>
          </a:p>
        </p:txBody>
      </p:sp>
      <p:sp>
        <p:nvSpPr>
          <p:cNvPr id="31" name="任意多边形 30"/>
          <p:cNvSpPr/>
          <p:nvPr/>
        </p:nvSpPr>
        <p:spPr>
          <a:xfrm>
            <a:off x="-30315" y="-55388"/>
            <a:ext cx="1861820" cy="1878965"/>
          </a:xfrm>
          <a:custGeom>
            <a:avLst/>
            <a:gdLst>
              <a:gd name="connsiteX0" fmla="*/ 266 w 2932"/>
              <a:gd name="connsiteY0" fmla="*/ 19 h 2959"/>
              <a:gd name="connsiteX1" fmla="*/ 2932 w 2932"/>
              <a:gd name="connsiteY1" fmla="*/ 68 h 2959"/>
              <a:gd name="connsiteX2" fmla="*/ 41 w 2932"/>
              <a:gd name="connsiteY2" fmla="*/ 2959 h 2959"/>
              <a:gd name="connsiteX3" fmla="*/ 0 w 2932"/>
              <a:gd name="connsiteY3" fmla="*/ 0 h 2959"/>
              <a:gd name="connsiteX4" fmla="*/ 266 w 2932"/>
              <a:gd name="connsiteY4" fmla="*/ 19 h 29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932" h="2959">
                <a:moveTo>
                  <a:pt x="266" y="19"/>
                </a:moveTo>
                <a:lnTo>
                  <a:pt x="2932" y="68"/>
                </a:lnTo>
                <a:lnTo>
                  <a:pt x="41" y="2959"/>
                </a:lnTo>
                <a:lnTo>
                  <a:pt x="0" y="0"/>
                </a:lnTo>
                <a:lnTo>
                  <a:pt x="266" y="19"/>
                </a:lnTo>
                <a:close/>
              </a:path>
            </a:pathLst>
          </a:custGeom>
          <a:solidFill>
            <a:srgbClr val="081D3D"/>
          </a:solidFill>
          <a:ln>
            <a:noFill/>
          </a:ln>
          <a:effectLst>
            <a:outerShdw blurRad="254000" dist="635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anchor="t" anchorCtr="0" compatLnSpc="1"/>
          <a:lstStyle/>
          <a:p>
            <a:endParaRPr lang="zh-CN" altLang="en-US">
              <a:latin typeface="苹方-简" panose="020B0400000000000000" charset="-122"/>
              <a:ea typeface="苹方-简" panose="020B0400000000000000" charset="-122"/>
              <a:cs typeface="+mn-ea"/>
              <a:sym typeface="+mn-lt"/>
            </a:endParaRPr>
          </a:p>
        </p:txBody>
      </p:sp>
      <p:sp>
        <p:nvSpPr>
          <p:cNvPr id="32" name="任意多边形 31" descr="蓝绿色的铜氧化物矿石，拿在手里，背景是失焦的矿石。挖掘。"/>
          <p:cNvSpPr/>
          <p:nvPr>
            <p:custDataLst>
              <p:tags r:id="rId1"/>
            </p:custDataLst>
          </p:nvPr>
        </p:nvSpPr>
        <p:spPr>
          <a:xfrm>
            <a:off x="147977" y="172629"/>
            <a:ext cx="3670729" cy="3670728"/>
          </a:xfrm>
          <a:custGeom>
            <a:avLst/>
            <a:gdLst>
              <a:gd name="connsiteX0" fmla="*/ 1122362 w 2244725"/>
              <a:gd name="connsiteY0" fmla="*/ 0 h 2244724"/>
              <a:gd name="connsiteX1" fmla="*/ 2244725 w 2244725"/>
              <a:gd name="connsiteY1" fmla="*/ 1122362 h 2244724"/>
              <a:gd name="connsiteX2" fmla="*/ 1122362 w 2244725"/>
              <a:gd name="connsiteY2" fmla="*/ 2244724 h 2244724"/>
              <a:gd name="connsiteX3" fmla="*/ 0 w 2244725"/>
              <a:gd name="connsiteY3" fmla="*/ 1122362 h 22447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244725" h="2244724">
                <a:moveTo>
                  <a:pt x="1122362" y="0"/>
                </a:moveTo>
                <a:lnTo>
                  <a:pt x="2244725" y="1122362"/>
                </a:lnTo>
                <a:lnTo>
                  <a:pt x="1122362" y="2244724"/>
                </a:lnTo>
                <a:lnTo>
                  <a:pt x="0" y="1122362"/>
                </a:lnTo>
                <a:close/>
              </a:path>
            </a:pathLst>
          </a:custGeom>
          <a:blipFill rotWithShape="1">
            <a:blip r:embed="rId2"/>
            <a:stretch>
              <a:fillRect/>
            </a:stretch>
          </a:blipFill>
          <a:ln>
            <a:noFill/>
          </a:ln>
          <a:effectLst>
            <a:outerShdw blurRad="254000" dist="635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anchor="t" anchorCtr="0" compatLnSpc="1"/>
          <a:lstStyle/>
          <a:p>
            <a:endParaRPr lang="zh-CN" altLang="en-US">
              <a:latin typeface="苹方-简" panose="020B0400000000000000" charset="-122"/>
              <a:ea typeface="苹方-简" panose="020B0400000000000000" charset="-122"/>
              <a:cs typeface="+mn-ea"/>
              <a:sym typeface="+mn-lt"/>
            </a:endParaRPr>
          </a:p>
        </p:txBody>
      </p:sp>
      <p:sp>
        <p:nvSpPr>
          <p:cNvPr id="33" name="任意多边形 32"/>
          <p:cNvSpPr/>
          <p:nvPr/>
        </p:nvSpPr>
        <p:spPr>
          <a:xfrm>
            <a:off x="-13171" y="2192616"/>
            <a:ext cx="1844675" cy="3670935"/>
          </a:xfrm>
          <a:custGeom>
            <a:avLst/>
            <a:gdLst>
              <a:gd name="connsiteX0" fmla="*/ 14 w 2905"/>
              <a:gd name="connsiteY0" fmla="*/ 0 h 5781"/>
              <a:gd name="connsiteX1" fmla="*/ 2905 w 2905"/>
              <a:gd name="connsiteY1" fmla="*/ 2890 h 5781"/>
              <a:gd name="connsiteX2" fmla="*/ 14 w 2905"/>
              <a:gd name="connsiteY2" fmla="*/ 5781 h 5781"/>
              <a:gd name="connsiteX3" fmla="*/ 0 w 2905"/>
              <a:gd name="connsiteY3" fmla="*/ 3331 h 5781"/>
              <a:gd name="connsiteX4" fmla="*/ 14 w 2905"/>
              <a:gd name="connsiteY4" fmla="*/ 0 h 57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905" h="5781">
                <a:moveTo>
                  <a:pt x="14" y="0"/>
                </a:moveTo>
                <a:lnTo>
                  <a:pt x="2905" y="2890"/>
                </a:lnTo>
                <a:lnTo>
                  <a:pt x="14" y="5781"/>
                </a:lnTo>
                <a:lnTo>
                  <a:pt x="0" y="3331"/>
                </a:lnTo>
                <a:lnTo>
                  <a:pt x="14" y="0"/>
                </a:lnTo>
                <a:close/>
              </a:path>
            </a:pathLst>
          </a:custGeom>
          <a:solidFill>
            <a:srgbClr val="11559C"/>
          </a:solidFill>
          <a:ln>
            <a:noFill/>
          </a:ln>
          <a:effectLst>
            <a:outerShdw blurRad="254000" dist="635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anchor="t" anchorCtr="0" compatLnSpc="1"/>
          <a:lstStyle/>
          <a:p>
            <a:endParaRPr lang="zh-CN" altLang="en-US">
              <a:latin typeface="苹方-简" panose="020B0400000000000000" charset="-122"/>
              <a:ea typeface="苹方-简" panose="020B0400000000000000" charset="-122"/>
              <a:cs typeface="+mn-ea"/>
              <a:sym typeface="+mn-lt"/>
            </a:endParaRPr>
          </a:p>
        </p:txBody>
      </p:sp>
      <p:sp>
        <p:nvSpPr>
          <p:cNvPr id="34" name="TextBox 11"/>
          <p:cNvSpPr txBox="1"/>
          <p:nvPr/>
        </p:nvSpPr>
        <p:spPr>
          <a:xfrm>
            <a:off x="1555883" y="4989145"/>
            <a:ext cx="2472420" cy="49212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altLang="zh-CN" sz="3200" b="1" dirty="0">
                <a:solidFill>
                  <a:schemeClr val="tx1">
                    <a:lumMod val="95000"/>
                    <a:lumOff val="5000"/>
                  </a:schemeClr>
                </a:solidFill>
                <a:latin typeface="苹方-简" panose="020B0400000000000000" charset="-122"/>
                <a:ea typeface="苹方-简" panose="020B0400000000000000" charset="-122"/>
                <a:cs typeface="+mn-ea"/>
                <a:sym typeface="+mn-lt"/>
              </a:rPr>
              <a:t>CONTENTS</a:t>
            </a:r>
            <a:endParaRPr lang="en-US" altLang="zh-CN" sz="3200" b="1" dirty="0">
              <a:solidFill>
                <a:schemeClr val="tx1">
                  <a:lumMod val="95000"/>
                  <a:lumOff val="5000"/>
                </a:schemeClr>
              </a:solidFill>
              <a:latin typeface="苹方-简" panose="020B0400000000000000" charset="-122"/>
              <a:ea typeface="苹方-简" panose="020B0400000000000000" charset="-122"/>
              <a:cs typeface="+mn-ea"/>
              <a:sym typeface="+mn-lt"/>
            </a:endParaRPr>
          </a:p>
        </p:txBody>
      </p:sp>
      <p:grpSp>
        <p:nvGrpSpPr>
          <p:cNvPr id="9" name="组合 8"/>
          <p:cNvGrpSpPr/>
          <p:nvPr>
            <p:custDataLst>
              <p:tags r:id="rId3"/>
            </p:custDataLst>
          </p:nvPr>
        </p:nvGrpSpPr>
        <p:grpSpPr>
          <a:xfrm>
            <a:off x="6383020" y="1474470"/>
            <a:ext cx="3951605" cy="796290"/>
            <a:chOff x="9812" y="2322"/>
            <a:chExt cx="6223" cy="1254"/>
          </a:xfrm>
        </p:grpSpPr>
        <p:sp>
          <p:nvSpPr>
            <p:cNvPr id="3" name="Freeform 6"/>
            <p:cNvSpPr/>
            <p:nvPr>
              <p:custDataLst>
                <p:tags r:id="rId4"/>
              </p:custDataLst>
            </p:nvPr>
          </p:nvSpPr>
          <p:spPr>
            <a:xfrm>
              <a:off x="9812" y="2322"/>
              <a:ext cx="1254" cy="1254"/>
            </a:xfrm>
            <a:custGeom>
              <a:avLst/>
              <a:gdLst>
                <a:gd name="connsiteX0" fmla="*/ 1621876 w 4116165"/>
                <a:gd name="connsiteY0" fmla="*/ 814807 h 3497531"/>
                <a:gd name="connsiteX1" fmla="*/ 3927730 w 4116165"/>
                <a:gd name="connsiteY1" fmla="*/ 814807 h 3497531"/>
                <a:gd name="connsiteX2" fmla="*/ 4116165 w 4116165"/>
                <a:gd name="connsiteY2" fmla="*/ 1003242 h 3497531"/>
                <a:gd name="connsiteX3" fmla="*/ 4116165 w 4116165"/>
                <a:gd name="connsiteY3" fmla="*/ 3309096 h 3497531"/>
                <a:gd name="connsiteX4" fmla="*/ 3927730 w 4116165"/>
                <a:gd name="connsiteY4" fmla="*/ 3497531 h 3497531"/>
                <a:gd name="connsiteX5" fmla="*/ 1621876 w 4116165"/>
                <a:gd name="connsiteY5" fmla="*/ 3497531 h 3497531"/>
                <a:gd name="connsiteX6" fmla="*/ 1433441 w 4116165"/>
                <a:gd name="connsiteY6" fmla="*/ 3309096 h 3497531"/>
                <a:gd name="connsiteX7" fmla="*/ 1433441 w 4116165"/>
                <a:gd name="connsiteY7" fmla="*/ 1003242 h 3497531"/>
                <a:gd name="connsiteX8" fmla="*/ 1621876 w 4116165"/>
                <a:gd name="connsiteY8" fmla="*/ 814807 h 3497531"/>
                <a:gd name="connsiteX9" fmla="*/ 688860 w 4116165"/>
                <a:gd name="connsiteY9" fmla="*/ 0 h 3497531"/>
                <a:gd name="connsiteX10" fmla="*/ 739322 w 4116165"/>
                <a:gd name="connsiteY10" fmla="*/ 20901 h 3497531"/>
                <a:gd name="connsiteX11" fmla="*/ 1356818 w 4116165"/>
                <a:gd name="connsiteY11" fmla="*/ 638398 h 3497531"/>
                <a:gd name="connsiteX12" fmla="*/ 1356818 w 4116165"/>
                <a:gd name="connsiteY12" fmla="*/ 739322 h 3497531"/>
                <a:gd name="connsiteX13" fmla="*/ 739322 w 4116165"/>
                <a:gd name="connsiteY13" fmla="*/ 1356819 h 3497531"/>
                <a:gd name="connsiteX14" fmla="*/ 638398 w 4116165"/>
                <a:gd name="connsiteY14" fmla="*/ 1356819 h 3497531"/>
                <a:gd name="connsiteX15" fmla="*/ 20901 w 4116165"/>
                <a:gd name="connsiteY15" fmla="*/ 739322 h 3497531"/>
                <a:gd name="connsiteX16" fmla="*/ 20901 w 4116165"/>
                <a:gd name="connsiteY16" fmla="*/ 638398 h 3497531"/>
                <a:gd name="connsiteX17" fmla="*/ 638398 w 4116165"/>
                <a:gd name="connsiteY17" fmla="*/ 20901 h 3497531"/>
                <a:gd name="connsiteX18" fmla="*/ 688860 w 4116165"/>
                <a:gd name="connsiteY18" fmla="*/ 0 h 3497531"/>
                <a:gd name="connsiteX0-1" fmla="*/ 1433441 w 4116165"/>
                <a:gd name="connsiteY0-2" fmla="*/ 1003242 h 3497531"/>
                <a:gd name="connsiteX1-3" fmla="*/ 3927730 w 4116165"/>
                <a:gd name="connsiteY1-4" fmla="*/ 814807 h 3497531"/>
                <a:gd name="connsiteX2-5" fmla="*/ 4116165 w 4116165"/>
                <a:gd name="connsiteY2-6" fmla="*/ 1003242 h 3497531"/>
                <a:gd name="connsiteX3-7" fmla="*/ 4116165 w 4116165"/>
                <a:gd name="connsiteY3-8" fmla="*/ 3309096 h 3497531"/>
                <a:gd name="connsiteX4-9" fmla="*/ 3927730 w 4116165"/>
                <a:gd name="connsiteY4-10" fmla="*/ 3497531 h 3497531"/>
                <a:gd name="connsiteX5-11" fmla="*/ 1621876 w 4116165"/>
                <a:gd name="connsiteY5-12" fmla="*/ 3497531 h 3497531"/>
                <a:gd name="connsiteX6-13" fmla="*/ 1433441 w 4116165"/>
                <a:gd name="connsiteY6-14" fmla="*/ 3309096 h 3497531"/>
                <a:gd name="connsiteX7-15" fmla="*/ 1433441 w 4116165"/>
                <a:gd name="connsiteY7-16" fmla="*/ 1003242 h 3497531"/>
                <a:gd name="connsiteX8-17" fmla="*/ 688860 w 4116165"/>
                <a:gd name="connsiteY8-18" fmla="*/ 0 h 3497531"/>
                <a:gd name="connsiteX9-19" fmla="*/ 739322 w 4116165"/>
                <a:gd name="connsiteY9-20" fmla="*/ 20901 h 3497531"/>
                <a:gd name="connsiteX10-21" fmla="*/ 1356818 w 4116165"/>
                <a:gd name="connsiteY10-22" fmla="*/ 638398 h 3497531"/>
                <a:gd name="connsiteX11-23" fmla="*/ 1356818 w 4116165"/>
                <a:gd name="connsiteY11-24" fmla="*/ 739322 h 3497531"/>
                <a:gd name="connsiteX12-25" fmla="*/ 739322 w 4116165"/>
                <a:gd name="connsiteY12-26" fmla="*/ 1356819 h 3497531"/>
                <a:gd name="connsiteX13-27" fmla="*/ 638398 w 4116165"/>
                <a:gd name="connsiteY13-28" fmla="*/ 1356819 h 3497531"/>
                <a:gd name="connsiteX14-29" fmla="*/ 20901 w 4116165"/>
                <a:gd name="connsiteY14-30" fmla="*/ 739322 h 3497531"/>
                <a:gd name="connsiteX15-31" fmla="*/ 20901 w 4116165"/>
                <a:gd name="connsiteY15-32" fmla="*/ 638398 h 3497531"/>
                <a:gd name="connsiteX16-33" fmla="*/ 638398 w 4116165"/>
                <a:gd name="connsiteY16-34" fmla="*/ 20901 h 3497531"/>
                <a:gd name="connsiteX17-35" fmla="*/ 688860 w 4116165"/>
                <a:gd name="connsiteY17-36" fmla="*/ 0 h 3497531"/>
                <a:gd name="connsiteX0-37" fmla="*/ 1433441 w 4116165"/>
                <a:gd name="connsiteY0-38" fmla="*/ 3309096 h 3497531"/>
                <a:gd name="connsiteX1-39" fmla="*/ 3927730 w 4116165"/>
                <a:gd name="connsiteY1-40" fmla="*/ 814807 h 3497531"/>
                <a:gd name="connsiteX2-41" fmla="*/ 4116165 w 4116165"/>
                <a:gd name="connsiteY2-42" fmla="*/ 1003242 h 3497531"/>
                <a:gd name="connsiteX3-43" fmla="*/ 4116165 w 4116165"/>
                <a:gd name="connsiteY3-44" fmla="*/ 3309096 h 3497531"/>
                <a:gd name="connsiteX4-45" fmla="*/ 3927730 w 4116165"/>
                <a:gd name="connsiteY4-46" fmla="*/ 3497531 h 3497531"/>
                <a:gd name="connsiteX5-47" fmla="*/ 1621876 w 4116165"/>
                <a:gd name="connsiteY5-48" fmla="*/ 3497531 h 3497531"/>
                <a:gd name="connsiteX6-49" fmla="*/ 1433441 w 4116165"/>
                <a:gd name="connsiteY6-50" fmla="*/ 3309096 h 3497531"/>
                <a:gd name="connsiteX7-51" fmla="*/ 688860 w 4116165"/>
                <a:gd name="connsiteY7-52" fmla="*/ 0 h 3497531"/>
                <a:gd name="connsiteX8-53" fmla="*/ 739322 w 4116165"/>
                <a:gd name="connsiteY8-54" fmla="*/ 20901 h 3497531"/>
                <a:gd name="connsiteX9-55" fmla="*/ 1356818 w 4116165"/>
                <a:gd name="connsiteY9-56" fmla="*/ 638398 h 3497531"/>
                <a:gd name="connsiteX10-57" fmla="*/ 1356818 w 4116165"/>
                <a:gd name="connsiteY10-58" fmla="*/ 739322 h 3497531"/>
                <a:gd name="connsiteX11-59" fmla="*/ 739322 w 4116165"/>
                <a:gd name="connsiteY11-60" fmla="*/ 1356819 h 3497531"/>
                <a:gd name="connsiteX12-61" fmla="*/ 638398 w 4116165"/>
                <a:gd name="connsiteY12-62" fmla="*/ 1356819 h 3497531"/>
                <a:gd name="connsiteX13-63" fmla="*/ 20901 w 4116165"/>
                <a:gd name="connsiteY13-64" fmla="*/ 739322 h 3497531"/>
                <a:gd name="connsiteX14-65" fmla="*/ 20901 w 4116165"/>
                <a:gd name="connsiteY14-66" fmla="*/ 638398 h 3497531"/>
                <a:gd name="connsiteX15-67" fmla="*/ 638398 w 4116165"/>
                <a:gd name="connsiteY15-68" fmla="*/ 20901 h 3497531"/>
                <a:gd name="connsiteX16-69" fmla="*/ 688860 w 4116165"/>
                <a:gd name="connsiteY16-70" fmla="*/ 0 h 3497531"/>
                <a:gd name="connsiteX0-71" fmla="*/ 1433441 w 4116165"/>
                <a:gd name="connsiteY0-72" fmla="*/ 3309096 h 3497531"/>
                <a:gd name="connsiteX1-73" fmla="*/ 4116165 w 4116165"/>
                <a:gd name="connsiteY1-74" fmla="*/ 1003242 h 3497531"/>
                <a:gd name="connsiteX2-75" fmla="*/ 4116165 w 4116165"/>
                <a:gd name="connsiteY2-76" fmla="*/ 3309096 h 3497531"/>
                <a:gd name="connsiteX3-77" fmla="*/ 3927730 w 4116165"/>
                <a:gd name="connsiteY3-78" fmla="*/ 3497531 h 3497531"/>
                <a:gd name="connsiteX4-79" fmla="*/ 1621876 w 4116165"/>
                <a:gd name="connsiteY4-80" fmla="*/ 3497531 h 3497531"/>
                <a:gd name="connsiteX5-81" fmla="*/ 1433441 w 4116165"/>
                <a:gd name="connsiteY5-82" fmla="*/ 3309096 h 3497531"/>
                <a:gd name="connsiteX6-83" fmla="*/ 688860 w 4116165"/>
                <a:gd name="connsiteY6-84" fmla="*/ 0 h 3497531"/>
                <a:gd name="connsiteX7-85" fmla="*/ 739322 w 4116165"/>
                <a:gd name="connsiteY7-86" fmla="*/ 20901 h 3497531"/>
                <a:gd name="connsiteX8-87" fmla="*/ 1356818 w 4116165"/>
                <a:gd name="connsiteY8-88" fmla="*/ 638398 h 3497531"/>
                <a:gd name="connsiteX9-89" fmla="*/ 1356818 w 4116165"/>
                <a:gd name="connsiteY9-90" fmla="*/ 739322 h 3497531"/>
                <a:gd name="connsiteX10-91" fmla="*/ 739322 w 4116165"/>
                <a:gd name="connsiteY10-92" fmla="*/ 1356819 h 3497531"/>
                <a:gd name="connsiteX11-93" fmla="*/ 638398 w 4116165"/>
                <a:gd name="connsiteY11-94" fmla="*/ 1356819 h 3497531"/>
                <a:gd name="connsiteX12-95" fmla="*/ 20901 w 4116165"/>
                <a:gd name="connsiteY12-96" fmla="*/ 739322 h 3497531"/>
                <a:gd name="connsiteX13-97" fmla="*/ 20901 w 4116165"/>
                <a:gd name="connsiteY13-98" fmla="*/ 638398 h 3497531"/>
                <a:gd name="connsiteX14-99" fmla="*/ 638398 w 4116165"/>
                <a:gd name="connsiteY14-100" fmla="*/ 20901 h 3497531"/>
                <a:gd name="connsiteX15-101" fmla="*/ 688860 w 4116165"/>
                <a:gd name="connsiteY15-102" fmla="*/ 0 h 3497531"/>
                <a:gd name="connsiteX0-103" fmla="*/ 1433441 w 4116165"/>
                <a:gd name="connsiteY0-104" fmla="*/ 3309096 h 3497531"/>
                <a:gd name="connsiteX1-105" fmla="*/ 4116165 w 4116165"/>
                <a:gd name="connsiteY1-106" fmla="*/ 3309096 h 3497531"/>
                <a:gd name="connsiteX2-107" fmla="*/ 3927730 w 4116165"/>
                <a:gd name="connsiteY2-108" fmla="*/ 3497531 h 3497531"/>
                <a:gd name="connsiteX3-109" fmla="*/ 1621876 w 4116165"/>
                <a:gd name="connsiteY3-110" fmla="*/ 3497531 h 3497531"/>
                <a:gd name="connsiteX4-111" fmla="*/ 1433441 w 4116165"/>
                <a:gd name="connsiteY4-112" fmla="*/ 3309096 h 3497531"/>
                <a:gd name="connsiteX5-113" fmla="*/ 688860 w 4116165"/>
                <a:gd name="connsiteY5-114" fmla="*/ 0 h 3497531"/>
                <a:gd name="connsiteX6-115" fmla="*/ 739322 w 4116165"/>
                <a:gd name="connsiteY6-116" fmla="*/ 20901 h 3497531"/>
                <a:gd name="connsiteX7-117" fmla="*/ 1356818 w 4116165"/>
                <a:gd name="connsiteY7-118" fmla="*/ 638398 h 3497531"/>
                <a:gd name="connsiteX8-119" fmla="*/ 1356818 w 4116165"/>
                <a:gd name="connsiteY8-120" fmla="*/ 739322 h 3497531"/>
                <a:gd name="connsiteX9-121" fmla="*/ 739322 w 4116165"/>
                <a:gd name="connsiteY9-122" fmla="*/ 1356819 h 3497531"/>
                <a:gd name="connsiteX10-123" fmla="*/ 638398 w 4116165"/>
                <a:gd name="connsiteY10-124" fmla="*/ 1356819 h 3497531"/>
                <a:gd name="connsiteX11-125" fmla="*/ 20901 w 4116165"/>
                <a:gd name="connsiteY11-126" fmla="*/ 739322 h 3497531"/>
                <a:gd name="connsiteX12-127" fmla="*/ 20901 w 4116165"/>
                <a:gd name="connsiteY12-128" fmla="*/ 638398 h 3497531"/>
                <a:gd name="connsiteX13-129" fmla="*/ 638398 w 4116165"/>
                <a:gd name="connsiteY13-130" fmla="*/ 20901 h 3497531"/>
                <a:gd name="connsiteX14-131" fmla="*/ 688860 w 4116165"/>
                <a:gd name="connsiteY14-132" fmla="*/ 0 h 3497531"/>
                <a:gd name="connsiteX0-133" fmla="*/ 1433441 w 3927730"/>
                <a:gd name="connsiteY0-134" fmla="*/ 3309096 h 3497531"/>
                <a:gd name="connsiteX1-135" fmla="*/ 3927730 w 3927730"/>
                <a:gd name="connsiteY1-136" fmla="*/ 3497531 h 3497531"/>
                <a:gd name="connsiteX2-137" fmla="*/ 1621876 w 3927730"/>
                <a:gd name="connsiteY2-138" fmla="*/ 3497531 h 3497531"/>
                <a:gd name="connsiteX3-139" fmla="*/ 1433441 w 3927730"/>
                <a:gd name="connsiteY3-140" fmla="*/ 3309096 h 3497531"/>
                <a:gd name="connsiteX4-141" fmla="*/ 688860 w 3927730"/>
                <a:gd name="connsiteY4-142" fmla="*/ 0 h 3497531"/>
                <a:gd name="connsiteX5-143" fmla="*/ 739322 w 3927730"/>
                <a:gd name="connsiteY5-144" fmla="*/ 20901 h 3497531"/>
                <a:gd name="connsiteX6-145" fmla="*/ 1356818 w 3927730"/>
                <a:gd name="connsiteY6-146" fmla="*/ 638398 h 3497531"/>
                <a:gd name="connsiteX7-147" fmla="*/ 1356818 w 3927730"/>
                <a:gd name="connsiteY7-148" fmla="*/ 739322 h 3497531"/>
                <a:gd name="connsiteX8-149" fmla="*/ 739322 w 3927730"/>
                <a:gd name="connsiteY8-150" fmla="*/ 1356819 h 3497531"/>
                <a:gd name="connsiteX9-151" fmla="*/ 638398 w 3927730"/>
                <a:gd name="connsiteY9-152" fmla="*/ 1356819 h 3497531"/>
                <a:gd name="connsiteX10-153" fmla="*/ 20901 w 3927730"/>
                <a:gd name="connsiteY10-154" fmla="*/ 739322 h 3497531"/>
                <a:gd name="connsiteX11-155" fmla="*/ 20901 w 3927730"/>
                <a:gd name="connsiteY11-156" fmla="*/ 638398 h 3497531"/>
                <a:gd name="connsiteX12-157" fmla="*/ 638398 w 3927730"/>
                <a:gd name="connsiteY12-158" fmla="*/ 20901 h 3497531"/>
                <a:gd name="connsiteX13-159" fmla="*/ 688860 w 3927730"/>
                <a:gd name="connsiteY13-160" fmla="*/ 0 h 3497531"/>
                <a:gd name="connsiteX0-161" fmla="*/ 1433441 w 1621876"/>
                <a:gd name="connsiteY0-162" fmla="*/ 3309096 h 3497531"/>
                <a:gd name="connsiteX1-163" fmla="*/ 1621876 w 1621876"/>
                <a:gd name="connsiteY1-164" fmla="*/ 3497531 h 3497531"/>
                <a:gd name="connsiteX2-165" fmla="*/ 1433441 w 1621876"/>
                <a:gd name="connsiteY2-166" fmla="*/ 3309096 h 3497531"/>
                <a:gd name="connsiteX3-167" fmla="*/ 688860 w 1621876"/>
                <a:gd name="connsiteY3-168" fmla="*/ 0 h 3497531"/>
                <a:gd name="connsiteX4-169" fmla="*/ 739322 w 1621876"/>
                <a:gd name="connsiteY4-170" fmla="*/ 20901 h 3497531"/>
                <a:gd name="connsiteX5-171" fmla="*/ 1356818 w 1621876"/>
                <a:gd name="connsiteY5-172" fmla="*/ 638398 h 3497531"/>
                <a:gd name="connsiteX6-173" fmla="*/ 1356818 w 1621876"/>
                <a:gd name="connsiteY6-174" fmla="*/ 739322 h 3497531"/>
                <a:gd name="connsiteX7-175" fmla="*/ 739322 w 1621876"/>
                <a:gd name="connsiteY7-176" fmla="*/ 1356819 h 3497531"/>
                <a:gd name="connsiteX8-177" fmla="*/ 638398 w 1621876"/>
                <a:gd name="connsiteY8-178" fmla="*/ 1356819 h 3497531"/>
                <a:gd name="connsiteX9-179" fmla="*/ 20901 w 1621876"/>
                <a:gd name="connsiteY9-180" fmla="*/ 739322 h 3497531"/>
                <a:gd name="connsiteX10-181" fmla="*/ 20901 w 1621876"/>
                <a:gd name="connsiteY10-182" fmla="*/ 638398 h 3497531"/>
                <a:gd name="connsiteX11-183" fmla="*/ 638398 w 1621876"/>
                <a:gd name="connsiteY11-184" fmla="*/ 20901 h 3497531"/>
                <a:gd name="connsiteX12-185" fmla="*/ 688860 w 1621876"/>
                <a:gd name="connsiteY12-186" fmla="*/ 0 h 3497531"/>
                <a:gd name="connsiteX0-187" fmla="*/ 688860 w 1377719"/>
                <a:gd name="connsiteY0-188" fmla="*/ 0 h 1377720"/>
                <a:gd name="connsiteX1-189" fmla="*/ 739322 w 1377719"/>
                <a:gd name="connsiteY1-190" fmla="*/ 20901 h 1377720"/>
                <a:gd name="connsiteX2-191" fmla="*/ 1356818 w 1377719"/>
                <a:gd name="connsiteY2-192" fmla="*/ 638398 h 1377720"/>
                <a:gd name="connsiteX3-193" fmla="*/ 1356818 w 1377719"/>
                <a:gd name="connsiteY3-194" fmla="*/ 739322 h 1377720"/>
                <a:gd name="connsiteX4-195" fmla="*/ 739322 w 1377719"/>
                <a:gd name="connsiteY4-196" fmla="*/ 1356819 h 1377720"/>
                <a:gd name="connsiteX5-197" fmla="*/ 638398 w 1377719"/>
                <a:gd name="connsiteY5-198" fmla="*/ 1356819 h 1377720"/>
                <a:gd name="connsiteX6-199" fmla="*/ 20901 w 1377719"/>
                <a:gd name="connsiteY6-200" fmla="*/ 739322 h 1377720"/>
                <a:gd name="connsiteX7-201" fmla="*/ 20901 w 1377719"/>
                <a:gd name="connsiteY7-202" fmla="*/ 638398 h 1377720"/>
                <a:gd name="connsiteX8-203" fmla="*/ 638398 w 1377719"/>
                <a:gd name="connsiteY8-204" fmla="*/ 20901 h 1377720"/>
                <a:gd name="connsiteX9-205" fmla="*/ 688860 w 1377719"/>
                <a:gd name="connsiteY9-206" fmla="*/ 0 h 1377720"/>
              </a:gdLst>
              <a:ahLst/>
              <a:cxnLst>
                <a:cxn ang="0">
                  <a:pos x="connsiteX0-1" y="connsiteY0-2"/>
                </a:cxn>
                <a:cxn ang="0">
                  <a:pos x="connsiteX1-3" y="connsiteY1-4"/>
                </a:cxn>
                <a:cxn ang="0">
                  <a:pos x="connsiteX2-5" y="connsiteY2-6"/>
                </a:cxn>
                <a:cxn ang="0">
                  <a:pos x="connsiteX3-7" y="connsiteY3-8"/>
                </a:cxn>
                <a:cxn ang="0">
                  <a:pos x="connsiteX4-9" y="connsiteY4-10"/>
                </a:cxn>
                <a:cxn ang="0">
                  <a:pos x="connsiteX5-11" y="connsiteY5-12"/>
                </a:cxn>
                <a:cxn ang="0">
                  <a:pos x="connsiteX6-13" y="connsiteY6-14"/>
                </a:cxn>
                <a:cxn ang="0">
                  <a:pos x="connsiteX7-15" y="connsiteY7-16"/>
                </a:cxn>
                <a:cxn ang="0">
                  <a:pos x="connsiteX8-17" y="connsiteY8-18"/>
                </a:cxn>
                <a:cxn ang="0">
                  <a:pos x="connsiteX9-19" y="connsiteY9-20"/>
                </a:cxn>
              </a:cxnLst>
              <a:rect l="l" t="t" r="r" b="b"/>
              <a:pathLst>
                <a:path w="1377719" h="1377720">
                  <a:moveTo>
                    <a:pt x="688860" y="0"/>
                  </a:moveTo>
                  <a:cubicBezTo>
                    <a:pt x="707124" y="0"/>
                    <a:pt x="725387" y="6967"/>
                    <a:pt x="739322" y="20901"/>
                  </a:cubicBezTo>
                  <a:lnTo>
                    <a:pt x="1356818" y="638398"/>
                  </a:lnTo>
                  <a:cubicBezTo>
                    <a:pt x="1384687" y="666267"/>
                    <a:pt x="1384687" y="711453"/>
                    <a:pt x="1356818" y="739322"/>
                  </a:cubicBezTo>
                  <a:lnTo>
                    <a:pt x="739322" y="1356819"/>
                  </a:lnTo>
                  <a:cubicBezTo>
                    <a:pt x="711453" y="1384688"/>
                    <a:pt x="666267" y="1384688"/>
                    <a:pt x="638398" y="1356819"/>
                  </a:cubicBezTo>
                  <a:lnTo>
                    <a:pt x="20901" y="739322"/>
                  </a:lnTo>
                  <a:cubicBezTo>
                    <a:pt x="-6968" y="711453"/>
                    <a:pt x="-6968" y="666267"/>
                    <a:pt x="20901" y="638398"/>
                  </a:cubicBezTo>
                  <a:lnTo>
                    <a:pt x="638398" y="20901"/>
                  </a:lnTo>
                  <a:cubicBezTo>
                    <a:pt x="652332" y="6967"/>
                    <a:pt x="670596" y="0"/>
                    <a:pt x="688860" y="0"/>
                  </a:cubicBezTo>
                  <a:close/>
                </a:path>
              </a:pathLst>
            </a:custGeom>
            <a:solidFill>
              <a:srgbClr val="11559C"/>
            </a:solidFill>
            <a:ln>
              <a:noFill/>
            </a:ln>
            <a:effectLst>
              <a:outerShdw blurRad="228600" dist="127000" dir="2700000" sx="95000" sy="95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r>
                <a:rPr lang="en-US" sz="2800" b="1" dirty="0">
                  <a:latin typeface="苹方-简" panose="020B0400000000000000" charset="-122"/>
                  <a:ea typeface="苹方-简" panose="020B0400000000000000" charset="-122"/>
                  <a:cs typeface="+mn-ea"/>
                  <a:sym typeface="+mn-lt"/>
                </a:rPr>
                <a:t>01</a:t>
              </a:r>
              <a:endParaRPr lang="en-US" sz="2800" b="1" dirty="0">
                <a:latin typeface="苹方-简" panose="020B0400000000000000" charset="-122"/>
                <a:ea typeface="苹方-简" panose="020B0400000000000000" charset="-122"/>
                <a:cs typeface="+mn-ea"/>
                <a:sym typeface="+mn-lt"/>
              </a:endParaRPr>
            </a:p>
          </p:txBody>
        </p:sp>
        <p:sp>
          <p:nvSpPr>
            <p:cNvPr id="12" name="矩形 11"/>
            <p:cNvSpPr/>
            <p:nvPr>
              <p:custDataLst>
                <p:tags r:id="rId5"/>
              </p:custDataLst>
            </p:nvPr>
          </p:nvSpPr>
          <p:spPr>
            <a:xfrm>
              <a:off x="11972" y="2587"/>
              <a:ext cx="4062" cy="727"/>
            </a:xfrm>
            <a:prstGeom prst="rect">
              <a:avLst/>
            </a:prstGeom>
          </p:spPr>
          <p:txBody>
            <a:bodyPr wrap="square" lIns="0" tIns="0" rIns="0" bIns="0" anchor="ctr">
              <a:spAutoFit/>
            </a:bodyPr>
            <a:lstStyle/>
            <a:p>
              <a:pPr algn="l"/>
              <a:r>
                <a:rPr lang="zh-CN" altLang="en-US" sz="3000" spc="1500" dirty="0">
                  <a:solidFill>
                    <a:schemeClr val="tx1">
                      <a:lumMod val="85000"/>
                      <a:lumOff val="15000"/>
                    </a:schemeClr>
                  </a:solidFill>
                  <a:uFillTx/>
                  <a:latin typeface="苹方-简" panose="020B0400000000000000" charset="-122"/>
                  <a:ea typeface="苹方-简" panose="020B0400000000000000" charset="-122"/>
                  <a:cs typeface="+mn-ea"/>
                  <a:sym typeface="+mn-lt"/>
                </a:rPr>
                <a:t>总体概述</a:t>
              </a:r>
              <a:endParaRPr lang="zh-CN" altLang="en-US" sz="3000" spc="1500" dirty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苹方-简" panose="020B0400000000000000" charset="-122"/>
                <a:ea typeface="苹方-简" panose="020B0400000000000000" charset="-122"/>
                <a:cs typeface="+mn-ea"/>
                <a:sym typeface="+mn-lt"/>
              </a:endParaRPr>
            </a:p>
          </p:txBody>
        </p:sp>
        <p:cxnSp>
          <p:nvCxnSpPr>
            <p:cNvPr id="18" name="直接连接符 17"/>
            <p:cNvCxnSpPr/>
            <p:nvPr>
              <p:custDataLst>
                <p:tags r:id="rId6"/>
              </p:custDataLst>
            </p:nvPr>
          </p:nvCxnSpPr>
          <p:spPr>
            <a:xfrm>
              <a:off x="11426" y="3404"/>
              <a:ext cx="4609" cy="0"/>
            </a:xfrm>
            <a:prstGeom prst="line">
              <a:avLst/>
            </a:prstGeom>
            <a:ln>
              <a:solidFill>
                <a:srgbClr val="3C87C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" name="组合 7"/>
          <p:cNvGrpSpPr/>
          <p:nvPr>
            <p:custDataLst>
              <p:tags r:id="rId7"/>
            </p:custDataLst>
          </p:nvPr>
        </p:nvGrpSpPr>
        <p:grpSpPr>
          <a:xfrm>
            <a:off x="6383020" y="2595245"/>
            <a:ext cx="3907790" cy="796290"/>
            <a:chOff x="9812" y="3819"/>
            <a:chExt cx="6154" cy="1254"/>
          </a:xfrm>
        </p:grpSpPr>
        <p:sp>
          <p:nvSpPr>
            <p:cNvPr id="4" name="Freeform 6"/>
            <p:cNvSpPr/>
            <p:nvPr>
              <p:custDataLst>
                <p:tags r:id="rId8"/>
              </p:custDataLst>
            </p:nvPr>
          </p:nvSpPr>
          <p:spPr>
            <a:xfrm>
              <a:off x="9812" y="3819"/>
              <a:ext cx="1254" cy="1254"/>
            </a:xfrm>
            <a:custGeom>
              <a:avLst/>
              <a:gdLst>
                <a:gd name="connsiteX0" fmla="*/ 1621876 w 4116165"/>
                <a:gd name="connsiteY0" fmla="*/ 814807 h 3497531"/>
                <a:gd name="connsiteX1" fmla="*/ 3927730 w 4116165"/>
                <a:gd name="connsiteY1" fmla="*/ 814807 h 3497531"/>
                <a:gd name="connsiteX2" fmla="*/ 4116165 w 4116165"/>
                <a:gd name="connsiteY2" fmla="*/ 1003242 h 3497531"/>
                <a:gd name="connsiteX3" fmla="*/ 4116165 w 4116165"/>
                <a:gd name="connsiteY3" fmla="*/ 3309096 h 3497531"/>
                <a:gd name="connsiteX4" fmla="*/ 3927730 w 4116165"/>
                <a:gd name="connsiteY4" fmla="*/ 3497531 h 3497531"/>
                <a:gd name="connsiteX5" fmla="*/ 1621876 w 4116165"/>
                <a:gd name="connsiteY5" fmla="*/ 3497531 h 3497531"/>
                <a:gd name="connsiteX6" fmla="*/ 1433441 w 4116165"/>
                <a:gd name="connsiteY6" fmla="*/ 3309096 h 3497531"/>
                <a:gd name="connsiteX7" fmla="*/ 1433441 w 4116165"/>
                <a:gd name="connsiteY7" fmla="*/ 1003242 h 3497531"/>
                <a:gd name="connsiteX8" fmla="*/ 1621876 w 4116165"/>
                <a:gd name="connsiteY8" fmla="*/ 814807 h 3497531"/>
                <a:gd name="connsiteX9" fmla="*/ 688860 w 4116165"/>
                <a:gd name="connsiteY9" fmla="*/ 0 h 3497531"/>
                <a:gd name="connsiteX10" fmla="*/ 739322 w 4116165"/>
                <a:gd name="connsiteY10" fmla="*/ 20901 h 3497531"/>
                <a:gd name="connsiteX11" fmla="*/ 1356818 w 4116165"/>
                <a:gd name="connsiteY11" fmla="*/ 638398 h 3497531"/>
                <a:gd name="connsiteX12" fmla="*/ 1356818 w 4116165"/>
                <a:gd name="connsiteY12" fmla="*/ 739322 h 3497531"/>
                <a:gd name="connsiteX13" fmla="*/ 739322 w 4116165"/>
                <a:gd name="connsiteY13" fmla="*/ 1356819 h 3497531"/>
                <a:gd name="connsiteX14" fmla="*/ 638398 w 4116165"/>
                <a:gd name="connsiteY14" fmla="*/ 1356819 h 3497531"/>
                <a:gd name="connsiteX15" fmla="*/ 20901 w 4116165"/>
                <a:gd name="connsiteY15" fmla="*/ 739322 h 3497531"/>
                <a:gd name="connsiteX16" fmla="*/ 20901 w 4116165"/>
                <a:gd name="connsiteY16" fmla="*/ 638398 h 3497531"/>
                <a:gd name="connsiteX17" fmla="*/ 638398 w 4116165"/>
                <a:gd name="connsiteY17" fmla="*/ 20901 h 3497531"/>
                <a:gd name="connsiteX18" fmla="*/ 688860 w 4116165"/>
                <a:gd name="connsiteY18" fmla="*/ 0 h 3497531"/>
                <a:gd name="connsiteX0-1" fmla="*/ 1433441 w 4116165"/>
                <a:gd name="connsiteY0-2" fmla="*/ 1003242 h 3497531"/>
                <a:gd name="connsiteX1-3" fmla="*/ 3927730 w 4116165"/>
                <a:gd name="connsiteY1-4" fmla="*/ 814807 h 3497531"/>
                <a:gd name="connsiteX2-5" fmla="*/ 4116165 w 4116165"/>
                <a:gd name="connsiteY2-6" fmla="*/ 1003242 h 3497531"/>
                <a:gd name="connsiteX3-7" fmla="*/ 4116165 w 4116165"/>
                <a:gd name="connsiteY3-8" fmla="*/ 3309096 h 3497531"/>
                <a:gd name="connsiteX4-9" fmla="*/ 3927730 w 4116165"/>
                <a:gd name="connsiteY4-10" fmla="*/ 3497531 h 3497531"/>
                <a:gd name="connsiteX5-11" fmla="*/ 1621876 w 4116165"/>
                <a:gd name="connsiteY5-12" fmla="*/ 3497531 h 3497531"/>
                <a:gd name="connsiteX6-13" fmla="*/ 1433441 w 4116165"/>
                <a:gd name="connsiteY6-14" fmla="*/ 3309096 h 3497531"/>
                <a:gd name="connsiteX7-15" fmla="*/ 1433441 w 4116165"/>
                <a:gd name="connsiteY7-16" fmla="*/ 1003242 h 3497531"/>
                <a:gd name="connsiteX8-17" fmla="*/ 688860 w 4116165"/>
                <a:gd name="connsiteY8-18" fmla="*/ 0 h 3497531"/>
                <a:gd name="connsiteX9-19" fmla="*/ 739322 w 4116165"/>
                <a:gd name="connsiteY9-20" fmla="*/ 20901 h 3497531"/>
                <a:gd name="connsiteX10-21" fmla="*/ 1356818 w 4116165"/>
                <a:gd name="connsiteY10-22" fmla="*/ 638398 h 3497531"/>
                <a:gd name="connsiteX11-23" fmla="*/ 1356818 w 4116165"/>
                <a:gd name="connsiteY11-24" fmla="*/ 739322 h 3497531"/>
                <a:gd name="connsiteX12-25" fmla="*/ 739322 w 4116165"/>
                <a:gd name="connsiteY12-26" fmla="*/ 1356819 h 3497531"/>
                <a:gd name="connsiteX13-27" fmla="*/ 638398 w 4116165"/>
                <a:gd name="connsiteY13-28" fmla="*/ 1356819 h 3497531"/>
                <a:gd name="connsiteX14-29" fmla="*/ 20901 w 4116165"/>
                <a:gd name="connsiteY14-30" fmla="*/ 739322 h 3497531"/>
                <a:gd name="connsiteX15-31" fmla="*/ 20901 w 4116165"/>
                <a:gd name="connsiteY15-32" fmla="*/ 638398 h 3497531"/>
                <a:gd name="connsiteX16-33" fmla="*/ 638398 w 4116165"/>
                <a:gd name="connsiteY16-34" fmla="*/ 20901 h 3497531"/>
                <a:gd name="connsiteX17-35" fmla="*/ 688860 w 4116165"/>
                <a:gd name="connsiteY17-36" fmla="*/ 0 h 3497531"/>
                <a:gd name="connsiteX0-37" fmla="*/ 1433441 w 4116165"/>
                <a:gd name="connsiteY0-38" fmla="*/ 3309096 h 3497531"/>
                <a:gd name="connsiteX1-39" fmla="*/ 3927730 w 4116165"/>
                <a:gd name="connsiteY1-40" fmla="*/ 814807 h 3497531"/>
                <a:gd name="connsiteX2-41" fmla="*/ 4116165 w 4116165"/>
                <a:gd name="connsiteY2-42" fmla="*/ 1003242 h 3497531"/>
                <a:gd name="connsiteX3-43" fmla="*/ 4116165 w 4116165"/>
                <a:gd name="connsiteY3-44" fmla="*/ 3309096 h 3497531"/>
                <a:gd name="connsiteX4-45" fmla="*/ 3927730 w 4116165"/>
                <a:gd name="connsiteY4-46" fmla="*/ 3497531 h 3497531"/>
                <a:gd name="connsiteX5-47" fmla="*/ 1621876 w 4116165"/>
                <a:gd name="connsiteY5-48" fmla="*/ 3497531 h 3497531"/>
                <a:gd name="connsiteX6-49" fmla="*/ 1433441 w 4116165"/>
                <a:gd name="connsiteY6-50" fmla="*/ 3309096 h 3497531"/>
                <a:gd name="connsiteX7-51" fmla="*/ 688860 w 4116165"/>
                <a:gd name="connsiteY7-52" fmla="*/ 0 h 3497531"/>
                <a:gd name="connsiteX8-53" fmla="*/ 739322 w 4116165"/>
                <a:gd name="connsiteY8-54" fmla="*/ 20901 h 3497531"/>
                <a:gd name="connsiteX9-55" fmla="*/ 1356818 w 4116165"/>
                <a:gd name="connsiteY9-56" fmla="*/ 638398 h 3497531"/>
                <a:gd name="connsiteX10-57" fmla="*/ 1356818 w 4116165"/>
                <a:gd name="connsiteY10-58" fmla="*/ 739322 h 3497531"/>
                <a:gd name="connsiteX11-59" fmla="*/ 739322 w 4116165"/>
                <a:gd name="connsiteY11-60" fmla="*/ 1356819 h 3497531"/>
                <a:gd name="connsiteX12-61" fmla="*/ 638398 w 4116165"/>
                <a:gd name="connsiteY12-62" fmla="*/ 1356819 h 3497531"/>
                <a:gd name="connsiteX13-63" fmla="*/ 20901 w 4116165"/>
                <a:gd name="connsiteY13-64" fmla="*/ 739322 h 3497531"/>
                <a:gd name="connsiteX14-65" fmla="*/ 20901 w 4116165"/>
                <a:gd name="connsiteY14-66" fmla="*/ 638398 h 3497531"/>
                <a:gd name="connsiteX15-67" fmla="*/ 638398 w 4116165"/>
                <a:gd name="connsiteY15-68" fmla="*/ 20901 h 3497531"/>
                <a:gd name="connsiteX16-69" fmla="*/ 688860 w 4116165"/>
                <a:gd name="connsiteY16-70" fmla="*/ 0 h 3497531"/>
                <a:gd name="connsiteX0-71" fmla="*/ 1433441 w 4116165"/>
                <a:gd name="connsiteY0-72" fmla="*/ 3309096 h 3497531"/>
                <a:gd name="connsiteX1-73" fmla="*/ 4116165 w 4116165"/>
                <a:gd name="connsiteY1-74" fmla="*/ 1003242 h 3497531"/>
                <a:gd name="connsiteX2-75" fmla="*/ 4116165 w 4116165"/>
                <a:gd name="connsiteY2-76" fmla="*/ 3309096 h 3497531"/>
                <a:gd name="connsiteX3-77" fmla="*/ 3927730 w 4116165"/>
                <a:gd name="connsiteY3-78" fmla="*/ 3497531 h 3497531"/>
                <a:gd name="connsiteX4-79" fmla="*/ 1621876 w 4116165"/>
                <a:gd name="connsiteY4-80" fmla="*/ 3497531 h 3497531"/>
                <a:gd name="connsiteX5-81" fmla="*/ 1433441 w 4116165"/>
                <a:gd name="connsiteY5-82" fmla="*/ 3309096 h 3497531"/>
                <a:gd name="connsiteX6-83" fmla="*/ 688860 w 4116165"/>
                <a:gd name="connsiteY6-84" fmla="*/ 0 h 3497531"/>
                <a:gd name="connsiteX7-85" fmla="*/ 739322 w 4116165"/>
                <a:gd name="connsiteY7-86" fmla="*/ 20901 h 3497531"/>
                <a:gd name="connsiteX8-87" fmla="*/ 1356818 w 4116165"/>
                <a:gd name="connsiteY8-88" fmla="*/ 638398 h 3497531"/>
                <a:gd name="connsiteX9-89" fmla="*/ 1356818 w 4116165"/>
                <a:gd name="connsiteY9-90" fmla="*/ 739322 h 3497531"/>
                <a:gd name="connsiteX10-91" fmla="*/ 739322 w 4116165"/>
                <a:gd name="connsiteY10-92" fmla="*/ 1356819 h 3497531"/>
                <a:gd name="connsiteX11-93" fmla="*/ 638398 w 4116165"/>
                <a:gd name="connsiteY11-94" fmla="*/ 1356819 h 3497531"/>
                <a:gd name="connsiteX12-95" fmla="*/ 20901 w 4116165"/>
                <a:gd name="connsiteY12-96" fmla="*/ 739322 h 3497531"/>
                <a:gd name="connsiteX13-97" fmla="*/ 20901 w 4116165"/>
                <a:gd name="connsiteY13-98" fmla="*/ 638398 h 3497531"/>
                <a:gd name="connsiteX14-99" fmla="*/ 638398 w 4116165"/>
                <a:gd name="connsiteY14-100" fmla="*/ 20901 h 3497531"/>
                <a:gd name="connsiteX15-101" fmla="*/ 688860 w 4116165"/>
                <a:gd name="connsiteY15-102" fmla="*/ 0 h 3497531"/>
                <a:gd name="connsiteX0-103" fmla="*/ 1433441 w 4116165"/>
                <a:gd name="connsiteY0-104" fmla="*/ 3309096 h 3497531"/>
                <a:gd name="connsiteX1-105" fmla="*/ 4116165 w 4116165"/>
                <a:gd name="connsiteY1-106" fmla="*/ 3309096 h 3497531"/>
                <a:gd name="connsiteX2-107" fmla="*/ 3927730 w 4116165"/>
                <a:gd name="connsiteY2-108" fmla="*/ 3497531 h 3497531"/>
                <a:gd name="connsiteX3-109" fmla="*/ 1621876 w 4116165"/>
                <a:gd name="connsiteY3-110" fmla="*/ 3497531 h 3497531"/>
                <a:gd name="connsiteX4-111" fmla="*/ 1433441 w 4116165"/>
                <a:gd name="connsiteY4-112" fmla="*/ 3309096 h 3497531"/>
                <a:gd name="connsiteX5-113" fmla="*/ 688860 w 4116165"/>
                <a:gd name="connsiteY5-114" fmla="*/ 0 h 3497531"/>
                <a:gd name="connsiteX6-115" fmla="*/ 739322 w 4116165"/>
                <a:gd name="connsiteY6-116" fmla="*/ 20901 h 3497531"/>
                <a:gd name="connsiteX7-117" fmla="*/ 1356818 w 4116165"/>
                <a:gd name="connsiteY7-118" fmla="*/ 638398 h 3497531"/>
                <a:gd name="connsiteX8-119" fmla="*/ 1356818 w 4116165"/>
                <a:gd name="connsiteY8-120" fmla="*/ 739322 h 3497531"/>
                <a:gd name="connsiteX9-121" fmla="*/ 739322 w 4116165"/>
                <a:gd name="connsiteY9-122" fmla="*/ 1356819 h 3497531"/>
                <a:gd name="connsiteX10-123" fmla="*/ 638398 w 4116165"/>
                <a:gd name="connsiteY10-124" fmla="*/ 1356819 h 3497531"/>
                <a:gd name="connsiteX11-125" fmla="*/ 20901 w 4116165"/>
                <a:gd name="connsiteY11-126" fmla="*/ 739322 h 3497531"/>
                <a:gd name="connsiteX12-127" fmla="*/ 20901 w 4116165"/>
                <a:gd name="connsiteY12-128" fmla="*/ 638398 h 3497531"/>
                <a:gd name="connsiteX13-129" fmla="*/ 638398 w 4116165"/>
                <a:gd name="connsiteY13-130" fmla="*/ 20901 h 3497531"/>
                <a:gd name="connsiteX14-131" fmla="*/ 688860 w 4116165"/>
                <a:gd name="connsiteY14-132" fmla="*/ 0 h 3497531"/>
                <a:gd name="connsiteX0-133" fmla="*/ 1433441 w 3927730"/>
                <a:gd name="connsiteY0-134" fmla="*/ 3309096 h 3497531"/>
                <a:gd name="connsiteX1-135" fmla="*/ 3927730 w 3927730"/>
                <a:gd name="connsiteY1-136" fmla="*/ 3497531 h 3497531"/>
                <a:gd name="connsiteX2-137" fmla="*/ 1621876 w 3927730"/>
                <a:gd name="connsiteY2-138" fmla="*/ 3497531 h 3497531"/>
                <a:gd name="connsiteX3-139" fmla="*/ 1433441 w 3927730"/>
                <a:gd name="connsiteY3-140" fmla="*/ 3309096 h 3497531"/>
                <a:gd name="connsiteX4-141" fmla="*/ 688860 w 3927730"/>
                <a:gd name="connsiteY4-142" fmla="*/ 0 h 3497531"/>
                <a:gd name="connsiteX5-143" fmla="*/ 739322 w 3927730"/>
                <a:gd name="connsiteY5-144" fmla="*/ 20901 h 3497531"/>
                <a:gd name="connsiteX6-145" fmla="*/ 1356818 w 3927730"/>
                <a:gd name="connsiteY6-146" fmla="*/ 638398 h 3497531"/>
                <a:gd name="connsiteX7-147" fmla="*/ 1356818 w 3927730"/>
                <a:gd name="connsiteY7-148" fmla="*/ 739322 h 3497531"/>
                <a:gd name="connsiteX8-149" fmla="*/ 739322 w 3927730"/>
                <a:gd name="connsiteY8-150" fmla="*/ 1356819 h 3497531"/>
                <a:gd name="connsiteX9-151" fmla="*/ 638398 w 3927730"/>
                <a:gd name="connsiteY9-152" fmla="*/ 1356819 h 3497531"/>
                <a:gd name="connsiteX10-153" fmla="*/ 20901 w 3927730"/>
                <a:gd name="connsiteY10-154" fmla="*/ 739322 h 3497531"/>
                <a:gd name="connsiteX11-155" fmla="*/ 20901 w 3927730"/>
                <a:gd name="connsiteY11-156" fmla="*/ 638398 h 3497531"/>
                <a:gd name="connsiteX12-157" fmla="*/ 638398 w 3927730"/>
                <a:gd name="connsiteY12-158" fmla="*/ 20901 h 3497531"/>
                <a:gd name="connsiteX13-159" fmla="*/ 688860 w 3927730"/>
                <a:gd name="connsiteY13-160" fmla="*/ 0 h 3497531"/>
                <a:gd name="connsiteX0-161" fmla="*/ 1433441 w 1621876"/>
                <a:gd name="connsiteY0-162" fmla="*/ 3309096 h 3497531"/>
                <a:gd name="connsiteX1-163" fmla="*/ 1621876 w 1621876"/>
                <a:gd name="connsiteY1-164" fmla="*/ 3497531 h 3497531"/>
                <a:gd name="connsiteX2-165" fmla="*/ 1433441 w 1621876"/>
                <a:gd name="connsiteY2-166" fmla="*/ 3309096 h 3497531"/>
                <a:gd name="connsiteX3-167" fmla="*/ 688860 w 1621876"/>
                <a:gd name="connsiteY3-168" fmla="*/ 0 h 3497531"/>
                <a:gd name="connsiteX4-169" fmla="*/ 739322 w 1621876"/>
                <a:gd name="connsiteY4-170" fmla="*/ 20901 h 3497531"/>
                <a:gd name="connsiteX5-171" fmla="*/ 1356818 w 1621876"/>
                <a:gd name="connsiteY5-172" fmla="*/ 638398 h 3497531"/>
                <a:gd name="connsiteX6-173" fmla="*/ 1356818 w 1621876"/>
                <a:gd name="connsiteY6-174" fmla="*/ 739322 h 3497531"/>
                <a:gd name="connsiteX7-175" fmla="*/ 739322 w 1621876"/>
                <a:gd name="connsiteY7-176" fmla="*/ 1356819 h 3497531"/>
                <a:gd name="connsiteX8-177" fmla="*/ 638398 w 1621876"/>
                <a:gd name="connsiteY8-178" fmla="*/ 1356819 h 3497531"/>
                <a:gd name="connsiteX9-179" fmla="*/ 20901 w 1621876"/>
                <a:gd name="connsiteY9-180" fmla="*/ 739322 h 3497531"/>
                <a:gd name="connsiteX10-181" fmla="*/ 20901 w 1621876"/>
                <a:gd name="connsiteY10-182" fmla="*/ 638398 h 3497531"/>
                <a:gd name="connsiteX11-183" fmla="*/ 638398 w 1621876"/>
                <a:gd name="connsiteY11-184" fmla="*/ 20901 h 3497531"/>
                <a:gd name="connsiteX12-185" fmla="*/ 688860 w 1621876"/>
                <a:gd name="connsiteY12-186" fmla="*/ 0 h 3497531"/>
                <a:gd name="connsiteX0-187" fmla="*/ 688860 w 1377719"/>
                <a:gd name="connsiteY0-188" fmla="*/ 0 h 1377720"/>
                <a:gd name="connsiteX1-189" fmla="*/ 739322 w 1377719"/>
                <a:gd name="connsiteY1-190" fmla="*/ 20901 h 1377720"/>
                <a:gd name="connsiteX2-191" fmla="*/ 1356818 w 1377719"/>
                <a:gd name="connsiteY2-192" fmla="*/ 638398 h 1377720"/>
                <a:gd name="connsiteX3-193" fmla="*/ 1356818 w 1377719"/>
                <a:gd name="connsiteY3-194" fmla="*/ 739322 h 1377720"/>
                <a:gd name="connsiteX4-195" fmla="*/ 739322 w 1377719"/>
                <a:gd name="connsiteY4-196" fmla="*/ 1356819 h 1377720"/>
                <a:gd name="connsiteX5-197" fmla="*/ 638398 w 1377719"/>
                <a:gd name="connsiteY5-198" fmla="*/ 1356819 h 1377720"/>
                <a:gd name="connsiteX6-199" fmla="*/ 20901 w 1377719"/>
                <a:gd name="connsiteY6-200" fmla="*/ 739322 h 1377720"/>
                <a:gd name="connsiteX7-201" fmla="*/ 20901 w 1377719"/>
                <a:gd name="connsiteY7-202" fmla="*/ 638398 h 1377720"/>
                <a:gd name="connsiteX8-203" fmla="*/ 638398 w 1377719"/>
                <a:gd name="connsiteY8-204" fmla="*/ 20901 h 1377720"/>
                <a:gd name="connsiteX9-205" fmla="*/ 688860 w 1377719"/>
                <a:gd name="connsiteY9-206" fmla="*/ 0 h 1377720"/>
              </a:gdLst>
              <a:ahLst/>
              <a:cxnLst>
                <a:cxn ang="0">
                  <a:pos x="connsiteX0-1" y="connsiteY0-2"/>
                </a:cxn>
                <a:cxn ang="0">
                  <a:pos x="connsiteX1-3" y="connsiteY1-4"/>
                </a:cxn>
                <a:cxn ang="0">
                  <a:pos x="connsiteX2-5" y="connsiteY2-6"/>
                </a:cxn>
                <a:cxn ang="0">
                  <a:pos x="connsiteX3-7" y="connsiteY3-8"/>
                </a:cxn>
                <a:cxn ang="0">
                  <a:pos x="connsiteX4-9" y="connsiteY4-10"/>
                </a:cxn>
                <a:cxn ang="0">
                  <a:pos x="connsiteX5-11" y="connsiteY5-12"/>
                </a:cxn>
                <a:cxn ang="0">
                  <a:pos x="connsiteX6-13" y="connsiteY6-14"/>
                </a:cxn>
                <a:cxn ang="0">
                  <a:pos x="connsiteX7-15" y="connsiteY7-16"/>
                </a:cxn>
                <a:cxn ang="0">
                  <a:pos x="connsiteX8-17" y="connsiteY8-18"/>
                </a:cxn>
                <a:cxn ang="0">
                  <a:pos x="connsiteX9-19" y="connsiteY9-20"/>
                </a:cxn>
              </a:cxnLst>
              <a:rect l="l" t="t" r="r" b="b"/>
              <a:pathLst>
                <a:path w="1377719" h="1377720">
                  <a:moveTo>
                    <a:pt x="688860" y="0"/>
                  </a:moveTo>
                  <a:cubicBezTo>
                    <a:pt x="707124" y="0"/>
                    <a:pt x="725387" y="6967"/>
                    <a:pt x="739322" y="20901"/>
                  </a:cubicBezTo>
                  <a:lnTo>
                    <a:pt x="1356818" y="638398"/>
                  </a:lnTo>
                  <a:cubicBezTo>
                    <a:pt x="1384687" y="666267"/>
                    <a:pt x="1384687" y="711453"/>
                    <a:pt x="1356818" y="739322"/>
                  </a:cubicBezTo>
                  <a:lnTo>
                    <a:pt x="739322" y="1356819"/>
                  </a:lnTo>
                  <a:cubicBezTo>
                    <a:pt x="711453" y="1384688"/>
                    <a:pt x="666267" y="1384688"/>
                    <a:pt x="638398" y="1356819"/>
                  </a:cubicBezTo>
                  <a:lnTo>
                    <a:pt x="20901" y="739322"/>
                  </a:lnTo>
                  <a:cubicBezTo>
                    <a:pt x="-6968" y="711453"/>
                    <a:pt x="-6968" y="666267"/>
                    <a:pt x="20901" y="638398"/>
                  </a:cubicBezTo>
                  <a:lnTo>
                    <a:pt x="638398" y="20901"/>
                  </a:lnTo>
                  <a:cubicBezTo>
                    <a:pt x="652332" y="6967"/>
                    <a:pt x="670596" y="0"/>
                    <a:pt x="688860" y="0"/>
                  </a:cubicBezTo>
                  <a:close/>
                </a:path>
              </a:pathLst>
            </a:custGeom>
            <a:solidFill>
              <a:srgbClr val="404F64"/>
            </a:solidFill>
            <a:ln>
              <a:noFill/>
            </a:ln>
            <a:effectLst>
              <a:outerShdw blurRad="228600" dist="127000" dir="2700000" sx="95000" sy="95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r>
                <a:rPr lang="en-US" sz="2800" b="1" dirty="0">
                  <a:latin typeface="苹方-简" panose="020B0400000000000000" charset="-122"/>
                  <a:ea typeface="苹方-简" panose="020B0400000000000000" charset="-122"/>
                  <a:cs typeface="+mn-ea"/>
                  <a:sym typeface="+mn-lt"/>
                </a:rPr>
                <a:t>02</a:t>
              </a:r>
              <a:endParaRPr lang="en-US" sz="2800" b="1" dirty="0">
                <a:latin typeface="苹方-简" panose="020B0400000000000000" charset="-122"/>
                <a:ea typeface="苹方-简" panose="020B0400000000000000" charset="-122"/>
                <a:cs typeface="+mn-ea"/>
                <a:sym typeface="+mn-lt"/>
              </a:endParaRPr>
            </a:p>
          </p:txBody>
        </p:sp>
        <p:sp>
          <p:nvSpPr>
            <p:cNvPr id="13" name="矩形 12"/>
            <p:cNvSpPr/>
            <p:nvPr>
              <p:custDataLst>
                <p:tags r:id="rId9"/>
              </p:custDataLst>
            </p:nvPr>
          </p:nvSpPr>
          <p:spPr>
            <a:xfrm>
              <a:off x="11972" y="4105"/>
              <a:ext cx="3994" cy="727"/>
            </a:xfrm>
            <a:prstGeom prst="rect">
              <a:avLst/>
            </a:prstGeom>
          </p:spPr>
          <p:txBody>
            <a:bodyPr wrap="square" lIns="0" tIns="0" rIns="0" bIns="0" anchor="ctr">
              <a:spAutoFit/>
            </a:bodyPr>
            <a:lstStyle/>
            <a:p>
              <a:pPr algn="l"/>
              <a:r>
                <a:rPr lang="zh-CN" altLang="en-US" sz="3000" spc="1500" dirty="0">
                  <a:solidFill>
                    <a:schemeClr val="tx1">
                      <a:lumMod val="85000"/>
                      <a:lumOff val="15000"/>
                    </a:schemeClr>
                  </a:solidFill>
                  <a:uFillTx/>
                  <a:latin typeface="苹方-简" panose="020B0400000000000000" charset="-122"/>
                  <a:ea typeface="苹方-简" panose="020B0400000000000000" charset="-122"/>
                  <a:cs typeface="+mn-ea"/>
                  <a:sym typeface="+mn-lt"/>
                </a:rPr>
                <a:t>系统</a:t>
              </a:r>
              <a:r>
                <a:rPr lang="zh-CN" altLang="en-US" sz="3000" spc="1500" dirty="0">
                  <a:solidFill>
                    <a:schemeClr val="tx1">
                      <a:lumMod val="85000"/>
                      <a:lumOff val="15000"/>
                    </a:schemeClr>
                  </a:solidFill>
                  <a:uFillTx/>
                  <a:latin typeface="苹方-简" panose="020B0400000000000000" charset="-122"/>
                  <a:ea typeface="苹方-简" panose="020B0400000000000000" charset="-122"/>
                  <a:cs typeface="+mn-ea"/>
                  <a:sym typeface="+mn-lt"/>
                </a:rPr>
                <a:t>介绍</a:t>
              </a:r>
              <a:endParaRPr lang="zh-CN" altLang="en-US" sz="3000" spc="1500" dirty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苹方-简" panose="020B0400000000000000" charset="-122"/>
                <a:ea typeface="苹方-简" panose="020B0400000000000000" charset="-122"/>
                <a:cs typeface="+mn-ea"/>
                <a:sym typeface="+mn-lt"/>
              </a:endParaRPr>
            </a:p>
          </p:txBody>
        </p:sp>
        <p:cxnSp>
          <p:nvCxnSpPr>
            <p:cNvPr id="19" name="直接连接符 18"/>
            <p:cNvCxnSpPr/>
            <p:nvPr>
              <p:custDataLst>
                <p:tags r:id="rId10"/>
              </p:custDataLst>
            </p:nvPr>
          </p:nvCxnSpPr>
          <p:spPr>
            <a:xfrm>
              <a:off x="11426" y="4905"/>
              <a:ext cx="4540" cy="0"/>
            </a:xfrm>
            <a:prstGeom prst="line">
              <a:avLst/>
            </a:prstGeom>
            <a:ln>
              <a:solidFill>
                <a:srgbClr val="404F6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" name="组合 6"/>
          <p:cNvGrpSpPr/>
          <p:nvPr>
            <p:custDataLst>
              <p:tags r:id="rId11"/>
            </p:custDataLst>
          </p:nvPr>
        </p:nvGrpSpPr>
        <p:grpSpPr>
          <a:xfrm>
            <a:off x="6383020" y="3716020"/>
            <a:ext cx="3907790" cy="796290"/>
            <a:chOff x="9812" y="5317"/>
            <a:chExt cx="6154" cy="1254"/>
          </a:xfrm>
        </p:grpSpPr>
        <p:sp>
          <p:nvSpPr>
            <p:cNvPr id="5" name="Freeform 6"/>
            <p:cNvSpPr/>
            <p:nvPr>
              <p:custDataLst>
                <p:tags r:id="rId12"/>
              </p:custDataLst>
            </p:nvPr>
          </p:nvSpPr>
          <p:spPr>
            <a:xfrm>
              <a:off x="9812" y="5317"/>
              <a:ext cx="1254" cy="1254"/>
            </a:xfrm>
            <a:custGeom>
              <a:avLst/>
              <a:gdLst>
                <a:gd name="connsiteX0" fmla="*/ 1621876 w 4116165"/>
                <a:gd name="connsiteY0" fmla="*/ 814807 h 3497531"/>
                <a:gd name="connsiteX1" fmla="*/ 3927730 w 4116165"/>
                <a:gd name="connsiteY1" fmla="*/ 814807 h 3497531"/>
                <a:gd name="connsiteX2" fmla="*/ 4116165 w 4116165"/>
                <a:gd name="connsiteY2" fmla="*/ 1003242 h 3497531"/>
                <a:gd name="connsiteX3" fmla="*/ 4116165 w 4116165"/>
                <a:gd name="connsiteY3" fmla="*/ 3309096 h 3497531"/>
                <a:gd name="connsiteX4" fmla="*/ 3927730 w 4116165"/>
                <a:gd name="connsiteY4" fmla="*/ 3497531 h 3497531"/>
                <a:gd name="connsiteX5" fmla="*/ 1621876 w 4116165"/>
                <a:gd name="connsiteY5" fmla="*/ 3497531 h 3497531"/>
                <a:gd name="connsiteX6" fmla="*/ 1433441 w 4116165"/>
                <a:gd name="connsiteY6" fmla="*/ 3309096 h 3497531"/>
                <a:gd name="connsiteX7" fmla="*/ 1433441 w 4116165"/>
                <a:gd name="connsiteY7" fmla="*/ 1003242 h 3497531"/>
                <a:gd name="connsiteX8" fmla="*/ 1621876 w 4116165"/>
                <a:gd name="connsiteY8" fmla="*/ 814807 h 3497531"/>
                <a:gd name="connsiteX9" fmla="*/ 688860 w 4116165"/>
                <a:gd name="connsiteY9" fmla="*/ 0 h 3497531"/>
                <a:gd name="connsiteX10" fmla="*/ 739322 w 4116165"/>
                <a:gd name="connsiteY10" fmla="*/ 20901 h 3497531"/>
                <a:gd name="connsiteX11" fmla="*/ 1356818 w 4116165"/>
                <a:gd name="connsiteY11" fmla="*/ 638398 h 3497531"/>
                <a:gd name="connsiteX12" fmla="*/ 1356818 w 4116165"/>
                <a:gd name="connsiteY12" fmla="*/ 739322 h 3497531"/>
                <a:gd name="connsiteX13" fmla="*/ 739322 w 4116165"/>
                <a:gd name="connsiteY13" fmla="*/ 1356819 h 3497531"/>
                <a:gd name="connsiteX14" fmla="*/ 638398 w 4116165"/>
                <a:gd name="connsiteY14" fmla="*/ 1356819 h 3497531"/>
                <a:gd name="connsiteX15" fmla="*/ 20901 w 4116165"/>
                <a:gd name="connsiteY15" fmla="*/ 739322 h 3497531"/>
                <a:gd name="connsiteX16" fmla="*/ 20901 w 4116165"/>
                <a:gd name="connsiteY16" fmla="*/ 638398 h 3497531"/>
                <a:gd name="connsiteX17" fmla="*/ 638398 w 4116165"/>
                <a:gd name="connsiteY17" fmla="*/ 20901 h 3497531"/>
                <a:gd name="connsiteX18" fmla="*/ 688860 w 4116165"/>
                <a:gd name="connsiteY18" fmla="*/ 0 h 3497531"/>
                <a:gd name="connsiteX0-1" fmla="*/ 1433441 w 4116165"/>
                <a:gd name="connsiteY0-2" fmla="*/ 1003242 h 3497531"/>
                <a:gd name="connsiteX1-3" fmla="*/ 3927730 w 4116165"/>
                <a:gd name="connsiteY1-4" fmla="*/ 814807 h 3497531"/>
                <a:gd name="connsiteX2-5" fmla="*/ 4116165 w 4116165"/>
                <a:gd name="connsiteY2-6" fmla="*/ 1003242 h 3497531"/>
                <a:gd name="connsiteX3-7" fmla="*/ 4116165 w 4116165"/>
                <a:gd name="connsiteY3-8" fmla="*/ 3309096 h 3497531"/>
                <a:gd name="connsiteX4-9" fmla="*/ 3927730 w 4116165"/>
                <a:gd name="connsiteY4-10" fmla="*/ 3497531 h 3497531"/>
                <a:gd name="connsiteX5-11" fmla="*/ 1621876 w 4116165"/>
                <a:gd name="connsiteY5-12" fmla="*/ 3497531 h 3497531"/>
                <a:gd name="connsiteX6-13" fmla="*/ 1433441 w 4116165"/>
                <a:gd name="connsiteY6-14" fmla="*/ 3309096 h 3497531"/>
                <a:gd name="connsiteX7-15" fmla="*/ 1433441 w 4116165"/>
                <a:gd name="connsiteY7-16" fmla="*/ 1003242 h 3497531"/>
                <a:gd name="connsiteX8-17" fmla="*/ 688860 w 4116165"/>
                <a:gd name="connsiteY8-18" fmla="*/ 0 h 3497531"/>
                <a:gd name="connsiteX9-19" fmla="*/ 739322 w 4116165"/>
                <a:gd name="connsiteY9-20" fmla="*/ 20901 h 3497531"/>
                <a:gd name="connsiteX10-21" fmla="*/ 1356818 w 4116165"/>
                <a:gd name="connsiteY10-22" fmla="*/ 638398 h 3497531"/>
                <a:gd name="connsiteX11-23" fmla="*/ 1356818 w 4116165"/>
                <a:gd name="connsiteY11-24" fmla="*/ 739322 h 3497531"/>
                <a:gd name="connsiteX12-25" fmla="*/ 739322 w 4116165"/>
                <a:gd name="connsiteY12-26" fmla="*/ 1356819 h 3497531"/>
                <a:gd name="connsiteX13-27" fmla="*/ 638398 w 4116165"/>
                <a:gd name="connsiteY13-28" fmla="*/ 1356819 h 3497531"/>
                <a:gd name="connsiteX14-29" fmla="*/ 20901 w 4116165"/>
                <a:gd name="connsiteY14-30" fmla="*/ 739322 h 3497531"/>
                <a:gd name="connsiteX15-31" fmla="*/ 20901 w 4116165"/>
                <a:gd name="connsiteY15-32" fmla="*/ 638398 h 3497531"/>
                <a:gd name="connsiteX16-33" fmla="*/ 638398 w 4116165"/>
                <a:gd name="connsiteY16-34" fmla="*/ 20901 h 3497531"/>
                <a:gd name="connsiteX17-35" fmla="*/ 688860 w 4116165"/>
                <a:gd name="connsiteY17-36" fmla="*/ 0 h 3497531"/>
                <a:gd name="connsiteX0-37" fmla="*/ 1433441 w 4116165"/>
                <a:gd name="connsiteY0-38" fmla="*/ 3309096 h 3497531"/>
                <a:gd name="connsiteX1-39" fmla="*/ 3927730 w 4116165"/>
                <a:gd name="connsiteY1-40" fmla="*/ 814807 h 3497531"/>
                <a:gd name="connsiteX2-41" fmla="*/ 4116165 w 4116165"/>
                <a:gd name="connsiteY2-42" fmla="*/ 1003242 h 3497531"/>
                <a:gd name="connsiteX3-43" fmla="*/ 4116165 w 4116165"/>
                <a:gd name="connsiteY3-44" fmla="*/ 3309096 h 3497531"/>
                <a:gd name="connsiteX4-45" fmla="*/ 3927730 w 4116165"/>
                <a:gd name="connsiteY4-46" fmla="*/ 3497531 h 3497531"/>
                <a:gd name="connsiteX5-47" fmla="*/ 1621876 w 4116165"/>
                <a:gd name="connsiteY5-48" fmla="*/ 3497531 h 3497531"/>
                <a:gd name="connsiteX6-49" fmla="*/ 1433441 w 4116165"/>
                <a:gd name="connsiteY6-50" fmla="*/ 3309096 h 3497531"/>
                <a:gd name="connsiteX7-51" fmla="*/ 688860 w 4116165"/>
                <a:gd name="connsiteY7-52" fmla="*/ 0 h 3497531"/>
                <a:gd name="connsiteX8-53" fmla="*/ 739322 w 4116165"/>
                <a:gd name="connsiteY8-54" fmla="*/ 20901 h 3497531"/>
                <a:gd name="connsiteX9-55" fmla="*/ 1356818 w 4116165"/>
                <a:gd name="connsiteY9-56" fmla="*/ 638398 h 3497531"/>
                <a:gd name="connsiteX10-57" fmla="*/ 1356818 w 4116165"/>
                <a:gd name="connsiteY10-58" fmla="*/ 739322 h 3497531"/>
                <a:gd name="connsiteX11-59" fmla="*/ 739322 w 4116165"/>
                <a:gd name="connsiteY11-60" fmla="*/ 1356819 h 3497531"/>
                <a:gd name="connsiteX12-61" fmla="*/ 638398 w 4116165"/>
                <a:gd name="connsiteY12-62" fmla="*/ 1356819 h 3497531"/>
                <a:gd name="connsiteX13-63" fmla="*/ 20901 w 4116165"/>
                <a:gd name="connsiteY13-64" fmla="*/ 739322 h 3497531"/>
                <a:gd name="connsiteX14-65" fmla="*/ 20901 w 4116165"/>
                <a:gd name="connsiteY14-66" fmla="*/ 638398 h 3497531"/>
                <a:gd name="connsiteX15-67" fmla="*/ 638398 w 4116165"/>
                <a:gd name="connsiteY15-68" fmla="*/ 20901 h 3497531"/>
                <a:gd name="connsiteX16-69" fmla="*/ 688860 w 4116165"/>
                <a:gd name="connsiteY16-70" fmla="*/ 0 h 3497531"/>
                <a:gd name="connsiteX0-71" fmla="*/ 1433441 w 4116165"/>
                <a:gd name="connsiteY0-72" fmla="*/ 3309096 h 3497531"/>
                <a:gd name="connsiteX1-73" fmla="*/ 4116165 w 4116165"/>
                <a:gd name="connsiteY1-74" fmla="*/ 1003242 h 3497531"/>
                <a:gd name="connsiteX2-75" fmla="*/ 4116165 w 4116165"/>
                <a:gd name="connsiteY2-76" fmla="*/ 3309096 h 3497531"/>
                <a:gd name="connsiteX3-77" fmla="*/ 3927730 w 4116165"/>
                <a:gd name="connsiteY3-78" fmla="*/ 3497531 h 3497531"/>
                <a:gd name="connsiteX4-79" fmla="*/ 1621876 w 4116165"/>
                <a:gd name="connsiteY4-80" fmla="*/ 3497531 h 3497531"/>
                <a:gd name="connsiteX5-81" fmla="*/ 1433441 w 4116165"/>
                <a:gd name="connsiteY5-82" fmla="*/ 3309096 h 3497531"/>
                <a:gd name="connsiteX6-83" fmla="*/ 688860 w 4116165"/>
                <a:gd name="connsiteY6-84" fmla="*/ 0 h 3497531"/>
                <a:gd name="connsiteX7-85" fmla="*/ 739322 w 4116165"/>
                <a:gd name="connsiteY7-86" fmla="*/ 20901 h 3497531"/>
                <a:gd name="connsiteX8-87" fmla="*/ 1356818 w 4116165"/>
                <a:gd name="connsiteY8-88" fmla="*/ 638398 h 3497531"/>
                <a:gd name="connsiteX9-89" fmla="*/ 1356818 w 4116165"/>
                <a:gd name="connsiteY9-90" fmla="*/ 739322 h 3497531"/>
                <a:gd name="connsiteX10-91" fmla="*/ 739322 w 4116165"/>
                <a:gd name="connsiteY10-92" fmla="*/ 1356819 h 3497531"/>
                <a:gd name="connsiteX11-93" fmla="*/ 638398 w 4116165"/>
                <a:gd name="connsiteY11-94" fmla="*/ 1356819 h 3497531"/>
                <a:gd name="connsiteX12-95" fmla="*/ 20901 w 4116165"/>
                <a:gd name="connsiteY12-96" fmla="*/ 739322 h 3497531"/>
                <a:gd name="connsiteX13-97" fmla="*/ 20901 w 4116165"/>
                <a:gd name="connsiteY13-98" fmla="*/ 638398 h 3497531"/>
                <a:gd name="connsiteX14-99" fmla="*/ 638398 w 4116165"/>
                <a:gd name="connsiteY14-100" fmla="*/ 20901 h 3497531"/>
                <a:gd name="connsiteX15-101" fmla="*/ 688860 w 4116165"/>
                <a:gd name="connsiteY15-102" fmla="*/ 0 h 3497531"/>
                <a:gd name="connsiteX0-103" fmla="*/ 1433441 w 4116165"/>
                <a:gd name="connsiteY0-104" fmla="*/ 3309096 h 3497531"/>
                <a:gd name="connsiteX1-105" fmla="*/ 4116165 w 4116165"/>
                <a:gd name="connsiteY1-106" fmla="*/ 3309096 h 3497531"/>
                <a:gd name="connsiteX2-107" fmla="*/ 3927730 w 4116165"/>
                <a:gd name="connsiteY2-108" fmla="*/ 3497531 h 3497531"/>
                <a:gd name="connsiteX3-109" fmla="*/ 1621876 w 4116165"/>
                <a:gd name="connsiteY3-110" fmla="*/ 3497531 h 3497531"/>
                <a:gd name="connsiteX4-111" fmla="*/ 1433441 w 4116165"/>
                <a:gd name="connsiteY4-112" fmla="*/ 3309096 h 3497531"/>
                <a:gd name="connsiteX5-113" fmla="*/ 688860 w 4116165"/>
                <a:gd name="connsiteY5-114" fmla="*/ 0 h 3497531"/>
                <a:gd name="connsiteX6-115" fmla="*/ 739322 w 4116165"/>
                <a:gd name="connsiteY6-116" fmla="*/ 20901 h 3497531"/>
                <a:gd name="connsiteX7-117" fmla="*/ 1356818 w 4116165"/>
                <a:gd name="connsiteY7-118" fmla="*/ 638398 h 3497531"/>
                <a:gd name="connsiteX8-119" fmla="*/ 1356818 w 4116165"/>
                <a:gd name="connsiteY8-120" fmla="*/ 739322 h 3497531"/>
                <a:gd name="connsiteX9-121" fmla="*/ 739322 w 4116165"/>
                <a:gd name="connsiteY9-122" fmla="*/ 1356819 h 3497531"/>
                <a:gd name="connsiteX10-123" fmla="*/ 638398 w 4116165"/>
                <a:gd name="connsiteY10-124" fmla="*/ 1356819 h 3497531"/>
                <a:gd name="connsiteX11-125" fmla="*/ 20901 w 4116165"/>
                <a:gd name="connsiteY11-126" fmla="*/ 739322 h 3497531"/>
                <a:gd name="connsiteX12-127" fmla="*/ 20901 w 4116165"/>
                <a:gd name="connsiteY12-128" fmla="*/ 638398 h 3497531"/>
                <a:gd name="connsiteX13-129" fmla="*/ 638398 w 4116165"/>
                <a:gd name="connsiteY13-130" fmla="*/ 20901 h 3497531"/>
                <a:gd name="connsiteX14-131" fmla="*/ 688860 w 4116165"/>
                <a:gd name="connsiteY14-132" fmla="*/ 0 h 3497531"/>
                <a:gd name="connsiteX0-133" fmla="*/ 1433441 w 3927730"/>
                <a:gd name="connsiteY0-134" fmla="*/ 3309096 h 3497531"/>
                <a:gd name="connsiteX1-135" fmla="*/ 3927730 w 3927730"/>
                <a:gd name="connsiteY1-136" fmla="*/ 3497531 h 3497531"/>
                <a:gd name="connsiteX2-137" fmla="*/ 1621876 w 3927730"/>
                <a:gd name="connsiteY2-138" fmla="*/ 3497531 h 3497531"/>
                <a:gd name="connsiteX3-139" fmla="*/ 1433441 w 3927730"/>
                <a:gd name="connsiteY3-140" fmla="*/ 3309096 h 3497531"/>
                <a:gd name="connsiteX4-141" fmla="*/ 688860 w 3927730"/>
                <a:gd name="connsiteY4-142" fmla="*/ 0 h 3497531"/>
                <a:gd name="connsiteX5-143" fmla="*/ 739322 w 3927730"/>
                <a:gd name="connsiteY5-144" fmla="*/ 20901 h 3497531"/>
                <a:gd name="connsiteX6-145" fmla="*/ 1356818 w 3927730"/>
                <a:gd name="connsiteY6-146" fmla="*/ 638398 h 3497531"/>
                <a:gd name="connsiteX7-147" fmla="*/ 1356818 w 3927730"/>
                <a:gd name="connsiteY7-148" fmla="*/ 739322 h 3497531"/>
                <a:gd name="connsiteX8-149" fmla="*/ 739322 w 3927730"/>
                <a:gd name="connsiteY8-150" fmla="*/ 1356819 h 3497531"/>
                <a:gd name="connsiteX9-151" fmla="*/ 638398 w 3927730"/>
                <a:gd name="connsiteY9-152" fmla="*/ 1356819 h 3497531"/>
                <a:gd name="connsiteX10-153" fmla="*/ 20901 w 3927730"/>
                <a:gd name="connsiteY10-154" fmla="*/ 739322 h 3497531"/>
                <a:gd name="connsiteX11-155" fmla="*/ 20901 w 3927730"/>
                <a:gd name="connsiteY11-156" fmla="*/ 638398 h 3497531"/>
                <a:gd name="connsiteX12-157" fmla="*/ 638398 w 3927730"/>
                <a:gd name="connsiteY12-158" fmla="*/ 20901 h 3497531"/>
                <a:gd name="connsiteX13-159" fmla="*/ 688860 w 3927730"/>
                <a:gd name="connsiteY13-160" fmla="*/ 0 h 3497531"/>
                <a:gd name="connsiteX0-161" fmla="*/ 1433441 w 1621876"/>
                <a:gd name="connsiteY0-162" fmla="*/ 3309096 h 3497531"/>
                <a:gd name="connsiteX1-163" fmla="*/ 1621876 w 1621876"/>
                <a:gd name="connsiteY1-164" fmla="*/ 3497531 h 3497531"/>
                <a:gd name="connsiteX2-165" fmla="*/ 1433441 w 1621876"/>
                <a:gd name="connsiteY2-166" fmla="*/ 3309096 h 3497531"/>
                <a:gd name="connsiteX3-167" fmla="*/ 688860 w 1621876"/>
                <a:gd name="connsiteY3-168" fmla="*/ 0 h 3497531"/>
                <a:gd name="connsiteX4-169" fmla="*/ 739322 w 1621876"/>
                <a:gd name="connsiteY4-170" fmla="*/ 20901 h 3497531"/>
                <a:gd name="connsiteX5-171" fmla="*/ 1356818 w 1621876"/>
                <a:gd name="connsiteY5-172" fmla="*/ 638398 h 3497531"/>
                <a:gd name="connsiteX6-173" fmla="*/ 1356818 w 1621876"/>
                <a:gd name="connsiteY6-174" fmla="*/ 739322 h 3497531"/>
                <a:gd name="connsiteX7-175" fmla="*/ 739322 w 1621876"/>
                <a:gd name="connsiteY7-176" fmla="*/ 1356819 h 3497531"/>
                <a:gd name="connsiteX8-177" fmla="*/ 638398 w 1621876"/>
                <a:gd name="connsiteY8-178" fmla="*/ 1356819 h 3497531"/>
                <a:gd name="connsiteX9-179" fmla="*/ 20901 w 1621876"/>
                <a:gd name="connsiteY9-180" fmla="*/ 739322 h 3497531"/>
                <a:gd name="connsiteX10-181" fmla="*/ 20901 w 1621876"/>
                <a:gd name="connsiteY10-182" fmla="*/ 638398 h 3497531"/>
                <a:gd name="connsiteX11-183" fmla="*/ 638398 w 1621876"/>
                <a:gd name="connsiteY11-184" fmla="*/ 20901 h 3497531"/>
                <a:gd name="connsiteX12-185" fmla="*/ 688860 w 1621876"/>
                <a:gd name="connsiteY12-186" fmla="*/ 0 h 3497531"/>
                <a:gd name="connsiteX0-187" fmla="*/ 688860 w 1377719"/>
                <a:gd name="connsiteY0-188" fmla="*/ 0 h 1377720"/>
                <a:gd name="connsiteX1-189" fmla="*/ 739322 w 1377719"/>
                <a:gd name="connsiteY1-190" fmla="*/ 20901 h 1377720"/>
                <a:gd name="connsiteX2-191" fmla="*/ 1356818 w 1377719"/>
                <a:gd name="connsiteY2-192" fmla="*/ 638398 h 1377720"/>
                <a:gd name="connsiteX3-193" fmla="*/ 1356818 w 1377719"/>
                <a:gd name="connsiteY3-194" fmla="*/ 739322 h 1377720"/>
                <a:gd name="connsiteX4-195" fmla="*/ 739322 w 1377719"/>
                <a:gd name="connsiteY4-196" fmla="*/ 1356819 h 1377720"/>
                <a:gd name="connsiteX5-197" fmla="*/ 638398 w 1377719"/>
                <a:gd name="connsiteY5-198" fmla="*/ 1356819 h 1377720"/>
                <a:gd name="connsiteX6-199" fmla="*/ 20901 w 1377719"/>
                <a:gd name="connsiteY6-200" fmla="*/ 739322 h 1377720"/>
                <a:gd name="connsiteX7-201" fmla="*/ 20901 w 1377719"/>
                <a:gd name="connsiteY7-202" fmla="*/ 638398 h 1377720"/>
                <a:gd name="connsiteX8-203" fmla="*/ 638398 w 1377719"/>
                <a:gd name="connsiteY8-204" fmla="*/ 20901 h 1377720"/>
                <a:gd name="connsiteX9-205" fmla="*/ 688860 w 1377719"/>
                <a:gd name="connsiteY9-206" fmla="*/ 0 h 1377720"/>
              </a:gdLst>
              <a:ahLst/>
              <a:cxnLst>
                <a:cxn ang="0">
                  <a:pos x="connsiteX0-1" y="connsiteY0-2"/>
                </a:cxn>
                <a:cxn ang="0">
                  <a:pos x="connsiteX1-3" y="connsiteY1-4"/>
                </a:cxn>
                <a:cxn ang="0">
                  <a:pos x="connsiteX2-5" y="connsiteY2-6"/>
                </a:cxn>
                <a:cxn ang="0">
                  <a:pos x="connsiteX3-7" y="connsiteY3-8"/>
                </a:cxn>
                <a:cxn ang="0">
                  <a:pos x="connsiteX4-9" y="connsiteY4-10"/>
                </a:cxn>
                <a:cxn ang="0">
                  <a:pos x="connsiteX5-11" y="connsiteY5-12"/>
                </a:cxn>
                <a:cxn ang="0">
                  <a:pos x="connsiteX6-13" y="connsiteY6-14"/>
                </a:cxn>
                <a:cxn ang="0">
                  <a:pos x="connsiteX7-15" y="connsiteY7-16"/>
                </a:cxn>
                <a:cxn ang="0">
                  <a:pos x="connsiteX8-17" y="connsiteY8-18"/>
                </a:cxn>
                <a:cxn ang="0">
                  <a:pos x="connsiteX9-19" y="connsiteY9-20"/>
                </a:cxn>
              </a:cxnLst>
              <a:rect l="l" t="t" r="r" b="b"/>
              <a:pathLst>
                <a:path w="1377719" h="1377720">
                  <a:moveTo>
                    <a:pt x="688860" y="0"/>
                  </a:moveTo>
                  <a:cubicBezTo>
                    <a:pt x="707124" y="0"/>
                    <a:pt x="725387" y="6967"/>
                    <a:pt x="739322" y="20901"/>
                  </a:cubicBezTo>
                  <a:lnTo>
                    <a:pt x="1356818" y="638398"/>
                  </a:lnTo>
                  <a:cubicBezTo>
                    <a:pt x="1384687" y="666267"/>
                    <a:pt x="1384687" y="711453"/>
                    <a:pt x="1356818" y="739322"/>
                  </a:cubicBezTo>
                  <a:lnTo>
                    <a:pt x="739322" y="1356819"/>
                  </a:lnTo>
                  <a:cubicBezTo>
                    <a:pt x="711453" y="1384688"/>
                    <a:pt x="666267" y="1384688"/>
                    <a:pt x="638398" y="1356819"/>
                  </a:cubicBezTo>
                  <a:lnTo>
                    <a:pt x="20901" y="739322"/>
                  </a:lnTo>
                  <a:cubicBezTo>
                    <a:pt x="-6968" y="711453"/>
                    <a:pt x="-6968" y="666267"/>
                    <a:pt x="20901" y="638398"/>
                  </a:cubicBezTo>
                  <a:lnTo>
                    <a:pt x="638398" y="20901"/>
                  </a:lnTo>
                  <a:cubicBezTo>
                    <a:pt x="652332" y="6967"/>
                    <a:pt x="670596" y="0"/>
                    <a:pt x="688860" y="0"/>
                  </a:cubicBezTo>
                  <a:close/>
                </a:path>
              </a:pathLst>
            </a:custGeom>
            <a:solidFill>
              <a:srgbClr val="11559C"/>
            </a:solidFill>
            <a:ln>
              <a:noFill/>
            </a:ln>
            <a:effectLst>
              <a:outerShdw blurRad="228600" dist="127000" dir="2700000" sx="95000" sy="95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r>
                <a:rPr lang="en-US" sz="2800" b="1" dirty="0">
                  <a:latin typeface="苹方-简" panose="020B0400000000000000" charset="-122"/>
                  <a:ea typeface="苹方-简" panose="020B0400000000000000" charset="-122"/>
                  <a:cs typeface="+mn-ea"/>
                  <a:sym typeface="+mn-lt"/>
                </a:rPr>
                <a:t>03</a:t>
              </a:r>
              <a:endParaRPr lang="en-US" sz="2800" b="1" dirty="0">
                <a:latin typeface="苹方-简" panose="020B0400000000000000" charset="-122"/>
                <a:ea typeface="苹方-简" panose="020B0400000000000000" charset="-122"/>
                <a:cs typeface="+mn-ea"/>
                <a:sym typeface="+mn-lt"/>
              </a:endParaRPr>
            </a:p>
          </p:txBody>
        </p:sp>
        <p:sp>
          <p:nvSpPr>
            <p:cNvPr id="14" name="矩形 13"/>
            <p:cNvSpPr/>
            <p:nvPr>
              <p:custDataLst>
                <p:tags r:id="rId13"/>
              </p:custDataLst>
            </p:nvPr>
          </p:nvSpPr>
          <p:spPr>
            <a:xfrm>
              <a:off x="11972" y="5586"/>
              <a:ext cx="3994" cy="727"/>
            </a:xfrm>
            <a:prstGeom prst="rect">
              <a:avLst/>
            </a:prstGeom>
          </p:spPr>
          <p:txBody>
            <a:bodyPr wrap="square" lIns="0" tIns="0" rIns="0" bIns="0" anchor="ctr">
              <a:spAutoFit/>
            </a:bodyPr>
            <a:lstStyle/>
            <a:p>
              <a:pPr algn="l"/>
              <a:r>
                <a:rPr lang="zh-CN" altLang="en-US" sz="3000" spc="1500" dirty="0">
                  <a:solidFill>
                    <a:schemeClr val="tx1">
                      <a:lumMod val="85000"/>
                      <a:lumOff val="15000"/>
                    </a:schemeClr>
                  </a:solidFill>
                  <a:uFillTx/>
                  <a:latin typeface="苹方-简" panose="020B0400000000000000" charset="-122"/>
                  <a:ea typeface="苹方-简" panose="020B0400000000000000" charset="-122"/>
                  <a:cs typeface="+mn-ea"/>
                  <a:sym typeface="+mn-lt"/>
                </a:rPr>
                <a:t>开发</a:t>
              </a:r>
              <a:r>
                <a:rPr lang="zh-CN" altLang="en-US" sz="3000" spc="1500" dirty="0">
                  <a:solidFill>
                    <a:schemeClr val="tx1">
                      <a:lumMod val="85000"/>
                      <a:lumOff val="15000"/>
                    </a:schemeClr>
                  </a:solidFill>
                  <a:uFillTx/>
                  <a:latin typeface="苹方-简" panose="020B0400000000000000" charset="-122"/>
                  <a:ea typeface="苹方-简" panose="020B0400000000000000" charset="-122"/>
                  <a:cs typeface="+mn-ea"/>
                  <a:sym typeface="+mn-lt"/>
                </a:rPr>
                <a:t>排期</a:t>
              </a:r>
              <a:endParaRPr lang="zh-CN" altLang="en-US" sz="3000" spc="1500" dirty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苹方-简" panose="020B0400000000000000" charset="-122"/>
                <a:ea typeface="苹方-简" panose="020B0400000000000000" charset="-122"/>
                <a:cs typeface="+mn-ea"/>
                <a:sym typeface="+mn-lt"/>
              </a:endParaRPr>
            </a:p>
          </p:txBody>
        </p:sp>
        <p:cxnSp>
          <p:nvCxnSpPr>
            <p:cNvPr id="20" name="直接连接符 19"/>
            <p:cNvCxnSpPr/>
            <p:nvPr>
              <p:custDataLst>
                <p:tags r:id="rId14"/>
              </p:custDataLst>
            </p:nvPr>
          </p:nvCxnSpPr>
          <p:spPr>
            <a:xfrm>
              <a:off x="11426" y="6407"/>
              <a:ext cx="4494" cy="0"/>
            </a:xfrm>
            <a:prstGeom prst="line">
              <a:avLst/>
            </a:prstGeom>
            <a:ln>
              <a:solidFill>
                <a:srgbClr val="3C87C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</p:cSld>
  <p:clrMapOvr>
    <a:masterClrMapping/>
  </p:clrMapOvr>
  <p:transition spd="slow" advClick="0" advTm="2000"/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/>
          <p:nvPr/>
        </p:nvSpPr>
        <p:spPr>
          <a:xfrm>
            <a:off x="-8778" y="2187526"/>
            <a:ext cx="3441344" cy="2467516"/>
          </a:xfrm>
          <a:custGeom>
            <a:avLst/>
            <a:gdLst>
              <a:gd name="connsiteX0" fmla="*/ 0 w 3441344"/>
              <a:gd name="connsiteY0" fmla="*/ 0 h 2467516"/>
              <a:gd name="connsiteX1" fmla="*/ 3441344 w 3441344"/>
              <a:gd name="connsiteY1" fmla="*/ 0 h 2467516"/>
              <a:gd name="connsiteX2" fmla="*/ 3441344 w 3441344"/>
              <a:gd name="connsiteY2" fmla="*/ 2467516 h 2467516"/>
              <a:gd name="connsiteX3" fmla="*/ 0 w 3441344"/>
              <a:gd name="connsiteY3" fmla="*/ 2467516 h 2467516"/>
              <a:gd name="connsiteX4" fmla="*/ 0 w 3441344"/>
              <a:gd name="connsiteY4" fmla="*/ 0 h 2467516"/>
              <a:gd name="connsiteX0-1" fmla="*/ 0 w 3441344"/>
              <a:gd name="connsiteY0-2" fmla="*/ 0 h 2467516"/>
              <a:gd name="connsiteX1-3" fmla="*/ 3441344 w 3441344"/>
              <a:gd name="connsiteY1-4" fmla="*/ 0 h 2467516"/>
              <a:gd name="connsiteX2-5" fmla="*/ 3441344 w 3441344"/>
              <a:gd name="connsiteY2-6" fmla="*/ 2467516 h 2467516"/>
              <a:gd name="connsiteX3-7" fmla="*/ 2822366 w 3441344"/>
              <a:gd name="connsiteY3-8" fmla="*/ 2461846 h 2467516"/>
              <a:gd name="connsiteX4-9" fmla="*/ 0 w 3441344"/>
              <a:gd name="connsiteY4-10" fmla="*/ 2467516 h 2467516"/>
              <a:gd name="connsiteX5" fmla="*/ 0 w 3441344"/>
              <a:gd name="connsiteY5" fmla="*/ 0 h 2467516"/>
              <a:gd name="connsiteX0-11" fmla="*/ 0 w 3441344"/>
              <a:gd name="connsiteY0-12" fmla="*/ 0 h 2467516"/>
              <a:gd name="connsiteX1-13" fmla="*/ 3441344 w 3441344"/>
              <a:gd name="connsiteY1-14" fmla="*/ 0 h 2467516"/>
              <a:gd name="connsiteX2-15" fmla="*/ 3441344 w 3441344"/>
              <a:gd name="connsiteY2-16" fmla="*/ 2467516 h 2467516"/>
              <a:gd name="connsiteX3-17" fmla="*/ 2822366 w 3441344"/>
              <a:gd name="connsiteY3-18" fmla="*/ 2461846 h 2467516"/>
              <a:gd name="connsiteX4-19" fmla="*/ 2822366 w 3441344"/>
              <a:gd name="connsiteY4-20" fmla="*/ 2461846 h 2467516"/>
              <a:gd name="connsiteX5-21" fmla="*/ 0 w 3441344"/>
              <a:gd name="connsiteY5-22" fmla="*/ 2467516 h 2467516"/>
              <a:gd name="connsiteX6" fmla="*/ 0 w 3441344"/>
              <a:gd name="connsiteY6" fmla="*/ 0 h 2467516"/>
              <a:gd name="connsiteX0-23" fmla="*/ 0 w 3441344"/>
              <a:gd name="connsiteY0-24" fmla="*/ 0 h 2467516"/>
              <a:gd name="connsiteX1-25" fmla="*/ 3441344 w 3441344"/>
              <a:gd name="connsiteY1-26" fmla="*/ 0 h 2467516"/>
              <a:gd name="connsiteX2-27" fmla="*/ 2822366 w 3441344"/>
              <a:gd name="connsiteY2-28" fmla="*/ 2461846 h 2467516"/>
              <a:gd name="connsiteX3-29" fmla="*/ 2822366 w 3441344"/>
              <a:gd name="connsiteY3-30" fmla="*/ 2461846 h 2467516"/>
              <a:gd name="connsiteX4-31" fmla="*/ 0 w 3441344"/>
              <a:gd name="connsiteY4-32" fmla="*/ 2467516 h 2467516"/>
              <a:gd name="connsiteX5-33" fmla="*/ 0 w 3441344"/>
              <a:gd name="connsiteY5-34" fmla="*/ 0 h 2467516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  <a:cxn ang="0">
                <a:pos x="connsiteX5-21" y="connsiteY5-22"/>
              </a:cxn>
            </a:cxnLst>
            <a:rect l="l" t="t" r="r" b="b"/>
            <a:pathLst>
              <a:path w="3441344" h="2467516">
                <a:moveTo>
                  <a:pt x="0" y="0"/>
                </a:moveTo>
                <a:lnTo>
                  <a:pt x="3441344" y="0"/>
                </a:lnTo>
                <a:lnTo>
                  <a:pt x="2822366" y="2461846"/>
                </a:lnTo>
                <a:lnTo>
                  <a:pt x="2822366" y="2461846"/>
                </a:lnTo>
                <a:lnTo>
                  <a:pt x="0" y="2467516"/>
                </a:lnTo>
                <a:lnTo>
                  <a:pt x="0" y="0"/>
                </a:lnTo>
                <a:close/>
              </a:path>
            </a:pathLst>
          </a:custGeom>
          <a:solidFill>
            <a:srgbClr val="11559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  <a:sym typeface="+mn-lt"/>
            </a:endParaRPr>
          </a:p>
        </p:txBody>
      </p:sp>
      <p:sp>
        <p:nvSpPr>
          <p:cNvPr id="4" name="矩形 3"/>
          <p:cNvSpPr/>
          <p:nvPr/>
        </p:nvSpPr>
        <p:spPr>
          <a:xfrm>
            <a:off x="0" y="2310063"/>
            <a:ext cx="12192000" cy="2229853"/>
          </a:xfrm>
          <a:prstGeom prst="rect">
            <a:avLst/>
          </a:prstGeom>
          <a:solidFill>
            <a:srgbClr val="404F6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  <a:sym typeface="+mn-lt"/>
            </a:endParaRPr>
          </a:p>
        </p:txBody>
      </p:sp>
      <p:sp>
        <p:nvSpPr>
          <p:cNvPr id="13" name="矩形 4"/>
          <p:cNvSpPr/>
          <p:nvPr/>
        </p:nvSpPr>
        <p:spPr>
          <a:xfrm>
            <a:off x="-8778" y="2315865"/>
            <a:ext cx="3371889" cy="2235067"/>
          </a:xfrm>
          <a:custGeom>
            <a:avLst/>
            <a:gdLst>
              <a:gd name="connsiteX0" fmla="*/ 0 w 3441344"/>
              <a:gd name="connsiteY0" fmla="*/ 0 h 2467516"/>
              <a:gd name="connsiteX1" fmla="*/ 3441344 w 3441344"/>
              <a:gd name="connsiteY1" fmla="*/ 0 h 2467516"/>
              <a:gd name="connsiteX2" fmla="*/ 3441344 w 3441344"/>
              <a:gd name="connsiteY2" fmla="*/ 2467516 h 2467516"/>
              <a:gd name="connsiteX3" fmla="*/ 0 w 3441344"/>
              <a:gd name="connsiteY3" fmla="*/ 2467516 h 2467516"/>
              <a:gd name="connsiteX4" fmla="*/ 0 w 3441344"/>
              <a:gd name="connsiteY4" fmla="*/ 0 h 2467516"/>
              <a:gd name="connsiteX0-1" fmla="*/ 0 w 3441344"/>
              <a:gd name="connsiteY0-2" fmla="*/ 0 h 2467516"/>
              <a:gd name="connsiteX1-3" fmla="*/ 3441344 w 3441344"/>
              <a:gd name="connsiteY1-4" fmla="*/ 0 h 2467516"/>
              <a:gd name="connsiteX2-5" fmla="*/ 3441344 w 3441344"/>
              <a:gd name="connsiteY2-6" fmla="*/ 2467516 h 2467516"/>
              <a:gd name="connsiteX3-7" fmla="*/ 2822366 w 3441344"/>
              <a:gd name="connsiteY3-8" fmla="*/ 2461846 h 2467516"/>
              <a:gd name="connsiteX4-9" fmla="*/ 0 w 3441344"/>
              <a:gd name="connsiteY4-10" fmla="*/ 2467516 h 2467516"/>
              <a:gd name="connsiteX5" fmla="*/ 0 w 3441344"/>
              <a:gd name="connsiteY5" fmla="*/ 0 h 2467516"/>
              <a:gd name="connsiteX0-11" fmla="*/ 0 w 3441344"/>
              <a:gd name="connsiteY0-12" fmla="*/ 0 h 2467516"/>
              <a:gd name="connsiteX1-13" fmla="*/ 3441344 w 3441344"/>
              <a:gd name="connsiteY1-14" fmla="*/ 0 h 2467516"/>
              <a:gd name="connsiteX2-15" fmla="*/ 3441344 w 3441344"/>
              <a:gd name="connsiteY2-16" fmla="*/ 2467516 h 2467516"/>
              <a:gd name="connsiteX3-17" fmla="*/ 2822366 w 3441344"/>
              <a:gd name="connsiteY3-18" fmla="*/ 2461846 h 2467516"/>
              <a:gd name="connsiteX4-19" fmla="*/ 2822366 w 3441344"/>
              <a:gd name="connsiteY4-20" fmla="*/ 2461846 h 2467516"/>
              <a:gd name="connsiteX5-21" fmla="*/ 0 w 3441344"/>
              <a:gd name="connsiteY5-22" fmla="*/ 2467516 h 2467516"/>
              <a:gd name="connsiteX6" fmla="*/ 0 w 3441344"/>
              <a:gd name="connsiteY6" fmla="*/ 0 h 2467516"/>
              <a:gd name="connsiteX0-23" fmla="*/ 0 w 3441344"/>
              <a:gd name="connsiteY0-24" fmla="*/ 0 h 2467516"/>
              <a:gd name="connsiteX1-25" fmla="*/ 3441344 w 3441344"/>
              <a:gd name="connsiteY1-26" fmla="*/ 0 h 2467516"/>
              <a:gd name="connsiteX2-27" fmla="*/ 2822366 w 3441344"/>
              <a:gd name="connsiteY2-28" fmla="*/ 2461846 h 2467516"/>
              <a:gd name="connsiteX3-29" fmla="*/ 2822366 w 3441344"/>
              <a:gd name="connsiteY3-30" fmla="*/ 2461846 h 2467516"/>
              <a:gd name="connsiteX4-31" fmla="*/ 0 w 3441344"/>
              <a:gd name="connsiteY4-32" fmla="*/ 2467516 h 2467516"/>
              <a:gd name="connsiteX5-33" fmla="*/ 0 w 3441344"/>
              <a:gd name="connsiteY5-34" fmla="*/ 0 h 2467516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  <a:cxn ang="0">
                <a:pos x="connsiteX5-21" y="connsiteY5-22"/>
              </a:cxn>
            </a:cxnLst>
            <a:rect l="l" t="t" r="r" b="b"/>
            <a:pathLst>
              <a:path w="3441344" h="2467516">
                <a:moveTo>
                  <a:pt x="0" y="0"/>
                </a:moveTo>
                <a:lnTo>
                  <a:pt x="3441344" y="0"/>
                </a:lnTo>
                <a:lnTo>
                  <a:pt x="2822366" y="2461846"/>
                </a:lnTo>
                <a:lnTo>
                  <a:pt x="2822366" y="2461846"/>
                </a:lnTo>
                <a:lnTo>
                  <a:pt x="0" y="2467516"/>
                </a:lnTo>
                <a:lnTo>
                  <a:pt x="0" y="0"/>
                </a:lnTo>
                <a:close/>
              </a:path>
            </a:pathLst>
          </a:custGeom>
          <a:solidFill>
            <a:srgbClr val="11559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  <a:sym typeface="+mn-lt"/>
            </a:endParaRPr>
          </a:p>
        </p:txBody>
      </p:sp>
      <p:sp>
        <p:nvSpPr>
          <p:cNvPr id="34" name="文本框 33"/>
          <p:cNvSpPr txBox="1"/>
          <p:nvPr/>
        </p:nvSpPr>
        <p:spPr>
          <a:xfrm>
            <a:off x="266700" y="2909115"/>
            <a:ext cx="6243320" cy="1107440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r>
              <a:rPr lang="en-US" altLang="zh-CN" sz="7200" dirty="0">
                <a:solidFill>
                  <a:schemeClr val="bg1"/>
                </a:solidFill>
                <a:cs typeface="+mn-ea"/>
                <a:sym typeface="+mn-lt"/>
              </a:rPr>
              <a:t>PART    01</a:t>
            </a:r>
            <a:endParaRPr lang="en-US" altLang="zh-CN" sz="7200" dirty="0">
              <a:solidFill>
                <a:schemeClr val="bg1"/>
              </a:solidFill>
              <a:cs typeface="+mn-ea"/>
              <a:sym typeface="+mn-lt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7796289" y="2921497"/>
            <a:ext cx="3561080" cy="1015365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r"/>
            <a:r>
              <a:rPr lang="zh-CN" altLang="en-US" sz="6600" b="1" spc="400" dirty="0">
                <a:solidFill>
                  <a:schemeClr val="bg1"/>
                </a:solidFill>
                <a:uFillTx/>
                <a:cs typeface="+mn-ea"/>
                <a:sym typeface="+mn-lt"/>
              </a:rPr>
              <a:t>总体概述</a:t>
            </a:r>
            <a:endParaRPr lang="zh-CN" altLang="en-US" sz="6600" b="1" spc="400" dirty="0">
              <a:solidFill>
                <a:schemeClr val="bg1"/>
              </a:solidFill>
              <a:uFillTx/>
              <a:cs typeface="+mn-ea"/>
              <a:sym typeface="+mn-lt"/>
            </a:endParaRPr>
          </a:p>
        </p:txBody>
      </p:sp>
    </p:spTree>
  </p:cSld>
  <p:clrMapOvr>
    <a:masterClrMapping/>
  </p:clrMapOvr>
  <p:transition spd="slow" advClick="0" advTm="2000"/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173" name="Picture 4" descr="/Users/wangzhimeng/Downloads/BIM素材/图片3.png图片3"/>
          <p:cNvPicPr>
            <a:picLocks noChangeAspect="1"/>
          </p:cNvPicPr>
          <p:nvPr/>
        </p:nvPicPr>
        <p:blipFill>
          <a:blip r:embed="rId1"/>
          <a:srcRect t="15528"/>
          <a:stretch>
            <a:fillRect/>
          </a:stretch>
        </p:blipFill>
        <p:spPr>
          <a:xfrm>
            <a:off x="253365" y="1002030"/>
            <a:ext cx="11688445" cy="566166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3081" name="椭圆 26"/>
          <p:cNvSpPr/>
          <p:nvPr/>
        </p:nvSpPr>
        <p:spPr>
          <a:xfrm>
            <a:off x="3087370" y="871855"/>
            <a:ext cx="5620385" cy="5620385"/>
          </a:xfrm>
          <a:prstGeom prst="ellipse">
            <a:avLst/>
          </a:prstGeom>
          <a:noFill/>
          <a:ln w="6350" cap="flat" cmpd="sng">
            <a:solidFill>
              <a:srgbClr val="FFFFFF">
                <a:alpha val="39000"/>
              </a:srgbClr>
            </a:solidFill>
            <a:prstDash val="solid"/>
            <a:miter/>
            <a:headEnd type="none" w="med" len="med"/>
            <a:tailEnd type="none" w="med" len="med"/>
          </a:ln>
        </p:spPr>
        <p:txBody>
          <a:bodyPr anchor="ctr"/>
          <a:p>
            <a:pPr algn="ctr"/>
            <a:endParaRPr sz="1200">
              <a:solidFill>
                <a:srgbClr val="FFFFFF"/>
              </a:solidFill>
              <a:latin typeface="宋体" panose="02010600030101010101" pitchFamily="2" charset="-122"/>
              <a:ea typeface="宋体" panose="02010600030101010101" pitchFamily="2" charset="-122"/>
              <a:sym typeface="宋体" panose="02010600030101010101" pitchFamily="2" charset="-122"/>
            </a:endParaRPr>
          </a:p>
        </p:txBody>
      </p:sp>
      <p:sp>
        <p:nvSpPr>
          <p:cNvPr id="6" name="椭圆 5"/>
          <p:cNvSpPr/>
          <p:nvPr/>
        </p:nvSpPr>
        <p:spPr>
          <a:xfrm>
            <a:off x="3535045" y="1414145"/>
            <a:ext cx="4705985" cy="4706620"/>
          </a:xfrm>
          <a:prstGeom prst="ellipse">
            <a:avLst/>
          </a:prstGeom>
          <a:solidFill>
            <a:srgbClr val="11559C">
              <a:alpha val="69000"/>
            </a:srgbClr>
          </a:solidFill>
          <a:ln w="9525">
            <a:noFill/>
          </a:ln>
        </p:spPr>
        <p:txBody>
          <a:bodyPr anchor="ctr"/>
          <a:p>
            <a:pPr algn="ctr"/>
            <a:endParaRPr sz="1200">
              <a:solidFill>
                <a:srgbClr val="FFFFFF"/>
              </a:solidFill>
              <a:latin typeface="宋体" panose="02010600030101010101" pitchFamily="2" charset="-122"/>
              <a:ea typeface="宋体" panose="02010600030101010101" pitchFamily="2" charset="-122"/>
              <a:sym typeface="宋体" panose="02010600030101010101" pitchFamily="2" charset="-122"/>
            </a:endParaRPr>
          </a:p>
        </p:txBody>
      </p:sp>
      <p:sp>
        <p:nvSpPr>
          <p:cNvPr id="8" name="椭圆 10"/>
          <p:cNvSpPr/>
          <p:nvPr/>
        </p:nvSpPr>
        <p:spPr>
          <a:xfrm>
            <a:off x="3649980" y="1471930"/>
            <a:ext cx="4476750" cy="4477385"/>
          </a:xfrm>
          <a:prstGeom prst="ellipse">
            <a:avLst/>
          </a:prstGeom>
          <a:noFill/>
          <a:ln w="88900" cap="flat" cmpd="sng">
            <a:solidFill>
              <a:srgbClr val="D0EAEB"/>
            </a:solidFill>
            <a:prstDash val="solid"/>
            <a:miter/>
            <a:headEnd type="none" w="med" len="med"/>
            <a:tailEnd type="none" w="med" len="med"/>
          </a:ln>
        </p:spPr>
        <p:txBody>
          <a:bodyPr anchor="ctr"/>
          <a:p>
            <a:pPr algn="ctr"/>
            <a:endParaRPr sz="1200">
              <a:solidFill>
                <a:srgbClr val="FFFFFF"/>
              </a:solidFill>
              <a:latin typeface="宋体" panose="02010600030101010101" pitchFamily="2" charset="-122"/>
              <a:ea typeface="宋体" panose="02010600030101010101" pitchFamily="2" charset="-122"/>
              <a:sym typeface="宋体" panose="02010600030101010101" pitchFamily="2" charset="-122"/>
            </a:endParaRPr>
          </a:p>
        </p:txBody>
      </p:sp>
      <p:sp>
        <p:nvSpPr>
          <p:cNvPr id="9" name="文本框 12"/>
          <p:cNvSpPr/>
          <p:nvPr/>
        </p:nvSpPr>
        <p:spPr>
          <a:xfrm>
            <a:off x="3822700" y="3418840"/>
            <a:ext cx="4131310" cy="460375"/>
          </a:xfrm>
          <a:prstGeom prst="rect">
            <a:avLst/>
          </a:prstGeom>
          <a:noFill/>
          <a:ln w="9525">
            <a:noFill/>
          </a:ln>
        </p:spPr>
        <p:txBody>
          <a:bodyPr wrap="square">
            <a:spAutoFit/>
          </a:bodyPr>
          <a:p>
            <a:pPr algn="ctr"/>
            <a:r>
              <a:rPr lang="zh-CN" altLang="en-US" sz="24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华文宋体" panose="02010600040101010101" pitchFamily="2" charset="-122"/>
              </a:rPr>
              <a:t>一体化</a:t>
            </a:r>
            <a:r>
              <a:rPr lang="en-US" altLang="zh-CN" sz="24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华文宋体" panose="02010600040101010101" pitchFamily="2" charset="-122"/>
              </a:rPr>
              <a:t>WMS</a:t>
            </a:r>
            <a:r>
              <a:rPr lang="zh-CN" altLang="en-US" sz="24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华文宋体" panose="02010600040101010101" pitchFamily="2" charset="-122"/>
              </a:rPr>
              <a:t>数字化管理平台</a:t>
            </a:r>
            <a:endParaRPr lang="zh-CN" altLang="en-US" sz="24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华文宋体" panose="02010600040101010101" pitchFamily="2" charset="-122"/>
            </a:endParaRPr>
          </a:p>
        </p:txBody>
      </p:sp>
      <p:sp>
        <p:nvSpPr>
          <p:cNvPr id="10" name="直接连接符 21"/>
          <p:cNvSpPr/>
          <p:nvPr/>
        </p:nvSpPr>
        <p:spPr>
          <a:xfrm>
            <a:off x="3912870" y="3241040"/>
            <a:ext cx="3949700" cy="635"/>
          </a:xfrm>
          <a:prstGeom prst="line">
            <a:avLst/>
          </a:prstGeom>
          <a:ln w="25400" cap="flat" cmpd="sng">
            <a:solidFill>
              <a:srgbClr val="FFFFFF">
                <a:alpha val="50000"/>
              </a:srgbClr>
            </a:solidFill>
            <a:prstDash val="solid"/>
            <a:miter/>
            <a:headEnd type="none" w="med" len="med"/>
            <a:tailEnd type="none" w="med" len="med"/>
          </a:ln>
        </p:spPr>
        <p:txBody>
          <a:bodyPr/>
          <a:p>
            <a:endParaRPr lang="zh-CN" altLang="en-US" dirty="0"/>
          </a:p>
        </p:txBody>
      </p:sp>
      <p:sp>
        <p:nvSpPr>
          <p:cNvPr id="11" name="文本框 23"/>
          <p:cNvSpPr/>
          <p:nvPr/>
        </p:nvSpPr>
        <p:spPr>
          <a:xfrm>
            <a:off x="4119880" y="2337435"/>
            <a:ext cx="3566795" cy="706755"/>
          </a:xfrm>
          <a:prstGeom prst="rect">
            <a:avLst/>
          </a:prstGeom>
          <a:noFill/>
          <a:ln w="9525">
            <a:noFill/>
          </a:ln>
        </p:spPr>
        <p:txBody>
          <a:bodyPr wrap="square">
            <a:spAutoFit/>
          </a:bodyPr>
          <a:p>
            <a:pPr algn="ctr"/>
            <a:r>
              <a:rPr lang="zh-CN" altLang="en-US" sz="40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华文宋体" panose="02010600040101010101" pitchFamily="2" charset="-122"/>
              </a:rPr>
              <a:t>智  慧  仓  </a:t>
            </a:r>
            <a:r>
              <a:rPr lang="zh-CN" altLang="en-US" sz="40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华文宋体" panose="02010600040101010101" pitchFamily="2" charset="-122"/>
              </a:rPr>
              <a:t>储</a:t>
            </a:r>
            <a:endParaRPr lang="zh-CN" altLang="en-US" sz="4000" b="1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华文宋体" panose="02010600040101010101" pitchFamily="2" charset="-122"/>
            </a:endParaRPr>
          </a:p>
        </p:txBody>
      </p:sp>
      <p:sp>
        <p:nvSpPr>
          <p:cNvPr id="13" name="椭圆 25"/>
          <p:cNvSpPr/>
          <p:nvPr/>
        </p:nvSpPr>
        <p:spPr>
          <a:xfrm>
            <a:off x="3308985" y="1116965"/>
            <a:ext cx="5187950" cy="5186680"/>
          </a:xfrm>
          <a:prstGeom prst="ellipse">
            <a:avLst/>
          </a:prstGeom>
          <a:noFill/>
          <a:ln w="6350" cap="flat" cmpd="sng">
            <a:solidFill>
              <a:srgbClr val="FFFFFF">
                <a:alpha val="50000"/>
              </a:srgbClr>
            </a:solidFill>
            <a:prstDash val="solid"/>
            <a:miter/>
            <a:headEnd type="none" w="med" len="med"/>
            <a:tailEnd type="none" w="med" len="med"/>
          </a:ln>
        </p:spPr>
        <p:txBody>
          <a:bodyPr anchor="ctr"/>
          <a:p>
            <a:pPr algn="ctr"/>
            <a:endParaRPr sz="1200">
              <a:solidFill>
                <a:srgbClr val="FFFFFF"/>
              </a:solidFill>
              <a:latin typeface="宋体" panose="02010600030101010101" pitchFamily="2" charset="-122"/>
              <a:ea typeface="宋体" panose="02010600030101010101" pitchFamily="2" charset="-122"/>
              <a:sym typeface="宋体" panose="02010600030101010101" pitchFamily="2" charset="-122"/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3913505" y="3817620"/>
            <a:ext cx="4039870" cy="195072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>
              <a:lnSpc>
                <a:spcPct val="150000"/>
              </a:lnSpc>
            </a:pPr>
            <a:r>
              <a:rPr lang="zh-CN" altLang="en-US" sz="1200" noProof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Hiragino Sans GB W3" panose="020B0300000000000000" charset="-122"/>
              </a:rPr>
              <a:t>以一套 </a:t>
            </a:r>
            <a:r>
              <a:rPr lang="en-US" altLang="zh-CN" sz="1200" noProof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Hiragino Sans GB W3" panose="020B0300000000000000" charset="-122"/>
              </a:rPr>
              <a:t>WMS </a:t>
            </a:r>
            <a:r>
              <a:rPr lang="zh-CN" altLang="en-US" sz="1200" noProof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Hiragino Sans GB W3" panose="020B0300000000000000" charset="-122"/>
              </a:rPr>
              <a:t>贯通基础档案、入出库、移库、盘点、生产完工与关务核销。综合应用单据 </a:t>
            </a:r>
            <a:r>
              <a:rPr lang="en-US" altLang="zh-CN" sz="1200" noProof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Hiragino Sans GB W3" panose="020B0300000000000000" charset="-122"/>
              </a:rPr>
              <a:t>OCR、</a:t>
            </a:r>
            <a:r>
              <a:rPr lang="zh-CN" altLang="en-US" sz="1200" noProof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Hiragino Sans GB W3" panose="020B0300000000000000" charset="-122"/>
              </a:rPr>
              <a:t>库存台账、可视化驾驶舱与接口预留，对仓</a:t>
            </a:r>
            <a:r>
              <a:rPr lang="zh-CN" altLang="en-US" sz="1200" noProof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Hiragino Sans GB W3" panose="020B0300000000000000" charset="-122"/>
              </a:rPr>
              <a:t>库实施全方位、全要素</a:t>
            </a:r>
            <a:endParaRPr lang="zh-CN" altLang="en-US" sz="1200" noProof="1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Hiragino Sans GB W3" panose="020B0300000000000000" charset="-122"/>
            </a:endParaRPr>
          </a:p>
          <a:p>
            <a:pPr algn="ctr">
              <a:lnSpc>
                <a:spcPct val="150000"/>
              </a:lnSpc>
            </a:pPr>
            <a:r>
              <a:rPr lang="zh-CN" altLang="en-US" sz="1200" noProof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Hiragino Sans GB W3" panose="020B0300000000000000" charset="-122"/>
              </a:rPr>
              <a:t>管理。提高账实一致水平，降低关务监管与作业</a:t>
            </a:r>
            <a:endParaRPr lang="zh-CN" altLang="en-US" sz="1200" noProof="1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Hiragino Sans GB W3" panose="020B0300000000000000" charset="-122"/>
            </a:endParaRPr>
          </a:p>
          <a:p>
            <a:pPr algn="ctr">
              <a:lnSpc>
                <a:spcPct val="150000"/>
              </a:lnSpc>
            </a:pPr>
            <a:r>
              <a:rPr lang="zh-CN" altLang="en-US" sz="1200" noProof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Hiragino Sans GB W3" panose="020B0300000000000000" charset="-122"/>
              </a:rPr>
              <a:t>风险，推动仓储与生产精细化，支撑</a:t>
            </a:r>
            <a:endParaRPr lang="zh-CN" altLang="en-US" sz="1200" noProof="1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Hiragino Sans GB W3" panose="020B0300000000000000" charset="-122"/>
            </a:endParaRPr>
          </a:p>
          <a:p>
            <a:pPr algn="ctr">
              <a:lnSpc>
                <a:spcPct val="150000"/>
              </a:lnSpc>
            </a:pPr>
            <a:r>
              <a:rPr lang="zh-CN" altLang="en-US" sz="1200" noProof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Hiragino Sans GB W3" panose="020B0300000000000000" charset="-122"/>
              </a:rPr>
              <a:t>保税物流数字化升级。</a:t>
            </a:r>
            <a:endParaRPr lang="zh-CN" altLang="en-US" sz="1200" noProof="1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Hiragino Sans GB W3" panose="020B0300000000000000" charset="-122"/>
            </a:endParaRPr>
          </a:p>
        </p:txBody>
      </p:sp>
      <p:sp>
        <p:nvSpPr>
          <p:cNvPr id="2" name="五边形 24"/>
          <p:cNvSpPr/>
          <p:nvPr/>
        </p:nvSpPr>
        <p:spPr>
          <a:xfrm>
            <a:off x="0" y="0"/>
            <a:ext cx="2247900" cy="838200"/>
          </a:xfrm>
          <a:custGeom>
            <a:avLst/>
            <a:gdLst>
              <a:gd name="connsiteX0" fmla="*/ 0 w 2641600"/>
              <a:gd name="connsiteY0" fmla="*/ 0 h 787400"/>
              <a:gd name="connsiteX1" fmla="*/ 2247900 w 2641600"/>
              <a:gd name="connsiteY1" fmla="*/ 0 h 787400"/>
              <a:gd name="connsiteX2" fmla="*/ 2641600 w 2641600"/>
              <a:gd name="connsiteY2" fmla="*/ 393700 h 787400"/>
              <a:gd name="connsiteX3" fmla="*/ 2247900 w 2641600"/>
              <a:gd name="connsiteY3" fmla="*/ 787400 h 787400"/>
              <a:gd name="connsiteX4" fmla="*/ 0 w 2641600"/>
              <a:gd name="connsiteY4" fmla="*/ 787400 h 787400"/>
              <a:gd name="connsiteX5" fmla="*/ 0 w 2641600"/>
              <a:gd name="connsiteY5" fmla="*/ 0 h 787400"/>
              <a:gd name="connsiteX0-1" fmla="*/ 0 w 2247900"/>
              <a:gd name="connsiteY0-2" fmla="*/ 0 h 787400"/>
              <a:gd name="connsiteX1-3" fmla="*/ 2247900 w 2247900"/>
              <a:gd name="connsiteY1-4" fmla="*/ 0 h 787400"/>
              <a:gd name="connsiteX2-5" fmla="*/ 2247900 w 2247900"/>
              <a:gd name="connsiteY2-6" fmla="*/ 787400 h 787400"/>
              <a:gd name="connsiteX3-7" fmla="*/ 0 w 2247900"/>
              <a:gd name="connsiteY3-8" fmla="*/ 787400 h 787400"/>
              <a:gd name="connsiteX4-9" fmla="*/ 0 w 2247900"/>
              <a:gd name="connsiteY4-10" fmla="*/ 0 h 787400"/>
              <a:gd name="connsiteX0-11" fmla="*/ 0 w 2247900"/>
              <a:gd name="connsiteY0-12" fmla="*/ 0 h 787400"/>
              <a:gd name="connsiteX1-13" fmla="*/ 2158690 w 2247900"/>
              <a:gd name="connsiteY1-14" fmla="*/ 0 h 787400"/>
              <a:gd name="connsiteX2-15" fmla="*/ 2247900 w 2247900"/>
              <a:gd name="connsiteY2-16" fmla="*/ 787400 h 787400"/>
              <a:gd name="connsiteX3-17" fmla="*/ 0 w 2247900"/>
              <a:gd name="connsiteY3-18" fmla="*/ 787400 h 787400"/>
              <a:gd name="connsiteX4-19" fmla="*/ 0 w 2247900"/>
              <a:gd name="connsiteY4-20" fmla="*/ 0 h 787400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</a:cxnLst>
            <a:rect l="l" t="t" r="r" b="b"/>
            <a:pathLst>
              <a:path w="2247900" h="787400">
                <a:moveTo>
                  <a:pt x="0" y="0"/>
                </a:moveTo>
                <a:lnTo>
                  <a:pt x="2158690" y="0"/>
                </a:lnTo>
                <a:lnTo>
                  <a:pt x="2247900" y="787400"/>
                </a:lnTo>
                <a:lnTo>
                  <a:pt x="0" y="787400"/>
                </a:lnTo>
                <a:lnTo>
                  <a:pt x="0" y="0"/>
                </a:lnTo>
                <a:close/>
              </a:path>
            </a:pathLst>
          </a:cu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 sz="2400" dirty="0">
                <a:latin typeface="苹方-简" panose="020B0400000000000000" charset="-122"/>
                <a:ea typeface="苹方-简" panose="020B0400000000000000" charset="-122"/>
                <a:cs typeface="+mn-ea"/>
                <a:sym typeface="+mn-lt"/>
              </a:rPr>
              <a:t>总体概述</a:t>
            </a:r>
            <a:endParaRPr lang="zh-CN" altLang="en-US" sz="2400" dirty="0">
              <a:latin typeface="苹方-简" panose="020B0400000000000000" charset="-122"/>
              <a:ea typeface="苹方-简" panose="020B0400000000000000" charset="-122"/>
              <a:cs typeface="+mn-ea"/>
              <a:sym typeface="+mn-lt"/>
            </a:endParaRPr>
          </a:p>
        </p:txBody>
      </p:sp>
      <p:sp>
        <p:nvSpPr>
          <p:cNvPr id="4" name="矩形 3"/>
          <p:cNvSpPr/>
          <p:nvPr/>
        </p:nvSpPr>
        <p:spPr>
          <a:xfrm>
            <a:off x="2247900" y="188595"/>
            <a:ext cx="5273675" cy="429895"/>
          </a:xfrm>
          <a:prstGeom prst="rect">
            <a:avLst/>
          </a:prstGeom>
        </p:spPr>
        <p:txBody>
          <a:bodyPr wrap="square">
            <a:spAutoFit/>
          </a:bodyPr>
          <a:p>
            <a:pPr algn="l"/>
            <a:r>
              <a:rPr lang="zh-CN" altLang="en-US" sz="2200" spc="100" dirty="0">
                <a:solidFill>
                  <a:schemeClr val="bg1"/>
                </a:solidFill>
                <a:uFillTx/>
                <a:latin typeface="苹方-简" panose="020B0400000000000000" charset="-122"/>
                <a:ea typeface="苹方-简" panose="020B0400000000000000" charset="-122"/>
                <a:cs typeface="+mn-ea"/>
              </a:rPr>
              <a:t>背景与意义</a:t>
            </a:r>
            <a:endParaRPr lang="zh-CN" altLang="en-US" sz="2200" spc="100" dirty="0">
              <a:solidFill>
                <a:schemeClr val="bg1"/>
              </a:solidFill>
              <a:uFillTx/>
              <a:latin typeface="苹方-简" panose="020B0400000000000000" charset="-122"/>
              <a:ea typeface="苹方-简" panose="020B0400000000000000" charset="-122"/>
              <a:cs typeface="+mn-ea"/>
            </a:endParaRPr>
          </a:p>
        </p:txBody>
      </p:sp>
    </p:spTree>
  </p:cSld>
  <p:clrMapOvr>
    <a:masterClrMapping/>
  </p:clrMapOvr>
  <p:transition spd="slow" advClick="0" advTm="2000"/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五边形 24"/>
          <p:cNvSpPr/>
          <p:nvPr/>
        </p:nvSpPr>
        <p:spPr>
          <a:xfrm>
            <a:off x="0" y="0"/>
            <a:ext cx="2247900" cy="838200"/>
          </a:xfrm>
          <a:custGeom>
            <a:avLst/>
            <a:gdLst>
              <a:gd name="connsiteX0" fmla="*/ 0 w 2641600"/>
              <a:gd name="connsiteY0" fmla="*/ 0 h 787400"/>
              <a:gd name="connsiteX1" fmla="*/ 2247900 w 2641600"/>
              <a:gd name="connsiteY1" fmla="*/ 0 h 787400"/>
              <a:gd name="connsiteX2" fmla="*/ 2641600 w 2641600"/>
              <a:gd name="connsiteY2" fmla="*/ 393700 h 787400"/>
              <a:gd name="connsiteX3" fmla="*/ 2247900 w 2641600"/>
              <a:gd name="connsiteY3" fmla="*/ 787400 h 787400"/>
              <a:gd name="connsiteX4" fmla="*/ 0 w 2641600"/>
              <a:gd name="connsiteY4" fmla="*/ 787400 h 787400"/>
              <a:gd name="connsiteX5" fmla="*/ 0 w 2641600"/>
              <a:gd name="connsiteY5" fmla="*/ 0 h 787400"/>
              <a:gd name="connsiteX0-1" fmla="*/ 0 w 2247900"/>
              <a:gd name="connsiteY0-2" fmla="*/ 0 h 787400"/>
              <a:gd name="connsiteX1-3" fmla="*/ 2247900 w 2247900"/>
              <a:gd name="connsiteY1-4" fmla="*/ 0 h 787400"/>
              <a:gd name="connsiteX2-5" fmla="*/ 2247900 w 2247900"/>
              <a:gd name="connsiteY2-6" fmla="*/ 787400 h 787400"/>
              <a:gd name="connsiteX3-7" fmla="*/ 0 w 2247900"/>
              <a:gd name="connsiteY3-8" fmla="*/ 787400 h 787400"/>
              <a:gd name="connsiteX4-9" fmla="*/ 0 w 2247900"/>
              <a:gd name="connsiteY4-10" fmla="*/ 0 h 787400"/>
              <a:gd name="connsiteX0-11" fmla="*/ 0 w 2247900"/>
              <a:gd name="connsiteY0-12" fmla="*/ 0 h 787400"/>
              <a:gd name="connsiteX1-13" fmla="*/ 2158690 w 2247900"/>
              <a:gd name="connsiteY1-14" fmla="*/ 0 h 787400"/>
              <a:gd name="connsiteX2-15" fmla="*/ 2247900 w 2247900"/>
              <a:gd name="connsiteY2-16" fmla="*/ 787400 h 787400"/>
              <a:gd name="connsiteX3-17" fmla="*/ 0 w 2247900"/>
              <a:gd name="connsiteY3-18" fmla="*/ 787400 h 787400"/>
              <a:gd name="connsiteX4-19" fmla="*/ 0 w 2247900"/>
              <a:gd name="connsiteY4-20" fmla="*/ 0 h 787400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</a:cxnLst>
            <a:rect l="l" t="t" r="r" b="b"/>
            <a:pathLst>
              <a:path w="2247900" h="787400">
                <a:moveTo>
                  <a:pt x="0" y="0"/>
                </a:moveTo>
                <a:lnTo>
                  <a:pt x="2158690" y="0"/>
                </a:lnTo>
                <a:lnTo>
                  <a:pt x="2247900" y="787400"/>
                </a:lnTo>
                <a:lnTo>
                  <a:pt x="0" y="787400"/>
                </a:lnTo>
                <a:lnTo>
                  <a:pt x="0" y="0"/>
                </a:lnTo>
                <a:close/>
              </a:path>
            </a:pathLst>
          </a:cu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2400" dirty="0">
                <a:latin typeface="苹方-简" panose="020B0400000000000000" charset="-122"/>
                <a:ea typeface="苹方-简" panose="020B0400000000000000" charset="-122"/>
                <a:cs typeface="+mn-ea"/>
                <a:sym typeface="+mn-lt"/>
              </a:rPr>
              <a:t>总体概述</a:t>
            </a:r>
            <a:endParaRPr lang="zh-CN" altLang="en-US" sz="2400" dirty="0">
              <a:latin typeface="苹方-简" panose="020B0400000000000000" charset="-122"/>
              <a:ea typeface="苹方-简" panose="020B0400000000000000" charset="-122"/>
              <a:cs typeface="+mn-ea"/>
              <a:sym typeface="+mn-lt"/>
            </a:endParaRPr>
          </a:p>
        </p:txBody>
      </p:sp>
      <p:sp>
        <p:nvSpPr>
          <p:cNvPr id="4" name="矩形 3"/>
          <p:cNvSpPr/>
          <p:nvPr/>
        </p:nvSpPr>
        <p:spPr>
          <a:xfrm>
            <a:off x="2247900" y="188595"/>
            <a:ext cx="5273675" cy="429895"/>
          </a:xfrm>
          <a:prstGeom prst="rect">
            <a:avLst/>
          </a:prstGeom>
        </p:spPr>
        <p:txBody>
          <a:bodyPr wrap="square">
            <a:spAutoFit/>
          </a:bodyPr>
          <a:p>
            <a:pPr algn="l"/>
            <a:r>
              <a:rPr lang="zh-CN" altLang="en-US" sz="2200" spc="100" dirty="0">
                <a:solidFill>
                  <a:schemeClr val="bg1"/>
                </a:solidFill>
                <a:uFillTx/>
                <a:latin typeface="苹方-简" panose="020B0400000000000000" charset="-122"/>
                <a:ea typeface="苹方-简" panose="020B0400000000000000" charset="-122"/>
                <a:cs typeface="+mn-ea"/>
              </a:rPr>
              <a:t>平台开发目标</a:t>
            </a:r>
            <a:endParaRPr lang="zh-CN" altLang="en-US" sz="2200" spc="100" dirty="0">
              <a:solidFill>
                <a:schemeClr val="bg1"/>
              </a:solidFill>
              <a:uFillTx/>
              <a:latin typeface="苹方-简" panose="020B0400000000000000" charset="-122"/>
              <a:ea typeface="苹方-简" panose="020B0400000000000000" charset="-122"/>
              <a:cs typeface="+mn-ea"/>
            </a:endParaRPr>
          </a:p>
        </p:txBody>
      </p:sp>
      <p:grpSp>
        <p:nvGrpSpPr>
          <p:cNvPr id="17" name="组合 16"/>
          <p:cNvGrpSpPr/>
          <p:nvPr>
            <p:custDataLst>
              <p:tags r:id="rId1"/>
            </p:custDataLst>
          </p:nvPr>
        </p:nvGrpSpPr>
        <p:grpSpPr>
          <a:xfrm>
            <a:off x="4507230" y="4254500"/>
            <a:ext cx="2829560" cy="1489075"/>
            <a:chOff x="7297" y="7555"/>
            <a:chExt cx="4456" cy="2345"/>
          </a:xfrm>
        </p:grpSpPr>
        <p:sp>
          <p:nvSpPr>
            <p:cNvPr id="29" name="圆角矩形 28"/>
            <p:cNvSpPr/>
            <p:nvPr>
              <p:custDataLst>
                <p:tags r:id="rId2"/>
              </p:custDataLst>
            </p:nvPr>
          </p:nvSpPr>
          <p:spPr>
            <a:xfrm>
              <a:off x="7297" y="7555"/>
              <a:ext cx="4456" cy="2345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solidFill>
                <a:srgbClr val="13B6F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15" name="文本框 14"/>
            <p:cNvSpPr txBox="1"/>
            <p:nvPr>
              <p:custDataLst>
                <p:tags r:id="rId3"/>
              </p:custDataLst>
            </p:nvPr>
          </p:nvSpPr>
          <p:spPr>
            <a:xfrm>
              <a:off x="7950" y="7798"/>
              <a:ext cx="3300" cy="1787"/>
            </a:xfrm>
            <a:prstGeom prst="round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zh-CN" altLang="en-US" sz="2000" b="1"/>
                <a:t>管理升级</a:t>
              </a:r>
              <a:endParaRPr lang="zh-CN" altLang="en-US" sz="2000" b="1"/>
            </a:p>
            <a:p>
              <a:endParaRPr lang="zh-CN" altLang="en-US" sz="1400"/>
            </a:p>
            <a:p>
              <a:r>
                <a:rPr lang="zh-CN" altLang="en-US" sz="1400"/>
                <a:t>驾驶舱可视化，异常预警前置处置</a:t>
              </a:r>
              <a:endParaRPr lang="zh-CN" altLang="en-US" sz="1400"/>
            </a:p>
          </p:txBody>
        </p:sp>
      </p:grpSp>
      <p:grpSp>
        <p:nvGrpSpPr>
          <p:cNvPr id="7" name="组合 6"/>
          <p:cNvGrpSpPr/>
          <p:nvPr>
            <p:custDataLst>
              <p:tags r:id="rId4"/>
            </p:custDataLst>
          </p:nvPr>
        </p:nvGrpSpPr>
        <p:grpSpPr>
          <a:xfrm>
            <a:off x="1053465" y="4254500"/>
            <a:ext cx="2829560" cy="1489075"/>
            <a:chOff x="1851" y="5258"/>
            <a:chExt cx="4456" cy="2345"/>
          </a:xfrm>
        </p:grpSpPr>
        <p:sp>
          <p:nvSpPr>
            <p:cNvPr id="24" name="圆角矩形 23"/>
            <p:cNvSpPr/>
            <p:nvPr>
              <p:custDataLst>
                <p:tags r:id="rId5"/>
              </p:custDataLst>
            </p:nvPr>
          </p:nvSpPr>
          <p:spPr>
            <a:xfrm>
              <a:off x="1851" y="5258"/>
              <a:ext cx="4456" cy="2345"/>
            </a:xfrm>
            <a:prstGeom prst="round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19" name="文本框 18"/>
            <p:cNvSpPr txBox="1"/>
            <p:nvPr>
              <p:custDataLst>
                <p:tags r:id="rId6"/>
              </p:custDataLst>
            </p:nvPr>
          </p:nvSpPr>
          <p:spPr>
            <a:xfrm>
              <a:off x="2441" y="5463"/>
              <a:ext cx="3299" cy="1787"/>
            </a:xfrm>
            <a:prstGeom prst="round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chemeClr val="accent5">
                      <a:lumMod val="40000"/>
                      <a:lumOff val="60000"/>
                    </a:schemeClr>
                  </a:solidFill>
                </a14:hiddenFill>
              </a:ext>
            </a:extLst>
          </p:spPr>
          <p:txBody>
            <a:bodyPr wrap="square" rtlCol="0">
              <a:spAutoFit/>
            </a:bodyPr>
            <a:p>
              <a:r>
                <a:rPr lang="zh-CN" altLang="en-US" sz="2000" b="1"/>
                <a:t>监管合规</a:t>
              </a:r>
              <a:endParaRPr lang="zh-CN" altLang="en-US" sz="2000" b="1"/>
            </a:p>
            <a:p>
              <a:endParaRPr lang="zh-CN" altLang="en-US" sz="1400"/>
            </a:p>
            <a:p>
              <a:r>
                <a:rPr lang="zh-CN" altLang="en-US" sz="1400"/>
                <a:t>账册、核注、实物库存一体联动</a:t>
              </a:r>
              <a:endParaRPr lang="zh-CN" altLang="en-US" sz="1400"/>
            </a:p>
          </p:txBody>
        </p:sp>
      </p:grpSp>
      <p:grpSp>
        <p:nvGrpSpPr>
          <p:cNvPr id="11" name="组合 10"/>
          <p:cNvGrpSpPr/>
          <p:nvPr>
            <p:custDataLst>
              <p:tags r:id="rId7"/>
            </p:custDataLst>
          </p:nvPr>
        </p:nvGrpSpPr>
        <p:grpSpPr>
          <a:xfrm>
            <a:off x="8056245" y="4254500"/>
            <a:ext cx="2773680" cy="1489075"/>
            <a:chOff x="12878" y="5256"/>
            <a:chExt cx="4457" cy="1885"/>
          </a:xfrm>
        </p:grpSpPr>
        <p:sp>
          <p:nvSpPr>
            <p:cNvPr id="31" name="圆角矩形 30"/>
            <p:cNvSpPr/>
            <p:nvPr>
              <p:custDataLst>
                <p:tags r:id="rId8"/>
              </p:custDataLst>
            </p:nvPr>
          </p:nvSpPr>
          <p:spPr>
            <a:xfrm>
              <a:off x="12878" y="5256"/>
              <a:ext cx="4457" cy="1885"/>
            </a:xfrm>
            <a:prstGeom prst="roundRect">
              <a:avLst/>
            </a:prstGeom>
            <a:solidFill>
              <a:schemeClr val="accent6">
                <a:lumMod val="60000"/>
                <a:lumOff val="40000"/>
              </a:schemeClr>
            </a:solidFill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20" name="文本框 19"/>
            <p:cNvSpPr txBox="1"/>
            <p:nvPr>
              <p:custDataLst>
                <p:tags r:id="rId9"/>
              </p:custDataLst>
            </p:nvPr>
          </p:nvSpPr>
          <p:spPr>
            <a:xfrm>
              <a:off x="13445" y="5461"/>
              <a:ext cx="3269" cy="1633"/>
            </a:xfrm>
            <a:prstGeom prst="round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zh-CN" altLang="en-US" sz="2000" b="1"/>
                <a:t>作业提效</a:t>
              </a:r>
              <a:endParaRPr lang="zh-CN" altLang="en-US" sz="2000" b="1"/>
            </a:p>
            <a:p>
              <a:endParaRPr lang="zh-CN" altLang="en-US" sz="2000" b="1"/>
            </a:p>
            <a:p>
              <a:r>
                <a:rPr lang="zh-CN" altLang="en-US" sz="1400"/>
                <a:t>入出库、移库、盘点、生产全流程在线</a:t>
              </a:r>
              <a:endParaRPr lang="zh-CN" altLang="en-US" sz="1400"/>
            </a:p>
          </p:txBody>
        </p:sp>
      </p:grpSp>
      <p:sp>
        <p:nvSpPr>
          <p:cNvPr id="5" name="文本框 4"/>
          <p:cNvSpPr txBox="1"/>
          <p:nvPr/>
        </p:nvSpPr>
        <p:spPr>
          <a:xfrm>
            <a:off x="1053465" y="1283335"/>
            <a:ext cx="9832975" cy="2428240"/>
          </a:xfrm>
          <a:prstGeom prst="flowChartAlternateProcess">
            <a:avLst/>
          </a:prstGeom>
          <a:noFill/>
          <a:ln w="28575">
            <a:solidFill>
              <a:srgbClr val="00B0F0"/>
            </a:solidFill>
          </a:ln>
        </p:spPr>
        <p:txBody>
          <a:bodyPr wrap="square" rtlCol="0" anchor="t">
            <a:noAutofit/>
          </a:bodyPr>
          <a:p>
            <a:pPr>
              <a:lnSpc>
                <a:spcPct val="150000"/>
              </a:lnSpc>
            </a:pPr>
            <a:r>
              <a:rPr lang="zh-CN" altLang="en-US"/>
              <a:t>本项目面向广西丰联铜业铜精矿保税仓储，建设覆盖基础数据、入出库、移库、库存、生产完工、关务监管、</a:t>
            </a:r>
            <a:r>
              <a:rPr lang="en-US" altLang="zh-CN"/>
              <a:t>OCR </a:t>
            </a:r>
            <a:r>
              <a:rPr lang="zh-CN" altLang="en-US"/>
              <a:t>识别与对外对接的一体化 </a:t>
            </a:r>
            <a:r>
              <a:rPr lang="en-US" altLang="zh-CN"/>
              <a:t>WMS。</a:t>
            </a:r>
            <a:r>
              <a:rPr lang="zh-CN" altLang="en-US"/>
              <a:t>现场为 5 个仓库（1、2、4、5、6 仓），仓下设堆位；片区标识随查验在原料 / 待检 / 混成品等状态间变更。原料在库身份取报关单号，混矿产出取生产批次号，同一生产批次可挂接多票报关单。系统支撑海关专用账号隔离、账实自动对账、库容与库龄预警，以及全过程操作留痕，满足保税监管与日常作业协同。</a:t>
            </a:r>
            <a:endParaRPr lang="zh-CN" altLang="en-US"/>
          </a:p>
        </p:txBody>
      </p:sp>
    </p:spTree>
  </p:cSld>
  <p:clrMapOvr>
    <a:masterClrMapping/>
  </p:clrMapOvr>
  <p:transition spd="slow" advClick="0" advTm="2000"/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/>
          <p:nvPr/>
        </p:nvSpPr>
        <p:spPr>
          <a:xfrm>
            <a:off x="-8778" y="2187526"/>
            <a:ext cx="3441344" cy="2467516"/>
          </a:xfrm>
          <a:custGeom>
            <a:avLst/>
            <a:gdLst>
              <a:gd name="connsiteX0" fmla="*/ 0 w 3441344"/>
              <a:gd name="connsiteY0" fmla="*/ 0 h 2467516"/>
              <a:gd name="connsiteX1" fmla="*/ 3441344 w 3441344"/>
              <a:gd name="connsiteY1" fmla="*/ 0 h 2467516"/>
              <a:gd name="connsiteX2" fmla="*/ 3441344 w 3441344"/>
              <a:gd name="connsiteY2" fmla="*/ 2467516 h 2467516"/>
              <a:gd name="connsiteX3" fmla="*/ 0 w 3441344"/>
              <a:gd name="connsiteY3" fmla="*/ 2467516 h 2467516"/>
              <a:gd name="connsiteX4" fmla="*/ 0 w 3441344"/>
              <a:gd name="connsiteY4" fmla="*/ 0 h 2467516"/>
              <a:gd name="connsiteX0-1" fmla="*/ 0 w 3441344"/>
              <a:gd name="connsiteY0-2" fmla="*/ 0 h 2467516"/>
              <a:gd name="connsiteX1-3" fmla="*/ 3441344 w 3441344"/>
              <a:gd name="connsiteY1-4" fmla="*/ 0 h 2467516"/>
              <a:gd name="connsiteX2-5" fmla="*/ 3441344 w 3441344"/>
              <a:gd name="connsiteY2-6" fmla="*/ 2467516 h 2467516"/>
              <a:gd name="connsiteX3-7" fmla="*/ 2822366 w 3441344"/>
              <a:gd name="connsiteY3-8" fmla="*/ 2461846 h 2467516"/>
              <a:gd name="connsiteX4-9" fmla="*/ 0 w 3441344"/>
              <a:gd name="connsiteY4-10" fmla="*/ 2467516 h 2467516"/>
              <a:gd name="connsiteX5" fmla="*/ 0 w 3441344"/>
              <a:gd name="connsiteY5" fmla="*/ 0 h 2467516"/>
              <a:gd name="connsiteX0-11" fmla="*/ 0 w 3441344"/>
              <a:gd name="connsiteY0-12" fmla="*/ 0 h 2467516"/>
              <a:gd name="connsiteX1-13" fmla="*/ 3441344 w 3441344"/>
              <a:gd name="connsiteY1-14" fmla="*/ 0 h 2467516"/>
              <a:gd name="connsiteX2-15" fmla="*/ 3441344 w 3441344"/>
              <a:gd name="connsiteY2-16" fmla="*/ 2467516 h 2467516"/>
              <a:gd name="connsiteX3-17" fmla="*/ 2822366 w 3441344"/>
              <a:gd name="connsiteY3-18" fmla="*/ 2461846 h 2467516"/>
              <a:gd name="connsiteX4-19" fmla="*/ 2822366 w 3441344"/>
              <a:gd name="connsiteY4-20" fmla="*/ 2461846 h 2467516"/>
              <a:gd name="connsiteX5-21" fmla="*/ 0 w 3441344"/>
              <a:gd name="connsiteY5-22" fmla="*/ 2467516 h 2467516"/>
              <a:gd name="connsiteX6" fmla="*/ 0 w 3441344"/>
              <a:gd name="connsiteY6" fmla="*/ 0 h 2467516"/>
              <a:gd name="connsiteX0-23" fmla="*/ 0 w 3441344"/>
              <a:gd name="connsiteY0-24" fmla="*/ 0 h 2467516"/>
              <a:gd name="connsiteX1-25" fmla="*/ 3441344 w 3441344"/>
              <a:gd name="connsiteY1-26" fmla="*/ 0 h 2467516"/>
              <a:gd name="connsiteX2-27" fmla="*/ 2822366 w 3441344"/>
              <a:gd name="connsiteY2-28" fmla="*/ 2461846 h 2467516"/>
              <a:gd name="connsiteX3-29" fmla="*/ 2822366 w 3441344"/>
              <a:gd name="connsiteY3-30" fmla="*/ 2461846 h 2467516"/>
              <a:gd name="connsiteX4-31" fmla="*/ 0 w 3441344"/>
              <a:gd name="connsiteY4-32" fmla="*/ 2467516 h 2467516"/>
              <a:gd name="connsiteX5-33" fmla="*/ 0 w 3441344"/>
              <a:gd name="connsiteY5-34" fmla="*/ 0 h 2467516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  <a:cxn ang="0">
                <a:pos x="connsiteX5-21" y="connsiteY5-22"/>
              </a:cxn>
            </a:cxnLst>
            <a:rect l="l" t="t" r="r" b="b"/>
            <a:pathLst>
              <a:path w="3441344" h="2467516">
                <a:moveTo>
                  <a:pt x="0" y="0"/>
                </a:moveTo>
                <a:lnTo>
                  <a:pt x="3441344" y="0"/>
                </a:lnTo>
                <a:lnTo>
                  <a:pt x="2822366" y="2461846"/>
                </a:lnTo>
                <a:lnTo>
                  <a:pt x="2822366" y="2461846"/>
                </a:lnTo>
                <a:lnTo>
                  <a:pt x="0" y="2467516"/>
                </a:lnTo>
                <a:lnTo>
                  <a:pt x="0" y="0"/>
                </a:lnTo>
                <a:close/>
              </a:path>
            </a:pathLst>
          </a:custGeom>
          <a:solidFill>
            <a:srgbClr val="11559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  <a:sym typeface="+mn-lt"/>
            </a:endParaRPr>
          </a:p>
        </p:txBody>
      </p:sp>
      <p:sp>
        <p:nvSpPr>
          <p:cNvPr id="4" name="矩形 3"/>
          <p:cNvSpPr/>
          <p:nvPr/>
        </p:nvSpPr>
        <p:spPr>
          <a:xfrm>
            <a:off x="0" y="2310063"/>
            <a:ext cx="12192000" cy="2229853"/>
          </a:xfrm>
          <a:prstGeom prst="rect">
            <a:avLst/>
          </a:prstGeom>
          <a:solidFill>
            <a:srgbClr val="404F6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  <a:sym typeface="+mn-lt"/>
            </a:endParaRPr>
          </a:p>
        </p:txBody>
      </p:sp>
      <p:sp>
        <p:nvSpPr>
          <p:cNvPr id="13" name="矩形 4"/>
          <p:cNvSpPr/>
          <p:nvPr/>
        </p:nvSpPr>
        <p:spPr>
          <a:xfrm>
            <a:off x="-8778" y="2315865"/>
            <a:ext cx="3371889" cy="2235067"/>
          </a:xfrm>
          <a:custGeom>
            <a:avLst/>
            <a:gdLst>
              <a:gd name="connsiteX0" fmla="*/ 0 w 3441344"/>
              <a:gd name="connsiteY0" fmla="*/ 0 h 2467516"/>
              <a:gd name="connsiteX1" fmla="*/ 3441344 w 3441344"/>
              <a:gd name="connsiteY1" fmla="*/ 0 h 2467516"/>
              <a:gd name="connsiteX2" fmla="*/ 3441344 w 3441344"/>
              <a:gd name="connsiteY2" fmla="*/ 2467516 h 2467516"/>
              <a:gd name="connsiteX3" fmla="*/ 0 w 3441344"/>
              <a:gd name="connsiteY3" fmla="*/ 2467516 h 2467516"/>
              <a:gd name="connsiteX4" fmla="*/ 0 w 3441344"/>
              <a:gd name="connsiteY4" fmla="*/ 0 h 2467516"/>
              <a:gd name="connsiteX0-1" fmla="*/ 0 w 3441344"/>
              <a:gd name="connsiteY0-2" fmla="*/ 0 h 2467516"/>
              <a:gd name="connsiteX1-3" fmla="*/ 3441344 w 3441344"/>
              <a:gd name="connsiteY1-4" fmla="*/ 0 h 2467516"/>
              <a:gd name="connsiteX2-5" fmla="*/ 3441344 w 3441344"/>
              <a:gd name="connsiteY2-6" fmla="*/ 2467516 h 2467516"/>
              <a:gd name="connsiteX3-7" fmla="*/ 2822366 w 3441344"/>
              <a:gd name="connsiteY3-8" fmla="*/ 2461846 h 2467516"/>
              <a:gd name="connsiteX4-9" fmla="*/ 0 w 3441344"/>
              <a:gd name="connsiteY4-10" fmla="*/ 2467516 h 2467516"/>
              <a:gd name="connsiteX5" fmla="*/ 0 w 3441344"/>
              <a:gd name="connsiteY5" fmla="*/ 0 h 2467516"/>
              <a:gd name="connsiteX0-11" fmla="*/ 0 w 3441344"/>
              <a:gd name="connsiteY0-12" fmla="*/ 0 h 2467516"/>
              <a:gd name="connsiteX1-13" fmla="*/ 3441344 w 3441344"/>
              <a:gd name="connsiteY1-14" fmla="*/ 0 h 2467516"/>
              <a:gd name="connsiteX2-15" fmla="*/ 3441344 w 3441344"/>
              <a:gd name="connsiteY2-16" fmla="*/ 2467516 h 2467516"/>
              <a:gd name="connsiteX3-17" fmla="*/ 2822366 w 3441344"/>
              <a:gd name="connsiteY3-18" fmla="*/ 2461846 h 2467516"/>
              <a:gd name="connsiteX4-19" fmla="*/ 2822366 w 3441344"/>
              <a:gd name="connsiteY4-20" fmla="*/ 2461846 h 2467516"/>
              <a:gd name="connsiteX5-21" fmla="*/ 0 w 3441344"/>
              <a:gd name="connsiteY5-22" fmla="*/ 2467516 h 2467516"/>
              <a:gd name="connsiteX6" fmla="*/ 0 w 3441344"/>
              <a:gd name="connsiteY6" fmla="*/ 0 h 2467516"/>
              <a:gd name="connsiteX0-23" fmla="*/ 0 w 3441344"/>
              <a:gd name="connsiteY0-24" fmla="*/ 0 h 2467516"/>
              <a:gd name="connsiteX1-25" fmla="*/ 3441344 w 3441344"/>
              <a:gd name="connsiteY1-26" fmla="*/ 0 h 2467516"/>
              <a:gd name="connsiteX2-27" fmla="*/ 2822366 w 3441344"/>
              <a:gd name="connsiteY2-28" fmla="*/ 2461846 h 2467516"/>
              <a:gd name="connsiteX3-29" fmla="*/ 2822366 w 3441344"/>
              <a:gd name="connsiteY3-30" fmla="*/ 2461846 h 2467516"/>
              <a:gd name="connsiteX4-31" fmla="*/ 0 w 3441344"/>
              <a:gd name="connsiteY4-32" fmla="*/ 2467516 h 2467516"/>
              <a:gd name="connsiteX5-33" fmla="*/ 0 w 3441344"/>
              <a:gd name="connsiteY5-34" fmla="*/ 0 h 2467516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  <a:cxn ang="0">
                <a:pos x="connsiteX5-21" y="connsiteY5-22"/>
              </a:cxn>
            </a:cxnLst>
            <a:rect l="l" t="t" r="r" b="b"/>
            <a:pathLst>
              <a:path w="3441344" h="2467516">
                <a:moveTo>
                  <a:pt x="0" y="0"/>
                </a:moveTo>
                <a:lnTo>
                  <a:pt x="3441344" y="0"/>
                </a:lnTo>
                <a:lnTo>
                  <a:pt x="2822366" y="2461846"/>
                </a:lnTo>
                <a:lnTo>
                  <a:pt x="2822366" y="2461846"/>
                </a:lnTo>
                <a:lnTo>
                  <a:pt x="0" y="2467516"/>
                </a:lnTo>
                <a:lnTo>
                  <a:pt x="0" y="0"/>
                </a:lnTo>
                <a:close/>
              </a:path>
            </a:pathLst>
          </a:custGeom>
          <a:solidFill>
            <a:srgbClr val="11559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  <a:sym typeface="+mn-lt"/>
            </a:endParaRPr>
          </a:p>
        </p:txBody>
      </p:sp>
      <p:sp>
        <p:nvSpPr>
          <p:cNvPr id="34" name="文本框 33"/>
          <p:cNvSpPr txBox="1"/>
          <p:nvPr/>
        </p:nvSpPr>
        <p:spPr>
          <a:xfrm>
            <a:off x="274320" y="2909115"/>
            <a:ext cx="6243320" cy="1107440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r>
              <a:rPr lang="en-US" altLang="zh-CN" sz="7200" dirty="0">
                <a:solidFill>
                  <a:schemeClr val="bg1"/>
                </a:solidFill>
                <a:cs typeface="+mn-ea"/>
                <a:sym typeface="+mn-lt"/>
              </a:rPr>
              <a:t>PART    02</a:t>
            </a:r>
            <a:endParaRPr lang="en-US" altLang="zh-CN" sz="7200" dirty="0">
              <a:solidFill>
                <a:schemeClr val="bg1"/>
              </a:solidFill>
              <a:cs typeface="+mn-ea"/>
              <a:sym typeface="+mn-lt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7786129" y="2921497"/>
            <a:ext cx="3571240" cy="1015365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r"/>
            <a:r>
              <a:rPr lang="zh-CN" altLang="en-US" sz="6600" b="1" spc="400" dirty="0">
                <a:solidFill>
                  <a:schemeClr val="bg1"/>
                </a:solidFill>
                <a:uFillTx/>
                <a:cs typeface="+mn-ea"/>
                <a:sym typeface="+mn-lt"/>
              </a:rPr>
              <a:t>系统介绍</a:t>
            </a:r>
            <a:endParaRPr lang="zh-CN" altLang="en-US" sz="6600" b="1" spc="400" dirty="0">
              <a:solidFill>
                <a:schemeClr val="bg1"/>
              </a:solidFill>
              <a:uFillTx/>
              <a:cs typeface="+mn-ea"/>
              <a:sym typeface="+mn-lt"/>
            </a:endParaRPr>
          </a:p>
        </p:txBody>
      </p:sp>
    </p:spTree>
  </p:cSld>
  <p:clrMapOvr>
    <a:masterClrMapping/>
  </p:clrMapOvr>
  <p:transition spd="slow" advClick="0" advTm="2000"/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五边形 24"/>
          <p:cNvSpPr/>
          <p:nvPr/>
        </p:nvSpPr>
        <p:spPr>
          <a:xfrm>
            <a:off x="0" y="0"/>
            <a:ext cx="2247900" cy="838200"/>
          </a:xfrm>
          <a:custGeom>
            <a:avLst/>
            <a:gdLst>
              <a:gd name="connsiteX0" fmla="*/ 0 w 2641600"/>
              <a:gd name="connsiteY0" fmla="*/ 0 h 787400"/>
              <a:gd name="connsiteX1" fmla="*/ 2247900 w 2641600"/>
              <a:gd name="connsiteY1" fmla="*/ 0 h 787400"/>
              <a:gd name="connsiteX2" fmla="*/ 2641600 w 2641600"/>
              <a:gd name="connsiteY2" fmla="*/ 393700 h 787400"/>
              <a:gd name="connsiteX3" fmla="*/ 2247900 w 2641600"/>
              <a:gd name="connsiteY3" fmla="*/ 787400 h 787400"/>
              <a:gd name="connsiteX4" fmla="*/ 0 w 2641600"/>
              <a:gd name="connsiteY4" fmla="*/ 787400 h 787400"/>
              <a:gd name="connsiteX5" fmla="*/ 0 w 2641600"/>
              <a:gd name="connsiteY5" fmla="*/ 0 h 787400"/>
              <a:gd name="connsiteX0-1" fmla="*/ 0 w 2247900"/>
              <a:gd name="connsiteY0-2" fmla="*/ 0 h 787400"/>
              <a:gd name="connsiteX1-3" fmla="*/ 2247900 w 2247900"/>
              <a:gd name="connsiteY1-4" fmla="*/ 0 h 787400"/>
              <a:gd name="connsiteX2-5" fmla="*/ 2247900 w 2247900"/>
              <a:gd name="connsiteY2-6" fmla="*/ 787400 h 787400"/>
              <a:gd name="connsiteX3-7" fmla="*/ 0 w 2247900"/>
              <a:gd name="connsiteY3-8" fmla="*/ 787400 h 787400"/>
              <a:gd name="connsiteX4-9" fmla="*/ 0 w 2247900"/>
              <a:gd name="connsiteY4-10" fmla="*/ 0 h 787400"/>
              <a:gd name="connsiteX0-11" fmla="*/ 0 w 2247900"/>
              <a:gd name="connsiteY0-12" fmla="*/ 0 h 787400"/>
              <a:gd name="connsiteX1-13" fmla="*/ 2158690 w 2247900"/>
              <a:gd name="connsiteY1-14" fmla="*/ 0 h 787400"/>
              <a:gd name="connsiteX2-15" fmla="*/ 2247900 w 2247900"/>
              <a:gd name="connsiteY2-16" fmla="*/ 787400 h 787400"/>
              <a:gd name="connsiteX3-17" fmla="*/ 0 w 2247900"/>
              <a:gd name="connsiteY3-18" fmla="*/ 787400 h 787400"/>
              <a:gd name="connsiteX4-19" fmla="*/ 0 w 2247900"/>
              <a:gd name="connsiteY4-20" fmla="*/ 0 h 787400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</a:cxnLst>
            <a:rect l="l" t="t" r="r" b="b"/>
            <a:pathLst>
              <a:path w="2247900" h="787400">
                <a:moveTo>
                  <a:pt x="0" y="0"/>
                </a:moveTo>
                <a:lnTo>
                  <a:pt x="2158690" y="0"/>
                </a:lnTo>
                <a:lnTo>
                  <a:pt x="2247900" y="787400"/>
                </a:lnTo>
                <a:lnTo>
                  <a:pt x="0" y="787400"/>
                </a:lnTo>
                <a:lnTo>
                  <a:pt x="0" y="0"/>
                </a:lnTo>
                <a:close/>
              </a:path>
            </a:pathLst>
          </a:cu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2400" dirty="0">
                <a:latin typeface="苹方-简" panose="020B0400000000000000" charset="-122"/>
                <a:ea typeface="苹方-简" panose="020B0400000000000000" charset="-122"/>
                <a:cs typeface="+mn-ea"/>
                <a:sym typeface="+mn-lt"/>
              </a:rPr>
              <a:t>平台介绍</a:t>
            </a:r>
            <a:endParaRPr lang="zh-CN" altLang="en-US" sz="2400" dirty="0">
              <a:latin typeface="苹方-简" panose="020B0400000000000000" charset="-122"/>
              <a:ea typeface="苹方-简" panose="020B0400000000000000" charset="-122"/>
              <a:cs typeface="+mn-ea"/>
              <a:sym typeface="+mn-lt"/>
            </a:endParaRPr>
          </a:p>
        </p:txBody>
      </p:sp>
      <p:sp>
        <p:nvSpPr>
          <p:cNvPr id="4" name="矩形 3"/>
          <p:cNvSpPr/>
          <p:nvPr/>
        </p:nvSpPr>
        <p:spPr>
          <a:xfrm>
            <a:off x="2247900" y="188595"/>
            <a:ext cx="5273675" cy="429895"/>
          </a:xfrm>
          <a:prstGeom prst="rect">
            <a:avLst/>
          </a:prstGeom>
        </p:spPr>
        <p:txBody>
          <a:bodyPr wrap="square">
            <a:spAutoFit/>
          </a:bodyPr>
          <a:p>
            <a:pPr algn="l"/>
            <a:r>
              <a:rPr lang="zh-CN" altLang="en-US" sz="2200" spc="100" dirty="0">
                <a:solidFill>
                  <a:schemeClr val="bg1"/>
                </a:solidFill>
                <a:uFillTx/>
                <a:latin typeface="苹方-简" panose="020B0400000000000000" charset="-122"/>
                <a:ea typeface="苹方-简" panose="020B0400000000000000" charset="-122"/>
                <a:cs typeface="+mn-ea"/>
              </a:rPr>
              <a:t>系统架构</a:t>
            </a:r>
            <a:endParaRPr lang="zh-CN" altLang="en-US" sz="2200" spc="100" dirty="0">
              <a:solidFill>
                <a:schemeClr val="bg1"/>
              </a:solidFill>
              <a:uFillTx/>
              <a:latin typeface="苹方-简" panose="020B0400000000000000" charset="-122"/>
              <a:ea typeface="苹方-简" panose="020B0400000000000000" charset="-122"/>
              <a:cs typeface="+mn-ea"/>
            </a:endParaRPr>
          </a:p>
        </p:txBody>
      </p:sp>
      <p:pic>
        <p:nvPicPr>
          <p:cNvPr id="2" name="图片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56335" y="970915"/>
            <a:ext cx="9559290" cy="5741035"/>
          </a:xfrm>
          <a:prstGeom prst="rect">
            <a:avLst/>
          </a:prstGeom>
        </p:spPr>
      </p:pic>
    </p:spTree>
  </p:cSld>
  <p:clrMapOvr>
    <a:masterClrMapping/>
  </p:clrMapOvr>
  <p:transition spd="slow" advClick="0" advTm="2000"/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五边形 24"/>
          <p:cNvSpPr/>
          <p:nvPr/>
        </p:nvSpPr>
        <p:spPr>
          <a:xfrm>
            <a:off x="0" y="0"/>
            <a:ext cx="2247900" cy="838200"/>
          </a:xfrm>
          <a:custGeom>
            <a:avLst/>
            <a:gdLst>
              <a:gd name="connsiteX0" fmla="*/ 0 w 2641600"/>
              <a:gd name="connsiteY0" fmla="*/ 0 h 787400"/>
              <a:gd name="connsiteX1" fmla="*/ 2247900 w 2641600"/>
              <a:gd name="connsiteY1" fmla="*/ 0 h 787400"/>
              <a:gd name="connsiteX2" fmla="*/ 2641600 w 2641600"/>
              <a:gd name="connsiteY2" fmla="*/ 393700 h 787400"/>
              <a:gd name="connsiteX3" fmla="*/ 2247900 w 2641600"/>
              <a:gd name="connsiteY3" fmla="*/ 787400 h 787400"/>
              <a:gd name="connsiteX4" fmla="*/ 0 w 2641600"/>
              <a:gd name="connsiteY4" fmla="*/ 787400 h 787400"/>
              <a:gd name="connsiteX5" fmla="*/ 0 w 2641600"/>
              <a:gd name="connsiteY5" fmla="*/ 0 h 787400"/>
              <a:gd name="connsiteX0-1" fmla="*/ 0 w 2247900"/>
              <a:gd name="connsiteY0-2" fmla="*/ 0 h 787400"/>
              <a:gd name="connsiteX1-3" fmla="*/ 2247900 w 2247900"/>
              <a:gd name="connsiteY1-4" fmla="*/ 0 h 787400"/>
              <a:gd name="connsiteX2-5" fmla="*/ 2247900 w 2247900"/>
              <a:gd name="connsiteY2-6" fmla="*/ 787400 h 787400"/>
              <a:gd name="connsiteX3-7" fmla="*/ 0 w 2247900"/>
              <a:gd name="connsiteY3-8" fmla="*/ 787400 h 787400"/>
              <a:gd name="connsiteX4-9" fmla="*/ 0 w 2247900"/>
              <a:gd name="connsiteY4-10" fmla="*/ 0 h 787400"/>
              <a:gd name="connsiteX0-11" fmla="*/ 0 w 2247900"/>
              <a:gd name="connsiteY0-12" fmla="*/ 0 h 787400"/>
              <a:gd name="connsiteX1-13" fmla="*/ 2158690 w 2247900"/>
              <a:gd name="connsiteY1-14" fmla="*/ 0 h 787400"/>
              <a:gd name="connsiteX2-15" fmla="*/ 2247900 w 2247900"/>
              <a:gd name="connsiteY2-16" fmla="*/ 787400 h 787400"/>
              <a:gd name="connsiteX3-17" fmla="*/ 0 w 2247900"/>
              <a:gd name="connsiteY3-18" fmla="*/ 787400 h 787400"/>
              <a:gd name="connsiteX4-19" fmla="*/ 0 w 2247900"/>
              <a:gd name="connsiteY4-20" fmla="*/ 0 h 787400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</a:cxnLst>
            <a:rect l="l" t="t" r="r" b="b"/>
            <a:pathLst>
              <a:path w="2247900" h="787400">
                <a:moveTo>
                  <a:pt x="0" y="0"/>
                </a:moveTo>
                <a:lnTo>
                  <a:pt x="2158690" y="0"/>
                </a:lnTo>
                <a:lnTo>
                  <a:pt x="2247900" y="787400"/>
                </a:lnTo>
                <a:lnTo>
                  <a:pt x="0" y="787400"/>
                </a:lnTo>
                <a:lnTo>
                  <a:pt x="0" y="0"/>
                </a:lnTo>
                <a:close/>
              </a:path>
            </a:pathLst>
          </a:cu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2400" dirty="0">
                <a:latin typeface="苹方-简" panose="020B0400000000000000" charset="-122"/>
                <a:ea typeface="苹方-简" panose="020B0400000000000000" charset="-122"/>
                <a:cs typeface="+mn-ea"/>
                <a:sym typeface="+mn-lt"/>
              </a:rPr>
              <a:t>保税</a:t>
            </a:r>
            <a:r>
              <a:rPr lang="en-US" altLang="zh-CN" sz="2400" dirty="0">
                <a:latin typeface="苹方-简" panose="020B0400000000000000" charset="-122"/>
                <a:ea typeface="苹方-简" panose="020B0400000000000000" charset="-122"/>
                <a:cs typeface="+mn-ea"/>
                <a:sym typeface="+mn-lt"/>
              </a:rPr>
              <a:t>WMS</a:t>
            </a:r>
            <a:r>
              <a:rPr lang="zh-CN" altLang="en-US" sz="2400" dirty="0">
                <a:latin typeface="苹方-简" panose="020B0400000000000000" charset="-122"/>
                <a:ea typeface="苹方-简" panose="020B0400000000000000" charset="-122"/>
                <a:cs typeface="+mn-ea"/>
                <a:sym typeface="+mn-lt"/>
              </a:rPr>
              <a:t>平台</a:t>
            </a:r>
            <a:endParaRPr lang="zh-CN" altLang="en-US" sz="2400" dirty="0">
              <a:latin typeface="苹方-简" panose="020B0400000000000000" charset="-122"/>
              <a:ea typeface="苹方-简" panose="020B0400000000000000" charset="-122"/>
              <a:cs typeface="+mn-ea"/>
              <a:sym typeface="+mn-lt"/>
            </a:endParaRPr>
          </a:p>
        </p:txBody>
      </p:sp>
      <p:sp>
        <p:nvSpPr>
          <p:cNvPr id="4" name="矩形 3"/>
          <p:cNvSpPr/>
          <p:nvPr/>
        </p:nvSpPr>
        <p:spPr>
          <a:xfrm>
            <a:off x="2247900" y="188595"/>
            <a:ext cx="5273675" cy="429895"/>
          </a:xfrm>
          <a:prstGeom prst="rect">
            <a:avLst/>
          </a:prstGeom>
        </p:spPr>
        <p:txBody>
          <a:bodyPr wrap="square">
            <a:spAutoFit/>
          </a:bodyPr>
          <a:p>
            <a:pPr algn="l"/>
            <a:r>
              <a:rPr lang="zh-CN" altLang="en-US" sz="2200" dirty="0">
                <a:solidFill>
                  <a:schemeClr val="lt1"/>
                </a:solidFill>
                <a:latin typeface="苹方-简" panose="020B0400000000000000" charset="-122"/>
                <a:ea typeface="苹方-简" panose="020B0400000000000000" charset="-122"/>
                <a:cs typeface="+mn-ea"/>
              </a:rPr>
              <a:t>平台优势</a:t>
            </a:r>
            <a:endParaRPr lang="zh-CN" altLang="en-US" sz="2200" dirty="0">
              <a:solidFill>
                <a:schemeClr val="lt1"/>
              </a:solidFill>
              <a:latin typeface="苹方-简" panose="020B0400000000000000" charset="-122"/>
              <a:ea typeface="苹方-简" panose="020B0400000000000000" charset="-122"/>
              <a:cs typeface="+mn-ea"/>
            </a:endParaRPr>
          </a:p>
        </p:txBody>
      </p:sp>
      <p:sp>
        <p:nvSpPr>
          <p:cNvPr id="26" name="Freeform 5"/>
          <p:cNvSpPr/>
          <p:nvPr>
            <p:custDataLst>
              <p:tags r:id="rId1"/>
            </p:custDataLst>
          </p:nvPr>
        </p:nvSpPr>
        <p:spPr bwMode="auto">
          <a:xfrm rot="5400000">
            <a:off x="1375575" y="1809872"/>
            <a:ext cx="2263433" cy="2006063"/>
          </a:xfrm>
          <a:custGeom>
            <a:avLst/>
            <a:gdLst>
              <a:gd name="T0" fmla="*/ 407 w 1375"/>
              <a:gd name="T1" fmla="*/ 1218 h 1218"/>
              <a:gd name="T2" fmla="*/ 299 w 1375"/>
              <a:gd name="T3" fmla="*/ 1156 h 1218"/>
              <a:gd name="T4" fmla="*/ 19 w 1375"/>
              <a:gd name="T5" fmla="*/ 671 h 1218"/>
              <a:gd name="T6" fmla="*/ 19 w 1375"/>
              <a:gd name="T7" fmla="*/ 547 h 1218"/>
              <a:gd name="T8" fmla="*/ 299 w 1375"/>
              <a:gd name="T9" fmla="*/ 62 h 1218"/>
              <a:gd name="T10" fmla="*/ 407 w 1375"/>
              <a:gd name="T11" fmla="*/ 0 h 1218"/>
              <a:gd name="T12" fmla="*/ 967 w 1375"/>
              <a:gd name="T13" fmla="*/ 0 h 1218"/>
              <a:gd name="T14" fmla="*/ 1075 w 1375"/>
              <a:gd name="T15" fmla="*/ 62 h 1218"/>
              <a:gd name="T16" fmla="*/ 1355 w 1375"/>
              <a:gd name="T17" fmla="*/ 547 h 1218"/>
              <a:gd name="T18" fmla="*/ 1355 w 1375"/>
              <a:gd name="T19" fmla="*/ 671 h 1218"/>
              <a:gd name="T20" fmla="*/ 1075 w 1375"/>
              <a:gd name="T21" fmla="*/ 1156 h 1218"/>
              <a:gd name="T22" fmla="*/ 967 w 1375"/>
              <a:gd name="T23" fmla="*/ 1218 h 1218"/>
              <a:gd name="T24" fmla="*/ 407 w 1375"/>
              <a:gd name="T25" fmla="*/ 1218 h 121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</a:cxnLst>
            <a:rect l="0" t="0" r="r" b="b"/>
            <a:pathLst>
              <a:path w="1375" h="1218">
                <a:moveTo>
                  <a:pt x="407" y="1218"/>
                </a:moveTo>
                <a:cubicBezTo>
                  <a:pt x="368" y="1218"/>
                  <a:pt x="319" y="1190"/>
                  <a:pt x="299" y="1156"/>
                </a:cubicBezTo>
                <a:cubicBezTo>
                  <a:pt x="19" y="671"/>
                  <a:pt x="19" y="671"/>
                  <a:pt x="19" y="671"/>
                </a:cubicBezTo>
                <a:cubicBezTo>
                  <a:pt x="0" y="637"/>
                  <a:pt x="0" y="581"/>
                  <a:pt x="19" y="547"/>
                </a:cubicBezTo>
                <a:cubicBezTo>
                  <a:pt x="299" y="62"/>
                  <a:pt x="299" y="62"/>
                  <a:pt x="299" y="62"/>
                </a:cubicBezTo>
                <a:cubicBezTo>
                  <a:pt x="319" y="28"/>
                  <a:pt x="368" y="0"/>
                  <a:pt x="407" y="0"/>
                </a:cubicBezTo>
                <a:cubicBezTo>
                  <a:pt x="967" y="0"/>
                  <a:pt x="967" y="0"/>
                  <a:pt x="967" y="0"/>
                </a:cubicBezTo>
                <a:cubicBezTo>
                  <a:pt x="1007" y="0"/>
                  <a:pt x="1055" y="28"/>
                  <a:pt x="1075" y="62"/>
                </a:cubicBezTo>
                <a:cubicBezTo>
                  <a:pt x="1355" y="547"/>
                  <a:pt x="1355" y="547"/>
                  <a:pt x="1355" y="547"/>
                </a:cubicBezTo>
                <a:cubicBezTo>
                  <a:pt x="1375" y="581"/>
                  <a:pt x="1375" y="637"/>
                  <a:pt x="1355" y="671"/>
                </a:cubicBezTo>
                <a:cubicBezTo>
                  <a:pt x="1075" y="1156"/>
                  <a:pt x="1075" y="1156"/>
                  <a:pt x="1075" y="1156"/>
                </a:cubicBezTo>
                <a:cubicBezTo>
                  <a:pt x="1055" y="1190"/>
                  <a:pt x="1007" y="1218"/>
                  <a:pt x="967" y="1218"/>
                </a:cubicBezTo>
                <a:lnTo>
                  <a:pt x="407" y="1218"/>
                </a:lnTo>
                <a:close/>
              </a:path>
            </a:pathLst>
          </a:custGeom>
          <a:solidFill>
            <a:srgbClr val="3C87CF"/>
          </a:solidFill>
          <a:ln w="3810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35" tIns="45717" rIns="91435" bIns="45717" numCol="1" spcCol="0" rtlCol="0" fromWordArt="0" anchor="ctr" anchorCtr="0" forceAA="0" compatLnSpc="1">
            <a:noAutofit/>
          </a:bodyPr>
          <a:p>
            <a:pPr algn="ctr"/>
            <a:endParaRPr lang="zh-CN" altLang="en-US">
              <a:sym typeface="Arial" panose="020B0604020202020204" pitchFamily="34" charset="0"/>
            </a:endParaRPr>
          </a:p>
        </p:txBody>
      </p:sp>
      <p:sp>
        <p:nvSpPr>
          <p:cNvPr id="27" name="Freeform 5"/>
          <p:cNvSpPr/>
          <p:nvPr>
            <p:custDataLst>
              <p:tags r:id="rId2"/>
            </p:custDataLst>
          </p:nvPr>
        </p:nvSpPr>
        <p:spPr bwMode="auto">
          <a:xfrm rot="5400000">
            <a:off x="4980953" y="1809872"/>
            <a:ext cx="2263433" cy="2006063"/>
          </a:xfrm>
          <a:custGeom>
            <a:avLst/>
            <a:gdLst>
              <a:gd name="T0" fmla="*/ 407 w 1375"/>
              <a:gd name="T1" fmla="*/ 1218 h 1218"/>
              <a:gd name="T2" fmla="*/ 299 w 1375"/>
              <a:gd name="T3" fmla="*/ 1156 h 1218"/>
              <a:gd name="T4" fmla="*/ 19 w 1375"/>
              <a:gd name="T5" fmla="*/ 671 h 1218"/>
              <a:gd name="T6" fmla="*/ 19 w 1375"/>
              <a:gd name="T7" fmla="*/ 547 h 1218"/>
              <a:gd name="T8" fmla="*/ 299 w 1375"/>
              <a:gd name="T9" fmla="*/ 62 h 1218"/>
              <a:gd name="T10" fmla="*/ 407 w 1375"/>
              <a:gd name="T11" fmla="*/ 0 h 1218"/>
              <a:gd name="T12" fmla="*/ 967 w 1375"/>
              <a:gd name="T13" fmla="*/ 0 h 1218"/>
              <a:gd name="T14" fmla="*/ 1075 w 1375"/>
              <a:gd name="T15" fmla="*/ 62 h 1218"/>
              <a:gd name="T16" fmla="*/ 1355 w 1375"/>
              <a:gd name="T17" fmla="*/ 547 h 1218"/>
              <a:gd name="T18" fmla="*/ 1355 w 1375"/>
              <a:gd name="T19" fmla="*/ 671 h 1218"/>
              <a:gd name="T20" fmla="*/ 1075 w 1375"/>
              <a:gd name="T21" fmla="*/ 1156 h 1218"/>
              <a:gd name="T22" fmla="*/ 967 w 1375"/>
              <a:gd name="T23" fmla="*/ 1218 h 1218"/>
              <a:gd name="T24" fmla="*/ 407 w 1375"/>
              <a:gd name="T25" fmla="*/ 1218 h 121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</a:cxnLst>
            <a:rect l="0" t="0" r="r" b="b"/>
            <a:pathLst>
              <a:path w="1375" h="1218">
                <a:moveTo>
                  <a:pt x="407" y="1218"/>
                </a:moveTo>
                <a:cubicBezTo>
                  <a:pt x="368" y="1218"/>
                  <a:pt x="319" y="1190"/>
                  <a:pt x="299" y="1156"/>
                </a:cubicBezTo>
                <a:cubicBezTo>
                  <a:pt x="19" y="671"/>
                  <a:pt x="19" y="671"/>
                  <a:pt x="19" y="671"/>
                </a:cubicBezTo>
                <a:cubicBezTo>
                  <a:pt x="0" y="637"/>
                  <a:pt x="0" y="581"/>
                  <a:pt x="19" y="547"/>
                </a:cubicBezTo>
                <a:cubicBezTo>
                  <a:pt x="299" y="62"/>
                  <a:pt x="299" y="62"/>
                  <a:pt x="299" y="62"/>
                </a:cubicBezTo>
                <a:cubicBezTo>
                  <a:pt x="319" y="28"/>
                  <a:pt x="368" y="0"/>
                  <a:pt x="407" y="0"/>
                </a:cubicBezTo>
                <a:cubicBezTo>
                  <a:pt x="967" y="0"/>
                  <a:pt x="967" y="0"/>
                  <a:pt x="967" y="0"/>
                </a:cubicBezTo>
                <a:cubicBezTo>
                  <a:pt x="1007" y="0"/>
                  <a:pt x="1055" y="28"/>
                  <a:pt x="1075" y="62"/>
                </a:cubicBezTo>
                <a:cubicBezTo>
                  <a:pt x="1355" y="547"/>
                  <a:pt x="1355" y="547"/>
                  <a:pt x="1355" y="547"/>
                </a:cubicBezTo>
                <a:cubicBezTo>
                  <a:pt x="1375" y="581"/>
                  <a:pt x="1375" y="637"/>
                  <a:pt x="1355" y="671"/>
                </a:cubicBezTo>
                <a:cubicBezTo>
                  <a:pt x="1075" y="1156"/>
                  <a:pt x="1075" y="1156"/>
                  <a:pt x="1075" y="1156"/>
                </a:cubicBezTo>
                <a:cubicBezTo>
                  <a:pt x="1055" y="1190"/>
                  <a:pt x="1007" y="1218"/>
                  <a:pt x="967" y="1218"/>
                </a:cubicBezTo>
                <a:lnTo>
                  <a:pt x="407" y="1218"/>
                </a:lnTo>
                <a:close/>
              </a:path>
            </a:pathLst>
          </a:custGeom>
          <a:solidFill>
            <a:srgbClr val="404F64"/>
          </a:solidFill>
          <a:ln w="3810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35" tIns="45717" rIns="91435" bIns="45717" numCol="1" spcCol="0" rtlCol="0" fromWordArt="0" anchor="ctr" anchorCtr="0" forceAA="0" compatLnSpc="1">
            <a:noAutofit/>
          </a:bodyPr>
          <a:p>
            <a:pPr algn="ctr"/>
            <a:endParaRPr lang="zh-CN" altLang="en-US">
              <a:sym typeface="Arial" panose="020B0604020202020204" pitchFamily="34" charset="0"/>
            </a:endParaRPr>
          </a:p>
        </p:txBody>
      </p:sp>
      <p:sp>
        <p:nvSpPr>
          <p:cNvPr id="28" name="Freeform 5"/>
          <p:cNvSpPr/>
          <p:nvPr>
            <p:custDataLst>
              <p:tags r:id="rId3"/>
            </p:custDataLst>
          </p:nvPr>
        </p:nvSpPr>
        <p:spPr bwMode="auto">
          <a:xfrm rot="5400000">
            <a:off x="8553309" y="1809872"/>
            <a:ext cx="2263433" cy="2006063"/>
          </a:xfrm>
          <a:custGeom>
            <a:avLst/>
            <a:gdLst>
              <a:gd name="T0" fmla="*/ 407 w 1375"/>
              <a:gd name="T1" fmla="*/ 1218 h 1218"/>
              <a:gd name="T2" fmla="*/ 299 w 1375"/>
              <a:gd name="T3" fmla="*/ 1156 h 1218"/>
              <a:gd name="T4" fmla="*/ 19 w 1375"/>
              <a:gd name="T5" fmla="*/ 671 h 1218"/>
              <a:gd name="T6" fmla="*/ 19 w 1375"/>
              <a:gd name="T7" fmla="*/ 547 h 1218"/>
              <a:gd name="T8" fmla="*/ 299 w 1375"/>
              <a:gd name="T9" fmla="*/ 62 h 1218"/>
              <a:gd name="T10" fmla="*/ 407 w 1375"/>
              <a:gd name="T11" fmla="*/ 0 h 1218"/>
              <a:gd name="T12" fmla="*/ 967 w 1375"/>
              <a:gd name="T13" fmla="*/ 0 h 1218"/>
              <a:gd name="T14" fmla="*/ 1075 w 1375"/>
              <a:gd name="T15" fmla="*/ 62 h 1218"/>
              <a:gd name="T16" fmla="*/ 1355 w 1375"/>
              <a:gd name="T17" fmla="*/ 547 h 1218"/>
              <a:gd name="T18" fmla="*/ 1355 w 1375"/>
              <a:gd name="T19" fmla="*/ 671 h 1218"/>
              <a:gd name="T20" fmla="*/ 1075 w 1375"/>
              <a:gd name="T21" fmla="*/ 1156 h 1218"/>
              <a:gd name="T22" fmla="*/ 967 w 1375"/>
              <a:gd name="T23" fmla="*/ 1218 h 1218"/>
              <a:gd name="T24" fmla="*/ 407 w 1375"/>
              <a:gd name="T25" fmla="*/ 1218 h 121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</a:cxnLst>
            <a:rect l="0" t="0" r="r" b="b"/>
            <a:pathLst>
              <a:path w="1375" h="1218">
                <a:moveTo>
                  <a:pt x="407" y="1218"/>
                </a:moveTo>
                <a:cubicBezTo>
                  <a:pt x="368" y="1218"/>
                  <a:pt x="319" y="1190"/>
                  <a:pt x="299" y="1156"/>
                </a:cubicBezTo>
                <a:cubicBezTo>
                  <a:pt x="19" y="671"/>
                  <a:pt x="19" y="671"/>
                  <a:pt x="19" y="671"/>
                </a:cubicBezTo>
                <a:cubicBezTo>
                  <a:pt x="0" y="637"/>
                  <a:pt x="0" y="581"/>
                  <a:pt x="19" y="547"/>
                </a:cubicBezTo>
                <a:cubicBezTo>
                  <a:pt x="299" y="62"/>
                  <a:pt x="299" y="62"/>
                  <a:pt x="299" y="62"/>
                </a:cubicBezTo>
                <a:cubicBezTo>
                  <a:pt x="319" y="28"/>
                  <a:pt x="368" y="0"/>
                  <a:pt x="407" y="0"/>
                </a:cubicBezTo>
                <a:cubicBezTo>
                  <a:pt x="967" y="0"/>
                  <a:pt x="967" y="0"/>
                  <a:pt x="967" y="0"/>
                </a:cubicBezTo>
                <a:cubicBezTo>
                  <a:pt x="1007" y="0"/>
                  <a:pt x="1055" y="28"/>
                  <a:pt x="1075" y="62"/>
                </a:cubicBezTo>
                <a:cubicBezTo>
                  <a:pt x="1355" y="547"/>
                  <a:pt x="1355" y="547"/>
                  <a:pt x="1355" y="547"/>
                </a:cubicBezTo>
                <a:cubicBezTo>
                  <a:pt x="1375" y="581"/>
                  <a:pt x="1375" y="637"/>
                  <a:pt x="1355" y="671"/>
                </a:cubicBezTo>
                <a:cubicBezTo>
                  <a:pt x="1075" y="1156"/>
                  <a:pt x="1075" y="1156"/>
                  <a:pt x="1075" y="1156"/>
                </a:cubicBezTo>
                <a:cubicBezTo>
                  <a:pt x="1055" y="1190"/>
                  <a:pt x="1007" y="1218"/>
                  <a:pt x="967" y="1218"/>
                </a:cubicBezTo>
                <a:lnTo>
                  <a:pt x="407" y="1218"/>
                </a:lnTo>
                <a:close/>
              </a:path>
            </a:pathLst>
          </a:custGeom>
          <a:solidFill>
            <a:srgbClr val="3C87CF"/>
          </a:solidFill>
          <a:ln w="3810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35" tIns="45717" rIns="91435" bIns="45717" numCol="1" spcCol="0" rtlCol="0" fromWordArt="0" anchor="ctr" anchorCtr="0" forceAA="0" compatLnSpc="1">
            <a:noAutofit/>
          </a:bodyPr>
          <a:p>
            <a:pPr algn="ctr"/>
            <a:endParaRPr lang="zh-CN" altLang="en-US">
              <a:sym typeface="Arial" panose="020B0604020202020204" pitchFamily="34" charset="0"/>
            </a:endParaRPr>
          </a:p>
        </p:txBody>
      </p:sp>
      <p:grpSp>
        <p:nvGrpSpPr>
          <p:cNvPr id="29" name="组合 28"/>
          <p:cNvGrpSpPr/>
          <p:nvPr>
            <p:custDataLst>
              <p:tags r:id="rId4"/>
            </p:custDataLst>
          </p:nvPr>
        </p:nvGrpSpPr>
        <p:grpSpPr>
          <a:xfrm>
            <a:off x="3438917" y="2585214"/>
            <a:ext cx="1722552" cy="455378"/>
            <a:chOff x="3422124" y="2934600"/>
            <a:chExt cx="1722632" cy="455399"/>
          </a:xfrm>
        </p:grpSpPr>
        <p:cxnSp>
          <p:nvCxnSpPr>
            <p:cNvPr id="30" name="直接连接符 29"/>
            <p:cNvCxnSpPr/>
            <p:nvPr>
              <p:custDataLst>
                <p:tags r:id="rId5"/>
              </p:custDataLst>
            </p:nvPr>
          </p:nvCxnSpPr>
          <p:spPr>
            <a:xfrm flipV="1">
              <a:off x="4663948" y="3162299"/>
              <a:ext cx="370411" cy="1"/>
            </a:xfrm>
            <a:prstGeom prst="line">
              <a:avLst/>
            </a:prstGeom>
            <a:ln>
              <a:solidFill>
                <a:schemeClr val="bg1">
                  <a:lumMod val="50000"/>
                </a:schemeClr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直接连接符 30"/>
            <p:cNvCxnSpPr>
              <a:stCxn id="33" idx="6"/>
            </p:cNvCxnSpPr>
            <p:nvPr>
              <p:custDataLst>
                <p:tags r:id="rId6"/>
              </p:custDataLst>
            </p:nvPr>
          </p:nvCxnSpPr>
          <p:spPr>
            <a:xfrm>
              <a:off x="3536672" y="3162447"/>
              <a:ext cx="675671" cy="0"/>
            </a:xfrm>
            <a:prstGeom prst="line">
              <a:avLst/>
            </a:prstGeom>
            <a:ln>
              <a:solidFill>
                <a:schemeClr val="bg1">
                  <a:lumMod val="50000"/>
                </a:schemeClr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椭圆 34"/>
            <p:cNvSpPr/>
            <p:nvPr>
              <p:custDataLst>
                <p:tags r:id="rId7"/>
              </p:custDataLst>
            </p:nvPr>
          </p:nvSpPr>
          <p:spPr>
            <a:xfrm>
              <a:off x="4214126" y="2934600"/>
              <a:ext cx="455399" cy="455399"/>
            </a:xfrm>
            <a:prstGeom prst="ellipse">
              <a:avLst/>
            </a:prstGeom>
            <a:noFill/>
            <a:ln w="9525">
              <a:solidFill>
                <a:schemeClr val="bg1">
                  <a:lumMod val="50000"/>
                </a:schemeClr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33" name="椭圆 32"/>
            <p:cNvSpPr/>
            <p:nvPr>
              <p:custDataLst>
                <p:tags r:id="rId8"/>
              </p:custDataLst>
            </p:nvPr>
          </p:nvSpPr>
          <p:spPr>
            <a:xfrm>
              <a:off x="3422124" y="3105175"/>
              <a:ext cx="114250" cy="114250"/>
            </a:xfrm>
            <a:prstGeom prst="ellipse">
              <a:avLst/>
            </a:prstGeom>
            <a:solidFill>
              <a:schemeClr val="bg1"/>
            </a:solidFill>
            <a:ln w="158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34" name="椭圆 33"/>
            <p:cNvSpPr/>
            <p:nvPr>
              <p:custDataLst>
                <p:tags r:id="rId9"/>
              </p:custDataLst>
            </p:nvPr>
          </p:nvSpPr>
          <p:spPr>
            <a:xfrm>
              <a:off x="5030506" y="3105175"/>
              <a:ext cx="114250" cy="114250"/>
            </a:xfrm>
            <a:prstGeom prst="ellipse">
              <a:avLst/>
            </a:prstGeom>
            <a:solidFill>
              <a:schemeClr val="bg1"/>
            </a:solidFill>
            <a:ln w="158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</p:grpSp>
      <p:grpSp>
        <p:nvGrpSpPr>
          <p:cNvPr id="37" name="组合 36"/>
          <p:cNvGrpSpPr/>
          <p:nvPr>
            <p:custDataLst>
              <p:tags r:id="rId10"/>
            </p:custDataLst>
          </p:nvPr>
        </p:nvGrpSpPr>
        <p:grpSpPr>
          <a:xfrm>
            <a:off x="7059734" y="2585214"/>
            <a:ext cx="1686483" cy="455378"/>
            <a:chOff x="7043109" y="2934600"/>
            <a:chExt cx="1686561" cy="455399"/>
          </a:xfrm>
        </p:grpSpPr>
        <p:cxnSp>
          <p:nvCxnSpPr>
            <p:cNvPr id="6" name="直接连接符 5"/>
            <p:cNvCxnSpPr>
              <a:endCxn id="42" idx="2"/>
            </p:cNvCxnSpPr>
            <p:nvPr>
              <p:custDataLst>
                <p:tags r:id="rId11"/>
              </p:custDataLst>
            </p:nvPr>
          </p:nvCxnSpPr>
          <p:spPr>
            <a:xfrm>
              <a:off x="7975528" y="3162447"/>
              <a:ext cx="640109" cy="0"/>
            </a:xfrm>
            <a:prstGeom prst="line">
              <a:avLst/>
            </a:prstGeom>
            <a:ln>
              <a:solidFill>
                <a:schemeClr val="bg1">
                  <a:lumMod val="50000"/>
                </a:schemeClr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直接连接符 6"/>
            <p:cNvCxnSpPr/>
            <p:nvPr>
              <p:custDataLst>
                <p:tags r:id="rId12"/>
              </p:custDataLst>
            </p:nvPr>
          </p:nvCxnSpPr>
          <p:spPr>
            <a:xfrm flipV="1">
              <a:off x="7153770" y="3162299"/>
              <a:ext cx="370411" cy="1"/>
            </a:xfrm>
            <a:prstGeom prst="line">
              <a:avLst/>
            </a:prstGeom>
            <a:ln>
              <a:solidFill>
                <a:schemeClr val="bg1">
                  <a:lumMod val="50000"/>
                </a:schemeClr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3" name="椭圆 42"/>
            <p:cNvSpPr/>
            <p:nvPr>
              <p:custDataLst>
                <p:tags r:id="rId13"/>
              </p:custDataLst>
            </p:nvPr>
          </p:nvSpPr>
          <p:spPr>
            <a:xfrm>
              <a:off x="7522475" y="2934600"/>
              <a:ext cx="455399" cy="455399"/>
            </a:xfrm>
            <a:prstGeom prst="ellipse">
              <a:avLst/>
            </a:prstGeom>
            <a:noFill/>
            <a:ln w="9525">
              <a:solidFill>
                <a:schemeClr val="bg1">
                  <a:lumMod val="50000"/>
                </a:schemeClr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41" name="椭圆 40"/>
            <p:cNvSpPr/>
            <p:nvPr>
              <p:custDataLst>
                <p:tags r:id="rId14"/>
              </p:custDataLst>
            </p:nvPr>
          </p:nvSpPr>
          <p:spPr>
            <a:xfrm>
              <a:off x="7043109" y="3105175"/>
              <a:ext cx="114250" cy="114250"/>
            </a:xfrm>
            <a:prstGeom prst="ellipse">
              <a:avLst/>
            </a:prstGeom>
            <a:solidFill>
              <a:schemeClr val="bg1"/>
            </a:solidFill>
            <a:ln w="158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42" name="椭圆 41"/>
            <p:cNvSpPr/>
            <p:nvPr>
              <p:custDataLst>
                <p:tags r:id="rId15"/>
              </p:custDataLst>
            </p:nvPr>
          </p:nvSpPr>
          <p:spPr>
            <a:xfrm>
              <a:off x="8615420" y="3105175"/>
              <a:ext cx="114250" cy="114250"/>
            </a:xfrm>
            <a:prstGeom prst="ellipse">
              <a:avLst/>
            </a:prstGeom>
            <a:solidFill>
              <a:schemeClr val="bg1"/>
            </a:solidFill>
            <a:ln w="158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</p:grpSp>
      <p:sp>
        <p:nvSpPr>
          <p:cNvPr id="45" name="文本框 29"/>
          <p:cNvSpPr txBox="1"/>
          <p:nvPr>
            <p:custDataLst>
              <p:tags r:id="rId16"/>
            </p:custDataLst>
          </p:nvPr>
        </p:nvSpPr>
        <p:spPr>
          <a:xfrm>
            <a:off x="1768388" y="2410337"/>
            <a:ext cx="1478367" cy="76835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zh-CN" altLang="en-US" sz="44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更优</a:t>
            </a:r>
            <a:endParaRPr lang="zh-CN" altLang="en-US" sz="44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6" name="文本框 30"/>
          <p:cNvSpPr txBox="1"/>
          <p:nvPr>
            <p:custDataLst>
              <p:tags r:id="rId17"/>
            </p:custDataLst>
          </p:nvPr>
        </p:nvSpPr>
        <p:spPr>
          <a:xfrm>
            <a:off x="5369514" y="2429189"/>
            <a:ext cx="1478367" cy="76835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zh-CN" altLang="en-US" sz="44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更快</a:t>
            </a:r>
            <a:endParaRPr lang="zh-CN" altLang="en-US" sz="44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7" name="文本框 31"/>
          <p:cNvSpPr txBox="1"/>
          <p:nvPr>
            <p:custDataLst>
              <p:tags r:id="rId18"/>
            </p:custDataLst>
          </p:nvPr>
        </p:nvSpPr>
        <p:spPr>
          <a:xfrm>
            <a:off x="8944934" y="2428752"/>
            <a:ext cx="1478367" cy="76835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zh-CN" altLang="en-US" sz="44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更新</a:t>
            </a:r>
            <a:endParaRPr lang="zh-CN" altLang="en-US" sz="44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pSp>
        <p:nvGrpSpPr>
          <p:cNvPr id="48" name="组合 47"/>
          <p:cNvGrpSpPr/>
          <p:nvPr>
            <p:custDataLst>
              <p:tags r:id="rId19"/>
            </p:custDataLst>
          </p:nvPr>
        </p:nvGrpSpPr>
        <p:grpSpPr>
          <a:xfrm>
            <a:off x="872634" y="4199175"/>
            <a:ext cx="3324860" cy="1633855"/>
            <a:chOff x="208652" y="4129017"/>
            <a:chExt cx="3325014" cy="1633932"/>
          </a:xfrm>
        </p:grpSpPr>
        <p:sp>
          <p:nvSpPr>
            <p:cNvPr id="49" name="文本框 33"/>
            <p:cNvSpPr txBox="1"/>
            <p:nvPr>
              <p:custDataLst>
                <p:tags r:id="rId20"/>
              </p:custDataLst>
            </p:nvPr>
          </p:nvSpPr>
          <p:spPr bwMode="auto">
            <a:xfrm>
              <a:off x="208652" y="4589414"/>
              <a:ext cx="3325014" cy="117353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p>
              <a:pPr algn="just">
                <a:lnSpc>
                  <a:spcPct val="110000"/>
                </a:lnSpc>
                <a:defRPr/>
              </a:pPr>
              <a:r>
                <a:rPr lang="zh-CN" altLang="en-US" sz="1600" spc="1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+mn-ea"/>
                </a:rPr>
                <a:t>库存只随已审单据记账；原料报关单号、成品生产批次贯穿移库、投料、关务对账；海关账号与业务账号隔离。</a:t>
              </a:r>
              <a:endParaRPr lang="zh-CN" altLang="en-US" sz="1600" spc="100" dirty="0">
                <a:solidFill>
                  <a:schemeClr val="tx1">
                    <a:lumMod val="85000"/>
                    <a:lumOff val="1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endParaRPr>
            </a:p>
          </p:txBody>
        </p:sp>
        <p:sp>
          <p:nvSpPr>
            <p:cNvPr id="50" name="文本框 34"/>
            <p:cNvSpPr txBox="1"/>
            <p:nvPr>
              <p:custDataLst>
                <p:tags r:id="rId21"/>
              </p:custDataLst>
            </p:nvPr>
          </p:nvSpPr>
          <p:spPr bwMode="auto">
            <a:xfrm>
              <a:off x="607184" y="4129017"/>
              <a:ext cx="2406358" cy="46039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p>
              <a:pPr algn="ctr">
                <a:defRPr/>
              </a:pPr>
              <a:r>
                <a:rPr lang="zh-CN" altLang="en-US" sz="2400" spc="1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+mn-ea"/>
                </a:rPr>
                <a:t>账实同源</a:t>
              </a:r>
              <a:endParaRPr lang="zh-CN" altLang="en-US" sz="2400" spc="100" dirty="0">
                <a:solidFill>
                  <a:schemeClr val="tx1">
                    <a:lumMod val="85000"/>
                    <a:lumOff val="15000"/>
                  </a:schemeClr>
                </a:solidFill>
                <a:latin typeface="造字工房悦黑（非商用）常规体" pitchFamily="50" charset="-122"/>
                <a:ea typeface="造字工房悦黑（非商用）常规体" pitchFamily="50" charset="-122"/>
              </a:endParaRPr>
            </a:p>
          </p:txBody>
        </p:sp>
      </p:grpSp>
      <p:grpSp>
        <p:nvGrpSpPr>
          <p:cNvPr id="51" name="组合 50"/>
          <p:cNvGrpSpPr/>
          <p:nvPr>
            <p:custDataLst>
              <p:tags r:id="rId22"/>
            </p:custDataLst>
          </p:nvPr>
        </p:nvGrpSpPr>
        <p:grpSpPr>
          <a:xfrm>
            <a:off x="4504200" y="4199175"/>
            <a:ext cx="3288665" cy="1901190"/>
            <a:chOff x="462663" y="4132192"/>
            <a:chExt cx="3288817" cy="1901277"/>
          </a:xfrm>
        </p:grpSpPr>
        <p:sp>
          <p:nvSpPr>
            <p:cNvPr id="52" name="文本框 36"/>
            <p:cNvSpPr txBox="1"/>
            <p:nvPr>
              <p:custDataLst>
                <p:tags r:id="rId23"/>
              </p:custDataLst>
            </p:nvPr>
          </p:nvSpPr>
          <p:spPr bwMode="auto">
            <a:xfrm>
              <a:off x="462663" y="4589413"/>
              <a:ext cx="3288817" cy="144405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p>
              <a:pPr algn="just">
                <a:lnSpc>
                  <a:spcPct val="110000"/>
                </a:lnSpc>
                <a:defRPr/>
              </a:pPr>
              <a:r>
                <a:rPr lang="zh-CN" altLang="en-US" sz="1600" spc="1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+mn-ea"/>
                </a:rPr>
                <a:t>预约/收货/出库内嵌 </a:t>
              </a:r>
              <a:r>
                <a:rPr lang="en-US" altLang="zh-CN" sz="1600" spc="1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+mn-ea"/>
                </a:rPr>
                <a:t>OCR，</a:t>
              </a:r>
              <a:r>
                <a:rPr lang="zh-CN" altLang="en-US" sz="1600" spc="1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+mn-ea"/>
                </a:rPr>
                <a:t>识别后回填船名、提单、报关单、核注清单、干湿重与品质；驾驶舱点击仓库即可看平面图与物料分布。</a:t>
              </a:r>
              <a:endParaRPr lang="zh-CN" altLang="en-US" sz="1600" spc="100" dirty="0">
                <a:solidFill>
                  <a:schemeClr val="tx1">
                    <a:lumMod val="85000"/>
                    <a:lumOff val="1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endParaRPr>
            </a:p>
          </p:txBody>
        </p:sp>
        <p:sp>
          <p:nvSpPr>
            <p:cNvPr id="53" name="文本框 37"/>
            <p:cNvSpPr txBox="1"/>
            <p:nvPr>
              <p:custDataLst>
                <p:tags r:id="rId24"/>
              </p:custDataLst>
            </p:nvPr>
          </p:nvSpPr>
          <p:spPr bwMode="auto">
            <a:xfrm>
              <a:off x="904378" y="4132192"/>
              <a:ext cx="2406358" cy="46039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p>
              <a:pPr algn="ctr">
                <a:defRPr/>
              </a:pPr>
              <a:r>
                <a:rPr lang="en-US" altLang="zh-CN" sz="2400" spc="1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造字工房悦黑（非商用）常规体" pitchFamily="50" charset="-122"/>
                  <a:ea typeface="造字工房悦黑（非商用）常规体" pitchFamily="50" charset="-122"/>
                </a:rPr>
                <a:t>OCR</a:t>
              </a:r>
              <a:r>
                <a:rPr lang="zh-CN" altLang="en-US" sz="2400" spc="1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造字工房悦黑（非商用）常规体" pitchFamily="50" charset="-122"/>
                  <a:ea typeface="造字工房悦黑（非商用）常规体" pitchFamily="50" charset="-122"/>
                </a:rPr>
                <a:t>与作业提效</a:t>
              </a:r>
              <a:endParaRPr lang="zh-CN" altLang="en-US" sz="2400" spc="100" dirty="0">
                <a:solidFill>
                  <a:schemeClr val="tx1">
                    <a:lumMod val="85000"/>
                    <a:lumOff val="15000"/>
                  </a:schemeClr>
                </a:solidFill>
                <a:latin typeface="造字工房悦黑（非商用）常规体" pitchFamily="50" charset="-122"/>
                <a:ea typeface="造字工房悦黑（非商用）常规体" pitchFamily="50" charset="-122"/>
              </a:endParaRPr>
            </a:p>
          </p:txBody>
        </p:sp>
      </p:grpSp>
      <p:grpSp>
        <p:nvGrpSpPr>
          <p:cNvPr id="54" name="组合 53"/>
          <p:cNvGrpSpPr/>
          <p:nvPr>
            <p:custDataLst>
              <p:tags r:id="rId25"/>
            </p:custDataLst>
          </p:nvPr>
        </p:nvGrpSpPr>
        <p:grpSpPr>
          <a:xfrm>
            <a:off x="8099570" y="4199175"/>
            <a:ext cx="3235960" cy="1630681"/>
            <a:chOff x="818915" y="4132192"/>
            <a:chExt cx="3236744" cy="1630758"/>
          </a:xfrm>
        </p:grpSpPr>
        <p:sp>
          <p:nvSpPr>
            <p:cNvPr id="55" name="文本框 39"/>
            <p:cNvSpPr txBox="1"/>
            <p:nvPr>
              <p:custDataLst>
                <p:tags r:id="rId26"/>
              </p:custDataLst>
            </p:nvPr>
          </p:nvSpPr>
          <p:spPr bwMode="auto">
            <a:xfrm>
              <a:off x="818915" y="4589414"/>
              <a:ext cx="3236744" cy="117353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p>
              <a:pPr algn="just">
                <a:lnSpc>
                  <a:spcPct val="110000"/>
                </a:lnSpc>
                <a:defRPr/>
              </a:pPr>
              <a:r>
                <a:rPr lang="zh-CN" altLang="en-US" sz="1600" spc="1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+mn-ea"/>
                </a:rPr>
                <a:t>堆位平面图可在系统内拖拽维护并回写驾驶舱；矿源备案按干重扣减并预警；操作日志按报关单号、生产批次穿透查询。</a:t>
              </a:r>
              <a:endParaRPr lang="zh-CN" altLang="en-US" sz="1600" spc="100" dirty="0">
                <a:solidFill>
                  <a:schemeClr val="tx1">
                    <a:lumMod val="85000"/>
                    <a:lumOff val="1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endParaRPr>
            </a:p>
          </p:txBody>
        </p:sp>
        <p:sp>
          <p:nvSpPr>
            <p:cNvPr id="56" name="文本框 40"/>
            <p:cNvSpPr txBox="1"/>
            <p:nvPr>
              <p:custDataLst>
                <p:tags r:id="rId27"/>
              </p:custDataLst>
            </p:nvPr>
          </p:nvSpPr>
          <p:spPr bwMode="auto">
            <a:xfrm>
              <a:off x="1003709" y="4132192"/>
              <a:ext cx="2866522" cy="46039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p>
              <a:pPr algn="ctr">
                <a:defRPr/>
              </a:pPr>
              <a:r>
                <a:rPr lang="zh-CN" altLang="en-US" sz="2400" spc="1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造字工房悦黑（非商用）常规体" pitchFamily="50" charset="-122"/>
                  <a:ea typeface="造字工房悦黑（非商用）常规体" pitchFamily="50" charset="-122"/>
                </a:rPr>
                <a:t>持续优化升级</a:t>
              </a:r>
              <a:endParaRPr lang="zh-CN" altLang="en-US" sz="2400" spc="100" dirty="0">
                <a:solidFill>
                  <a:schemeClr val="tx1">
                    <a:lumMod val="85000"/>
                    <a:lumOff val="15000"/>
                  </a:schemeClr>
                </a:solidFill>
                <a:latin typeface="造字工房悦黑（非商用）常规体" pitchFamily="50" charset="-122"/>
                <a:ea typeface="造字工房悦黑（非商用）常规体" pitchFamily="50" charset="-122"/>
              </a:endParaRPr>
            </a:p>
          </p:txBody>
        </p:sp>
      </p:grpSp>
      <p:sp>
        <p:nvSpPr>
          <p:cNvPr id="2314" name="Freeform 270"/>
          <p:cNvSpPr/>
          <p:nvPr>
            <p:custDataLst>
              <p:tags r:id="rId28"/>
            </p:custDataLst>
          </p:nvPr>
        </p:nvSpPr>
        <p:spPr bwMode="auto">
          <a:xfrm rot="2700000">
            <a:off x="4362497" y="2719498"/>
            <a:ext cx="191806" cy="187995"/>
          </a:xfrm>
          <a:custGeom>
            <a:avLst/>
            <a:gdLst>
              <a:gd name="T0" fmla="*/ 7348 w 49"/>
              <a:gd name="T1" fmla="*/ 21847 h 48"/>
              <a:gd name="T2" fmla="*/ 22043 w 49"/>
              <a:gd name="T3" fmla="*/ 7282 h 48"/>
              <a:gd name="T4" fmla="*/ 51434 w 49"/>
              <a:gd name="T5" fmla="*/ 7282 h 48"/>
              <a:gd name="T6" fmla="*/ 91847 w 49"/>
              <a:gd name="T7" fmla="*/ 47335 h 48"/>
              <a:gd name="T8" fmla="*/ 128586 w 49"/>
              <a:gd name="T9" fmla="*/ 7282 h 48"/>
              <a:gd name="T10" fmla="*/ 157977 w 49"/>
              <a:gd name="T11" fmla="*/ 7282 h 48"/>
              <a:gd name="T12" fmla="*/ 172672 w 49"/>
              <a:gd name="T13" fmla="*/ 21847 h 48"/>
              <a:gd name="T14" fmla="*/ 172672 w 49"/>
              <a:gd name="T15" fmla="*/ 50976 h 48"/>
              <a:gd name="T16" fmla="*/ 132260 w 49"/>
              <a:gd name="T17" fmla="*/ 87388 h 48"/>
              <a:gd name="T18" fmla="*/ 172672 w 49"/>
              <a:gd name="T19" fmla="*/ 127441 h 48"/>
              <a:gd name="T20" fmla="*/ 172672 w 49"/>
              <a:gd name="T21" fmla="*/ 156570 h 48"/>
              <a:gd name="T22" fmla="*/ 157977 w 49"/>
              <a:gd name="T23" fmla="*/ 167494 h 48"/>
              <a:gd name="T24" fmla="*/ 128586 w 49"/>
              <a:gd name="T25" fmla="*/ 167494 h 48"/>
              <a:gd name="T26" fmla="*/ 91847 w 49"/>
              <a:gd name="T27" fmla="*/ 131082 h 48"/>
              <a:gd name="T28" fmla="*/ 51434 w 49"/>
              <a:gd name="T29" fmla="*/ 167494 h 48"/>
              <a:gd name="T30" fmla="*/ 22043 w 49"/>
              <a:gd name="T31" fmla="*/ 167494 h 48"/>
              <a:gd name="T32" fmla="*/ 7348 w 49"/>
              <a:gd name="T33" fmla="*/ 156570 h 48"/>
              <a:gd name="T34" fmla="*/ 7348 w 49"/>
              <a:gd name="T35" fmla="*/ 127441 h 48"/>
              <a:gd name="T36" fmla="*/ 47760 w 49"/>
              <a:gd name="T37" fmla="*/ 87388 h 48"/>
              <a:gd name="T38" fmla="*/ 7348 w 49"/>
              <a:gd name="T39" fmla="*/ 50976 h 48"/>
              <a:gd name="T40" fmla="*/ 7348 w 49"/>
              <a:gd name="T41" fmla="*/ 21847 h 48"/>
              <a:gd name="T42" fmla="*/ 0 60000 65536"/>
              <a:gd name="T43" fmla="*/ 0 60000 65536"/>
              <a:gd name="T44" fmla="*/ 0 60000 65536"/>
              <a:gd name="T45" fmla="*/ 0 60000 65536"/>
              <a:gd name="T46" fmla="*/ 0 60000 65536"/>
              <a:gd name="T47" fmla="*/ 0 60000 65536"/>
              <a:gd name="T48" fmla="*/ 0 60000 65536"/>
              <a:gd name="T49" fmla="*/ 0 60000 65536"/>
              <a:gd name="T50" fmla="*/ 0 60000 65536"/>
              <a:gd name="T51" fmla="*/ 0 60000 65536"/>
              <a:gd name="T52" fmla="*/ 0 60000 65536"/>
              <a:gd name="T53" fmla="*/ 0 60000 65536"/>
              <a:gd name="T54" fmla="*/ 0 60000 65536"/>
              <a:gd name="T55" fmla="*/ 0 60000 65536"/>
              <a:gd name="T56" fmla="*/ 0 60000 65536"/>
              <a:gd name="T57" fmla="*/ 0 60000 65536"/>
              <a:gd name="T58" fmla="*/ 0 60000 65536"/>
              <a:gd name="T59" fmla="*/ 0 60000 65536"/>
              <a:gd name="T60" fmla="*/ 0 60000 65536"/>
              <a:gd name="T61" fmla="*/ 0 60000 65536"/>
              <a:gd name="T62" fmla="*/ 0 60000 65536"/>
            </a:gdLst>
            <a:ahLst/>
            <a:cxnLst>
              <a:cxn ang="T42">
                <a:pos x="T0" y="T1"/>
              </a:cxn>
              <a:cxn ang="T43">
                <a:pos x="T2" y="T3"/>
              </a:cxn>
              <a:cxn ang="T44">
                <a:pos x="T4" y="T5"/>
              </a:cxn>
              <a:cxn ang="T45">
                <a:pos x="T6" y="T7"/>
              </a:cxn>
              <a:cxn ang="T46">
                <a:pos x="T8" y="T9"/>
              </a:cxn>
              <a:cxn ang="T47">
                <a:pos x="T10" y="T11"/>
              </a:cxn>
              <a:cxn ang="T48">
                <a:pos x="T12" y="T13"/>
              </a:cxn>
              <a:cxn ang="T49">
                <a:pos x="T14" y="T15"/>
              </a:cxn>
              <a:cxn ang="T50">
                <a:pos x="T16" y="T17"/>
              </a:cxn>
              <a:cxn ang="T51">
                <a:pos x="T18" y="T19"/>
              </a:cxn>
              <a:cxn ang="T52">
                <a:pos x="T20" y="T21"/>
              </a:cxn>
              <a:cxn ang="T53">
                <a:pos x="T22" y="T23"/>
              </a:cxn>
              <a:cxn ang="T54">
                <a:pos x="T24" y="T25"/>
              </a:cxn>
              <a:cxn ang="T55">
                <a:pos x="T26" y="T27"/>
              </a:cxn>
              <a:cxn ang="T56">
                <a:pos x="T28" y="T29"/>
              </a:cxn>
              <a:cxn ang="T57">
                <a:pos x="T30" y="T31"/>
              </a:cxn>
              <a:cxn ang="T58">
                <a:pos x="T32" y="T33"/>
              </a:cxn>
              <a:cxn ang="T59">
                <a:pos x="T34" y="T35"/>
              </a:cxn>
              <a:cxn ang="T60">
                <a:pos x="T36" y="T37"/>
              </a:cxn>
              <a:cxn ang="T61">
                <a:pos x="T38" y="T39"/>
              </a:cxn>
              <a:cxn ang="T62">
                <a:pos x="T40" y="T41"/>
              </a:cxn>
            </a:cxnLst>
            <a:rect l="0" t="0" r="r" b="b"/>
            <a:pathLst>
              <a:path w="49" h="48">
                <a:moveTo>
                  <a:pt x="2" y="6"/>
                </a:moveTo>
                <a:cubicBezTo>
                  <a:pt x="6" y="2"/>
                  <a:pt x="6" y="2"/>
                  <a:pt x="6" y="2"/>
                </a:cubicBezTo>
                <a:cubicBezTo>
                  <a:pt x="8" y="0"/>
                  <a:pt x="12" y="0"/>
                  <a:pt x="14" y="2"/>
                </a:cubicBezTo>
                <a:cubicBezTo>
                  <a:pt x="25" y="13"/>
                  <a:pt x="25" y="13"/>
                  <a:pt x="25" y="13"/>
                </a:cubicBezTo>
                <a:cubicBezTo>
                  <a:pt x="35" y="2"/>
                  <a:pt x="35" y="2"/>
                  <a:pt x="35" y="2"/>
                </a:cubicBezTo>
                <a:cubicBezTo>
                  <a:pt x="37" y="0"/>
                  <a:pt x="41" y="0"/>
                  <a:pt x="43" y="2"/>
                </a:cubicBezTo>
                <a:cubicBezTo>
                  <a:pt x="47" y="6"/>
                  <a:pt x="47" y="6"/>
                  <a:pt x="47" y="6"/>
                </a:cubicBezTo>
                <a:cubicBezTo>
                  <a:pt x="49" y="8"/>
                  <a:pt x="49" y="11"/>
                  <a:pt x="47" y="14"/>
                </a:cubicBezTo>
                <a:cubicBezTo>
                  <a:pt x="36" y="24"/>
                  <a:pt x="36" y="24"/>
                  <a:pt x="36" y="24"/>
                </a:cubicBezTo>
                <a:cubicBezTo>
                  <a:pt x="47" y="35"/>
                  <a:pt x="47" y="35"/>
                  <a:pt x="47" y="35"/>
                </a:cubicBezTo>
                <a:cubicBezTo>
                  <a:pt x="49" y="37"/>
                  <a:pt x="49" y="41"/>
                  <a:pt x="47" y="43"/>
                </a:cubicBezTo>
                <a:cubicBezTo>
                  <a:pt x="43" y="46"/>
                  <a:pt x="43" y="46"/>
                  <a:pt x="43" y="46"/>
                </a:cubicBezTo>
                <a:cubicBezTo>
                  <a:pt x="41" y="48"/>
                  <a:pt x="37" y="48"/>
                  <a:pt x="35" y="46"/>
                </a:cubicBezTo>
                <a:cubicBezTo>
                  <a:pt x="25" y="36"/>
                  <a:pt x="25" y="36"/>
                  <a:pt x="25" y="36"/>
                </a:cubicBezTo>
                <a:cubicBezTo>
                  <a:pt x="14" y="46"/>
                  <a:pt x="14" y="46"/>
                  <a:pt x="14" y="46"/>
                </a:cubicBezTo>
                <a:cubicBezTo>
                  <a:pt x="12" y="48"/>
                  <a:pt x="8" y="48"/>
                  <a:pt x="6" y="46"/>
                </a:cubicBezTo>
                <a:cubicBezTo>
                  <a:pt x="2" y="43"/>
                  <a:pt x="2" y="43"/>
                  <a:pt x="2" y="43"/>
                </a:cubicBezTo>
                <a:cubicBezTo>
                  <a:pt x="0" y="41"/>
                  <a:pt x="0" y="37"/>
                  <a:pt x="2" y="35"/>
                </a:cubicBezTo>
                <a:cubicBezTo>
                  <a:pt x="13" y="24"/>
                  <a:pt x="13" y="24"/>
                  <a:pt x="13" y="24"/>
                </a:cubicBezTo>
                <a:cubicBezTo>
                  <a:pt x="2" y="14"/>
                  <a:pt x="2" y="14"/>
                  <a:pt x="2" y="14"/>
                </a:cubicBezTo>
                <a:cubicBezTo>
                  <a:pt x="0" y="11"/>
                  <a:pt x="0" y="8"/>
                  <a:pt x="2" y="6"/>
                </a:cubicBezTo>
                <a:close/>
              </a:path>
            </a:pathLst>
          </a:custGeom>
          <a:solidFill>
            <a:srgbClr val="EE880B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</a14:hiddenLine>
            </a:ext>
          </a:extLst>
        </p:spPr>
        <p:txBody>
          <a:bodyPr/>
          <a:p>
            <a:pPr marL="0" marR="0" lvl="0" indent="0" algn="l" defTabSz="91376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cs typeface="+mn-ea"/>
              <a:sym typeface="Arial" panose="020B0604020202020204" pitchFamily="34" charset="0"/>
            </a:endParaRPr>
          </a:p>
        </p:txBody>
      </p:sp>
      <p:sp>
        <p:nvSpPr>
          <p:cNvPr id="10" name="Freeform 270"/>
          <p:cNvSpPr/>
          <p:nvPr>
            <p:custDataLst>
              <p:tags r:id="rId29"/>
            </p:custDataLst>
          </p:nvPr>
        </p:nvSpPr>
        <p:spPr bwMode="auto">
          <a:xfrm rot="2700000">
            <a:off x="7670847" y="2719498"/>
            <a:ext cx="191806" cy="187995"/>
          </a:xfrm>
          <a:custGeom>
            <a:avLst/>
            <a:gdLst>
              <a:gd name="T0" fmla="*/ 7348 w 49"/>
              <a:gd name="T1" fmla="*/ 21847 h 48"/>
              <a:gd name="T2" fmla="*/ 22043 w 49"/>
              <a:gd name="T3" fmla="*/ 7282 h 48"/>
              <a:gd name="T4" fmla="*/ 51434 w 49"/>
              <a:gd name="T5" fmla="*/ 7282 h 48"/>
              <a:gd name="T6" fmla="*/ 91847 w 49"/>
              <a:gd name="T7" fmla="*/ 47335 h 48"/>
              <a:gd name="T8" fmla="*/ 128586 w 49"/>
              <a:gd name="T9" fmla="*/ 7282 h 48"/>
              <a:gd name="T10" fmla="*/ 157977 w 49"/>
              <a:gd name="T11" fmla="*/ 7282 h 48"/>
              <a:gd name="T12" fmla="*/ 172672 w 49"/>
              <a:gd name="T13" fmla="*/ 21847 h 48"/>
              <a:gd name="T14" fmla="*/ 172672 w 49"/>
              <a:gd name="T15" fmla="*/ 50976 h 48"/>
              <a:gd name="T16" fmla="*/ 132260 w 49"/>
              <a:gd name="T17" fmla="*/ 87388 h 48"/>
              <a:gd name="T18" fmla="*/ 172672 w 49"/>
              <a:gd name="T19" fmla="*/ 127441 h 48"/>
              <a:gd name="T20" fmla="*/ 172672 w 49"/>
              <a:gd name="T21" fmla="*/ 156570 h 48"/>
              <a:gd name="T22" fmla="*/ 157977 w 49"/>
              <a:gd name="T23" fmla="*/ 167494 h 48"/>
              <a:gd name="T24" fmla="*/ 128586 w 49"/>
              <a:gd name="T25" fmla="*/ 167494 h 48"/>
              <a:gd name="T26" fmla="*/ 91847 w 49"/>
              <a:gd name="T27" fmla="*/ 131082 h 48"/>
              <a:gd name="T28" fmla="*/ 51434 w 49"/>
              <a:gd name="T29" fmla="*/ 167494 h 48"/>
              <a:gd name="T30" fmla="*/ 22043 w 49"/>
              <a:gd name="T31" fmla="*/ 167494 h 48"/>
              <a:gd name="T32" fmla="*/ 7348 w 49"/>
              <a:gd name="T33" fmla="*/ 156570 h 48"/>
              <a:gd name="T34" fmla="*/ 7348 w 49"/>
              <a:gd name="T35" fmla="*/ 127441 h 48"/>
              <a:gd name="T36" fmla="*/ 47760 w 49"/>
              <a:gd name="T37" fmla="*/ 87388 h 48"/>
              <a:gd name="T38" fmla="*/ 7348 w 49"/>
              <a:gd name="T39" fmla="*/ 50976 h 48"/>
              <a:gd name="T40" fmla="*/ 7348 w 49"/>
              <a:gd name="T41" fmla="*/ 21847 h 48"/>
              <a:gd name="T42" fmla="*/ 0 60000 65536"/>
              <a:gd name="T43" fmla="*/ 0 60000 65536"/>
              <a:gd name="T44" fmla="*/ 0 60000 65536"/>
              <a:gd name="T45" fmla="*/ 0 60000 65536"/>
              <a:gd name="T46" fmla="*/ 0 60000 65536"/>
              <a:gd name="T47" fmla="*/ 0 60000 65536"/>
              <a:gd name="T48" fmla="*/ 0 60000 65536"/>
              <a:gd name="T49" fmla="*/ 0 60000 65536"/>
              <a:gd name="T50" fmla="*/ 0 60000 65536"/>
              <a:gd name="T51" fmla="*/ 0 60000 65536"/>
              <a:gd name="T52" fmla="*/ 0 60000 65536"/>
              <a:gd name="T53" fmla="*/ 0 60000 65536"/>
              <a:gd name="T54" fmla="*/ 0 60000 65536"/>
              <a:gd name="T55" fmla="*/ 0 60000 65536"/>
              <a:gd name="T56" fmla="*/ 0 60000 65536"/>
              <a:gd name="T57" fmla="*/ 0 60000 65536"/>
              <a:gd name="T58" fmla="*/ 0 60000 65536"/>
              <a:gd name="T59" fmla="*/ 0 60000 65536"/>
              <a:gd name="T60" fmla="*/ 0 60000 65536"/>
              <a:gd name="T61" fmla="*/ 0 60000 65536"/>
              <a:gd name="T62" fmla="*/ 0 60000 65536"/>
            </a:gdLst>
            <a:ahLst/>
            <a:cxnLst>
              <a:cxn ang="T42">
                <a:pos x="T0" y="T1"/>
              </a:cxn>
              <a:cxn ang="T43">
                <a:pos x="T2" y="T3"/>
              </a:cxn>
              <a:cxn ang="T44">
                <a:pos x="T4" y="T5"/>
              </a:cxn>
              <a:cxn ang="T45">
                <a:pos x="T6" y="T7"/>
              </a:cxn>
              <a:cxn ang="T46">
                <a:pos x="T8" y="T9"/>
              </a:cxn>
              <a:cxn ang="T47">
                <a:pos x="T10" y="T11"/>
              </a:cxn>
              <a:cxn ang="T48">
                <a:pos x="T12" y="T13"/>
              </a:cxn>
              <a:cxn ang="T49">
                <a:pos x="T14" y="T15"/>
              </a:cxn>
              <a:cxn ang="T50">
                <a:pos x="T16" y="T17"/>
              </a:cxn>
              <a:cxn ang="T51">
                <a:pos x="T18" y="T19"/>
              </a:cxn>
              <a:cxn ang="T52">
                <a:pos x="T20" y="T21"/>
              </a:cxn>
              <a:cxn ang="T53">
                <a:pos x="T22" y="T23"/>
              </a:cxn>
              <a:cxn ang="T54">
                <a:pos x="T24" y="T25"/>
              </a:cxn>
              <a:cxn ang="T55">
                <a:pos x="T26" y="T27"/>
              </a:cxn>
              <a:cxn ang="T56">
                <a:pos x="T28" y="T29"/>
              </a:cxn>
              <a:cxn ang="T57">
                <a:pos x="T30" y="T31"/>
              </a:cxn>
              <a:cxn ang="T58">
                <a:pos x="T32" y="T33"/>
              </a:cxn>
              <a:cxn ang="T59">
                <a:pos x="T34" y="T35"/>
              </a:cxn>
              <a:cxn ang="T60">
                <a:pos x="T36" y="T37"/>
              </a:cxn>
              <a:cxn ang="T61">
                <a:pos x="T38" y="T39"/>
              </a:cxn>
              <a:cxn ang="T62">
                <a:pos x="T40" y="T41"/>
              </a:cxn>
            </a:cxnLst>
            <a:rect l="0" t="0" r="r" b="b"/>
            <a:pathLst>
              <a:path w="49" h="48">
                <a:moveTo>
                  <a:pt x="2" y="6"/>
                </a:moveTo>
                <a:cubicBezTo>
                  <a:pt x="6" y="2"/>
                  <a:pt x="6" y="2"/>
                  <a:pt x="6" y="2"/>
                </a:cubicBezTo>
                <a:cubicBezTo>
                  <a:pt x="8" y="0"/>
                  <a:pt x="12" y="0"/>
                  <a:pt x="14" y="2"/>
                </a:cubicBezTo>
                <a:cubicBezTo>
                  <a:pt x="25" y="13"/>
                  <a:pt x="25" y="13"/>
                  <a:pt x="25" y="13"/>
                </a:cubicBezTo>
                <a:cubicBezTo>
                  <a:pt x="35" y="2"/>
                  <a:pt x="35" y="2"/>
                  <a:pt x="35" y="2"/>
                </a:cubicBezTo>
                <a:cubicBezTo>
                  <a:pt x="37" y="0"/>
                  <a:pt x="41" y="0"/>
                  <a:pt x="43" y="2"/>
                </a:cubicBezTo>
                <a:cubicBezTo>
                  <a:pt x="47" y="6"/>
                  <a:pt x="47" y="6"/>
                  <a:pt x="47" y="6"/>
                </a:cubicBezTo>
                <a:cubicBezTo>
                  <a:pt x="49" y="8"/>
                  <a:pt x="49" y="11"/>
                  <a:pt x="47" y="14"/>
                </a:cubicBezTo>
                <a:cubicBezTo>
                  <a:pt x="36" y="24"/>
                  <a:pt x="36" y="24"/>
                  <a:pt x="36" y="24"/>
                </a:cubicBezTo>
                <a:cubicBezTo>
                  <a:pt x="47" y="35"/>
                  <a:pt x="47" y="35"/>
                  <a:pt x="47" y="35"/>
                </a:cubicBezTo>
                <a:cubicBezTo>
                  <a:pt x="49" y="37"/>
                  <a:pt x="49" y="41"/>
                  <a:pt x="47" y="43"/>
                </a:cubicBezTo>
                <a:cubicBezTo>
                  <a:pt x="43" y="46"/>
                  <a:pt x="43" y="46"/>
                  <a:pt x="43" y="46"/>
                </a:cubicBezTo>
                <a:cubicBezTo>
                  <a:pt x="41" y="48"/>
                  <a:pt x="37" y="48"/>
                  <a:pt x="35" y="46"/>
                </a:cubicBezTo>
                <a:cubicBezTo>
                  <a:pt x="25" y="36"/>
                  <a:pt x="25" y="36"/>
                  <a:pt x="25" y="36"/>
                </a:cubicBezTo>
                <a:cubicBezTo>
                  <a:pt x="14" y="46"/>
                  <a:pt x="14" y="46"/>
                  <a:pt x="14" y="46"/>
                </a:cubicBezTo>
                <a:cubicBezTo>
                  <a:pt x="12" y="48"/>
                  <a:pt x="8" y="48"/>
                  <a:pt x="6" y="46"/>
                </a:cubicBezTo>
                <a:cubicBezTo>
                  <a:pt x="2" y="43"/>
                  <a:pt x="2" y="43"/>
                  <a:pt x="2" y="43"/>
                </a:cubicBezTo>
                <a:cubicBezTo>
                  <a:pt x="0" y="41"/>
                  <a:pt x="0" y="37"/>
                  <a:pt x="2" y="35"/>
                </a:cubicBezTo>
                <a:cubicBezTo>
                  <a:pt x="13" y="24"/>
                  <a:pt x="13" y="24"/>
                  <a:pt x="13" y="24"/>
                </a:cubicBezTo>
                <a:cubicBezTo>
                  <a:pt x="2" y="14"/>
                  <a:pt x="2" y="14"/>
                  <a:pt x="2" y="14"/>
                </a:cubicBezTo>
                <a:cubicBezTo>
                  <a:pt x="0" y="11"/>
                  <a:pt x="0" y="8"/>
                  <a:pt x="2" y="6"/>
                </a:cubicBezTo>
                <a:close/>
              </a:path>
            </a:pathLst>
          </a:custGeom>
          <a:solidFill>
            <a:srgbClr val="EE880B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</a14:hiddenLine>
            </a:ext>
          </a:extLst>
        </p:spPr>
        <p:txBody>
          <a:bodyPr/>
          <a:p>
            <a:pPr marL="0" marR="0" lvl="0" indent="0" algn="l" defTabSz="91376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cs typeface="+mn-ea"/>
              <a:sym typeface="Arial" panose="020B0604020202020204" pitchFamily="34" charset="0"/>
            </a:endParaRPr>
          </a:p>
        </p:txBody>
      </p:sp>
    </p:spTree>
  </p:cSld>
  <p:clrMapOvr>
    <a:masterClrMapping/>
  </p:clrMapOvr>
  <p:transition spd="slow" advClick="0" advTm="2000"/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五边形 24"/>
          <p:cNvSpPr/>
          <p:nvPr/>
        </p:nvSpPr>
        <p:spPr>
          <a:xfrm>
            <a:off x="0" y="0"/>
            <a:ext cx="2247900" cy="838200"/>
          </a:xfrm>
          <a:custGeom>
            <a:avLst/>
            <a:gdLst>
              <a:gd name="connsiteX0" fmla="*/ 0 w 2641600"/>
              <a:gd name="connsiteY0" fmla="*/ 0 h 787400"/>
              <a:gd name="connsiteX1" fmla="*/ 2247900 w 2641600"/>
              <a:gd name="connsiteY1" fmla="*/ 0 h 787400"/>
              <a:gd name="connsiteX2" fmla="*/ 2641600 w 2641600"/>
              <a:gd name="connsiteY2" fmla="*/ 393700 h 787400"/>
              <a:gd name="connsiteX3" fmla="*/ 2247900 w 2641600"/>
              <a:gd name="connsiteY3" fmla="*/ 787400 h 787400"/>
              <a:gd name="connsiteX4" fmla="*/ 0 w 2641600"/>
              <a:gd name="connsiteY4" fmla="*/ 787400 h 787400"/>
              <a:gd name="connsiteX5" fmla="*/ 0 w 2641600"/>
              <a:gd name="connsiteY5" fmla="*/ 0 h 787400"/>
              <a:gd name="connsiteX0-1" fmla="*/ 0 w 2247900"/>
              <a:gd name="connsiteY0-2" fmla="*/ 0 h 787400"/>
              <a:gd name="connsiteX1-3" fmla="*/ 2247900 w 2247900"/>
              <a:gd name="connsiteY1-4" fmla="*/ 0 h 787400"/>
              <a:gd name="connsiteX2-5" fmla="*/ 2247900 w 2247900"/>
              <a:gd name="connsiteY2-6" fmla="*/ 787400 h 787400"/>
              <a:gd name="connsiteX3-7" fmla="*/ 0 w 2247900"/>
              <a:gd name="connsiteY3-8" fmla="*/ 787400 h 787400"/>
              <a:gd name="connsiteX4-9" fmla="*/ 0 w 2247900"/>
              <a:gd name="connsiteY4-10" fmla="*/ 0 h 787400"/>
              <a:gd name="connsiteX0-11" fmla="*/ 0 w 2247900"/>
              <a:gd name="connsiteY0-12" fmla="*/ 0 h 787400"/>
              <a:gd name="connsiteX1-13" fmla="*/ 2158690 w 2247900"/>
              <a:gd name="connsiteY1-14" fmla="*/ 0 h 787400"/>
              <a:gd name="connsiteX2-15" fmla="*/ 2247900 w 2247900"/>
              <a:gd name="connsiteY2-16" fmla="*/ 787400 h 787400"/>
              <a:gd name="connsiteX3-17" fmla="*/ 0 w 2247900"/>
              <a:gd name="connsiteY3-18" fmla="*/ 787400 h 787400"/>
              <a:gd name="connsiteX4-19" fmla="*/ 0 w 2247900"/>
              <a:gd name="connsiteY4-20" fmla="*/ 0 h 787400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</a:cxnLst>
            <a:rect l="l" t="t" r="r" b="b"/>
            <a:pathLst>
              <a:path w="2247900" h="787400">
                <a:moveTo>
                  <a:pt x="0" y="0"/>
                </a:moveTo>
                <a:lnTo>
                  <a:pt x="2158690" y="0"/>
                </a:lnTo>
                <a:lnTo>
                  <a:pt x="2247900" y="787400"/>
                </a:lnTo>
                <a:lnTo>
                  <a:pt x="0" y="787400"/>
                </a:lnTo>
                <a:lnTo>
                  <a:pt x="0" y="0"/>
                </a:lnTo>
                <a:close/>
              </a:path>
            </a:pathLst>
          </a:cu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2400" dirty="0">
                <a:latin typeface="苹方-简" panose="020B0400000000000000" charset="-122"/>
                <a:ea typeface="苹方-简" panose="020B0400000000000000" charset="-122"/>
                <a:cs typeface="+mn-ea"/>
                <a:sym typeface="+mn-lt"/>
              </a:rPr>
              <a:t>平台前端</a:t>
            </a:r>
            <a:endParaRPr lang="zh-CN" altLang="en-US" sz="2400" dirty="0">
              <a:latin typeface="苹方-简" panose="020B0400000000000000" charset="-122"/>
              <a:ea typeface="苹方-简" panose="020B0400000000000000" charset="-122"/>
              <a:cs typeface="+mn-ea"/>
              <a:sym typeface="+mn-lt"/>
            </a:endParaRPr>
          </a:p>
        </p:txBody>
      </p:sp>
      <p:grpSp>
        <p:nvGrpSpPr>
          <p:cNvPr id="6" name="组合 6"/>
          <p:cNvGrpSpPr/>
          <p:nvPr/>
        </p:nvGrpSpPr>
        <p:grpSpPr bwMode="auto">
          <a:xfrm>
            <a:off x="1876234" y="838358"/>
            <a:ext cx="5247977" cy="5982808"/>
            <a:chOff x="694895" y="85823"/>
            <a:chExt cx="4833397" cy="5156200"/>
          </a:xfrm>
        </p:grpSpPr>
        <p:sp>
          <p:nvSpPr>
            <p:cNvPr id="50" name="任意多边形 49"/>
            <p:cNvSpPr/>
            <p:nvPr/>
          </p:nvSpPr>
          <p:spPr>
            <a:xfrm>
              <a:off x="1049956" y="91121"/>
              <a:ext cx="4478336" cy="5023921"/>
            </a:xfrm>
            <a:custGeom>
              <a:avLst/>
              <a:gdLst>
                <a:gd name="connsiteX0" fmla="*/ 0 w 3810000"/>
                <a:gd name="connsiteY0" fmla="*/ 0 h 5181600"/>
                <a:gd name="connsiteX1" fmla="*/ 1079500 w 3810000"/>
                <a:gd name="connsiteY1" fmla="*/ 5181600 h 5181600"/>
                <a:gd name="connsiteX2" fmla="*/ 3810000 w 3810000"/>
                <a:gd name="connsiteY2" fmla="*/ 5181600 h 5181600"/>
                <a:gd name="connsiteX3" fmla="*/ 2514600 w 3810000"/>
                <a:gd name="connsiteY3" fmla="*/ 12700 h 5181600"/>
                <a:gd name="connsiteX4" fmla="*/ 0 w 3810000"/>
                <a:gd name="connsiteY4" fmla="*/ 0 h 5181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00" h="5181600">
                  <a:moveTo>
                    <a:pt x="0" y="0"/>
                  </a:moveTo>
                  <a:lnTo>
                    <a:pt x="1079500" y="5181600"/>
                  </a:lnTo>
                  <a:lnTo>
                    <a:pt x="3810000" y="5181600"/>
                  </a:lnTo>
                  <a:lnTo>
                    <a:pt x="2514600" y="127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1559C">
                <a:alpha val="68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0" hangingPunct="0">
                <a:lnSpc>
                  <a:spcPct val="150000"/>
                </a:lnSpc>
                <a:defRPr/>
              </a:pPr>
              <a:endParaRPr lang="zh-CN" altLang="en-US" sz="1600">
                <a:latin typeface="Arial" panose="020B0604020202020204" pitchFamily="34" charset="0"/>
                <a:ea typeface="微软雅黑" panose="020B0503020204020204" pitchFamily="34" charset="-122"/>
                <a:sym typeface="Arial" panose="020B0604020202020204" pitchFamily="34" charset="0"/>
              </a:endParaRPr>
            </a:p>
          </p:txBody>
        </p:sp>
        <p:sp>
          <p:nvSpPr>
            <p:cNvPr id="2" name="任意多边形 1"/>
            <p:cNvSpPr/>
            <p:nvPr/>
          </p:nvSpPr>
          <p:spPr>
            <a:xfrm>
              <a:off x="694895" y="85823"/>
              <a:ext cx="4478545" cy="5156200"/>
            </a:xfrm>
            <a:custGeom>
              <a:avLst/>
              <a:gdLst>
                <a:gd name="connsiteX0" fmla="*/ 0 w 3810000"/>
                <a:gd name="connsiteY0" fmla="*/ 0 h 5181600"/>
                <a:gd name="connsiteX1" fmla="*/ 1079500 w 3810000"/>
                <a:gd name="connsiteY1" fmla="*/ 5181600 h 5181600"/>
                <a:gd name="connsiteX2" fmla="*/ 3810000 w 3810000"/>
                <a:gd name="connsiteY2" fmla="*/ 5181600 h 5181600"/>
                <a:gd name="connsiteX3" fmla="*/ 2514600 w 3810000"/>
                <a:gd name="connsiteY3" fmla="*/ 12700 h 5181600"/>
                <a:gd name="connsiteX4" fmla="*/ 0 w 3810000"/>
                <a:gd name="connsiteY4" fmla="*/ 0 h 5181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00" h="5181600">
                  <a:moveTo>
                    <a:pt x="0" y="0"/>
                  </a:moveTo>
                  <a:lnTo>
                    <a:pt x="1079500" y="5181600"/>
                  </a:lnTo>
                  <a:lnTo>
                    <a:pt x="3810000" y="5181600"/>
                  </a:lnTo>
                  <a:lnTo>
                    <a:pt x="2514600" y="127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1559C">
                <a:alpha val="68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0" hangingPunct="0">
                <a:lnSpc>
                  <a:spcPct val="150000"/>
                </a:lnSpc>
                <a:defRPr/>
              </a:pPr>
              <a:endParaRPr lang="zh-CN" altLang="en-US" sz="1600">
                <a:latin typeface="Arial" panose="020B0604020202020204" pitchFamily="34" charset="0"/>
                <a:ea typeface="微软雅黑" panose="020B0503020204020204" pitchFamily="34" charset="-122"/>
                <a:sym typeface="Arial" panose="020B0604020202020204" pitchFamily="34" charset="0"/>
              </a:endParaRPr>
            </a:p>
          </p:txBody>
        </p:sp>
      </p:grpSp>
      <p:sp>
        <p:nvSpPr>
          <p:cNvPr id="15" name="矩形 14"/>
          <p:cNvSpPr/>
          <p:nvPr/>
        </p:nvSpPr>
        <p:spPr>
          <a:xfrm>
            <a:off x="9363322" y="1874573"/>
            <a:ext cx="2065020" cy="5835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>
              <a:spcBef>
                <a:spcPct val="20000"/>
              </a:spcBef>
            </a:pPr>
            <a:r>
              <a:rPr lang="zh-CN" altLang="en-US" sz="3200" b="1" spc="500" dirty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苹方-简" panose="020B0400000000000000" charset="-122"/>
                <a:ea typeface="苹方-简" panose="020B0400000000000000" charset="-122"/>
                <a:cs typeface="宋体" panose="02010600030101010101" pitchFamily="2" charset="-122"/>
                <a:sym typeface="Arial" panose="020B0604020202020204" pitchFamily="34" charset="0"/>
              </a:rPr>
              <a:t>登陆入口</a:t>
            </a:r>
            <a:endParaRPr lang="zh-CN" altLang="en-US" sz="3200" b="1" spc="500" dirty="0">
              <a:solidFill>
                <a:schemeClr val="tx1">
                  <a:lumMod val="85000"/>
                  <a:lumOff val="15000"/>
                </a:schemeClr>
              </a:solidFill>
              <a:uFillTx/>
              <a:latin typeface="苹方-简" panose="020B0400000000000000" charset="-122"/>
              <a:ea typeface="苹方-简" panose="020B0400000000000000" charset="-122"/>
              <a:cs typeface="宋体" panose="02010600030101010101" pitchFamily="2" charset="-122"/>
              <a:sym typeface="Arial" panose="020B0604020202020204" pitchFamily="34" charset="0"/>
            </a:endParaRPr>
          </a:p>
        </p:txBody>
      </p:sp>
      <p:cxnSp>
        <p:nvCxnSpPr>
          <p:cNvPr id="16" name="直接连接符 15"/>
          <p:cNvCxnSpPr/>
          <p:nvPr/>
        </p:nvCxnSpPr>
        <p:spPr>
          <a:xfrm>
            <a:off x="7648862" y="2718303"/>
            <a:ext cx="3779585" cy="0"/>
          </a:xfrm>
          <a:prstGeom prst="line">
            <a:avLst/>
          </a:prstGeom>
          <a:ln w="38100">
            <a:solidFill>
              <a:srgbClr val="11559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7"/>
          <p:cNvSpPr txBox="1"/>
          <p:nvPr/>
        </p:nvSpPr>
        <p:spPr>
          <a:xfrm>
            <a:off x="7648862" y="2832624"/>
            <a:ext cx="3779585" cy="2675255"/>
          </a:xfrm>
          <a:prstGeom prst="rect">
            <a:avLst/>
          </a:prstGeom>
          <a:noFill/>
        </p:spPr>
        <p:txBody>
          <a:bodyPr wrap="square" lIns="91428" tIns="45714" rIns="91428" bIns="45714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912495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912495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912495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912495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just" eaLnBrk="1" hangingPunct="1">
              <a:lnSpc>
                <a:spcPct val="150000"/>
              </a:lnSpc>
            </a:pPr>
            <a:r>
              <a:rPr lang="zh-CN" altLang="en-US" sz="1400" dirty="0">
                <a:latin typeface="苹方-简" panose="020B0400000000000000" charset="-122"/>
                <a:ea typeface="苹方-简" panose="020B0400000000000000" charset="-122"/>
                <a:sym typeface="+mn-ea"/>
              </a:rPr>
              <a:t>系统采用 </a:t>
            </a:r>
            <a:r>
              <a:rPr lang="en-US" altLang="zh-CN" sz="1400" dirty="0">
                <a:latin typeface="苹方-简" panose="020B0400000000000000" charset="-122"/>
                <a:ea typeface="苹方-简" panose="020B0400000000000000" charset="-122"/>
                <a:sym typeface="+mn-ea"/>
              </a:rPr>
              <a:t>B/S </a:t>
            </a:r>
            <a:r>
              <a:rPr lang="zh-CN" altLang="en-US" sz="1400" dirty="0">
                <a:latin typeface="苹方-简" panose="020B0400000000000000" charset="-122"/>
                <a:ea typeface="苹方-简" panose="020B0400000000000000" charset="-122"/>
                <a:sym typeface="+mn-ea"/>
              </a:rPr>
              <a:t>架构，浏览器访问即可使用，无需安装客户端。登录按岗位选择账号类型：仓管员、生产员、系统管理员、海关专用账号（关务员）。权限与后台角色绑定，菜单、数据与审计隔离。仓管员、管理员默认进入可视化驾驶舱；关务员进入关务保税；生产员进入生产完工。登录后按权限展示菜单、业务数据与预警，实现岗位隔离与分级管理。</a:t>
            </a:r>
            <a:endParaRPr lang="zh-CN" altLang="en-US" sz="1400" dirty="0">
              <a:latin typeface="苹方-简" panose="020B0400000000000000" charset="-122"/>
              <a:ea typeface="苹方-简" panose="020B0400000000000000" charset="-122"/>
              <a:sym typeface="+mn-ea"/>
            </a:endParaRPr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9075" y="1942465"/>
            <a:ext cx="7270115" cy="4100195"/>
          </a:xfrm>
          <a:prstGeom prst="rect">
            <a:avLst/>
          </a:prstGeom>
        </p:spPr>
      </p:pic>
    </p:spTree>
  </p:cSld>
  <p:clrMapOvr>
    <a:masterClrMapping/>
  </p:clrMapOvr>
  <p:transition spd="slow" advClick="0" advTm="2000"/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五边形 24"/>
          <p:cNvSpPr/>
          <p:nvPr/>
        </p:nvSpPr>
        <p:spPr>
          <a:xfrm>
            <a:off x="0" y="0"/>
            <a:ext cx="2247900" cy="838200"/>
          </a:xfrm>
          <a:custGeom>
            <a:avLst/>
            <a:gdLst>
              <a:gd name="connsiteX0" fmla="*/ 0 w 2641600"/>
              <a:gd name="connsiteY0" fmla="*/ 0 h 787400"/>
              <a:gd name="connsiteX1" fmla="*/ 2247900 w 2641600"/>
              <a:gd name="connsiteY1" fmla="*/ 0 h 787400"/>
              <a:gd name="connsiteX2" fmla="*/ 2641600 w 2641600"/>
              <a:gd name="connsiteY2" fmla="*/ 393700 h 787400"/>
              <a:gd name="connsiteX3" fmla="*/ 2247900 w 2641600"/>
              <a:gd name="connsiteY3" fmla="*/ 787400 h 787400"/>
              <a:gd name="connsiteX4" fmla="*/ 0 w 2641600"/>
              <a:gd name="connsiteY4" fmla="*/ 787400 h 787400"/>
              <a:gd name="connsiteX5" fmla="*/ 0 w 2641600"/>
              <a:gd name="connsiteY5" fmla="*/ 0 h 787400"/>
              <a:gd name="connsiteX0-1" fmla="*/ 0 w 2247900"/>
              <a:gd name="connsiteY0-2" fmla="*/ 0 h 787400"/>
              <a:gd name="connsiteX1-3" fmla="*/ 2247900 w 2247900"/>
              <a:gd name="connsiteY1-4" fmla="*/ 0 h 787400"/>
              <a:gd name="connsiteX2-5" fmla="*/ 2247900 w 2247900"/>
              <a:gd name="connsiteY2-6" fmla="*/ 787400 h 787400"/>
              <a:gd name="connsiteX3-7" fmla="*/ 0 w 2247900"/>
              <a:gd name="connsiteY3-8" fmla="*/ 787400 h 787400"/>
              <a:gd name="connsiteX4-9" fmla="*/ 0 w 2247900"/>
              <a:gd name="connsiteY4-10" fmla="*/ 0 h 787400"/>
              <a:gd name="connsiteX0-11" fmla="*/ 0 w 2247900"/>
              <a:gd name="connsiteY0-12" fmla="*/ 0 h 787400"/>
              <a:gd name="connsiteX1-13" fmla="*/ 2158690 w 2247900"/>
              <a:gd name="connsiteY1-14" fmla="*/ 0 h 787400"/>
              <a:gd name="connsiteX2-15" fmla="*/ 2247900 w 2247900"/>
              <a:gd name="connsiteY2-16" fmla="*/ 787400 h 787400"/>
              <a:gd name="connsiteX3-17" fmla="*/ 0 w 2247900"/>
              <a:gd name="connsiteY3-18" fmla="*/ 787400 h 787400"/>
              <a:gd name="connsiteX4-19" fmla="*/ 0 w 2247900"/>
              <a:gd name="connsiteY4-20" fmla="*/ 0 h 787400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</a:cxnLst>
            <a:rect l="l" t="t" r="r" b="b"/>
            <a:pathLst>
              <a:path w="2247900" h="787400">
                <a:moveTo>
                  <a:pt x="0" y="0"/>
                </a:moveTo>
                <a:lnTo>
                  <a:pt x="2158690" y="0"/>
                </a:lnTo>
                <a:lnTo>
                  <a:pt x="2247900" y="787400"/>
                </a:lnTo>
                <a:lnTo>
                  <a:pt x="0" y="787400"/>
                </a:lnTo>
                <a:lnTo>
                  <a:pt x="0" y="0"/>
                </a:lnTo>
                <a:close/>
              </a:path>
            </a:pathLst>
          </a:cu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2400" dirty="0">
                <a:latin typeface="苹方-简" panose="020B0400000000000000" charset="-122"/>
                <a:ea typeface="苹方-简" panose="020B0400000000000000" charset="-122"/>
                <a:cs typeface="+mn-ea"/>
                <a:sym typeface="+mn-lt"/>
              </a:rPr>
              <a:t>平台前端</a:t>
            </a:r>
            <a:endParaRPr lang="zh-CN" altLang="en-US" sz="2400" dirty="0">
              <a:latin typeface="苹方-简" panose="020B0400000000000000" charset="-122"/>
              <a:ea typeface="苹方-简" panose="020B0400000000000000" charset="-122"/>
              <a:cs typeface="+mn-ea"/>
              <a:sym typeface="+mn-lt"/>
            </a:endParaRPr>
          </a:p>
        </p:txBody>
      </p:sp>
      <p:grpSp>
        <p:nvGrpSpPr>
          <p:cNvPr id="6" name="组合 6"/>
          <p:cNvGrpSpPr/>
          <p:nvPr/>
        </p:nvGrpSpPr>
        <p:grpSpPr bwMode="auto">
          <a:xfrm>
            <a:off x="1876234" y="838358"/>
            <a:ext cx="5247977" cy="5982808"/>
            <a:chOff x="694895" y="85823"/>
            <a:chExt cx="4833397" cy="5156200"/>
          </a:xfrm>
        </p:grpSpPr>
        <p:sp>
          <p:nvSpPr>
            <p:cNvPr id="50" name="任意多边形 49"/>
            <p:cNvSpPr/>
            <p:nvPr/>
          </p:nvSpPr>
          <p:spPr>
            <a:xfrm>
              <a:off x="1049956" y="91121"/>
              <a:ext cx="4478336" cy="5023921"/>
            </a:xfrm>
            <a:custGeom>
              <a:avLst/>
              <a:gdLst>
                <a:gd name="connsiteX0" fmla="*/ 0 w 3810000"/>
                <a:gd name="connsiteY0" fmla="*/ 0 h 5181600"/>
                <a:gd name="connsiteX1" fmla="*/ 1079500 w 3810000"/>
                <a:gd name="connsiteY1" fmla="*/ 5181600 h 5181600"/>
                <a:gd name="connsiteX2" fmla="*/ 3810000 w 3810000"/>
                <a:gd name="connsiteY2" fmla="*/ 5181600 h 5181600"/>
                <a:gd name="connsiteX3" fmla="*/ 2514600 w 3810000"/>
                <a:gd name="connsiteY3" fmla="*/ 12700 h 5181600"/>
                <a:gd name="connsiteX4" fmla="*/ 0 w 3810000"/>
                <a:gd name="connsiteY4" fmla="*/ 0 h 5181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00" h="5181600">
                  <a:moveTo>
                    <a:pt x="0" y="0"/>
                  </a:moveTo>
                  <a:lnTo>
                    <a:pt x="1079500" y="5181600"/>
                  </a:lnTo>
                  <a:lnTo>
                    <a:pt x="3810000" y="5181600"/>
                  </a:lnTo>
                  <a:lnTo>
                    <a:pt x="2514600" y="127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1559C">
                <a:alpha val="68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0" hangingPunct="0">
                <a:lnSpc>
                  <a:spcPct val="150000"/>
                </a:lnSpc>
                <a:defRPr/>
              </a:pPr>
              <a:endParaRPr lang="zh-CN" altLang="en-US" sz="1600">
                <a:latin typeface="Arial" panose="020B0604020202020204" pitchFamily="34" charset="0"/>
                <a:ea typeface="微软雅黑" panose="020B0503020204020204" pitchFamily="34" charset="-122"/>
                <a:sym typeface="Arial" panose="020B0604020202020204" pitchFamily="34" charset="0"/>
              </a:endParaRPr>
            </a:p>
          </p:txBody>
        </p:sp>
        <p:sp>
          <p:nvSpPr>
            <p:cNvPr id="2" name="任意多边形 1"/>
            <p:cNvSpPr/>
            <p:nvPr/>
          </p:nvSpPr>
          <p:spPr>
            <a:xfrm>
              <a:off x="694895" y="85823"/>
              <a:ext cx="4478545" cy="5156200"/>
            </a:xfrm>
            <a:custGeom>
              <a:avLst/>
              <a:gdLst>
                <a:gd name="connsiteX0" fmla="*/ 0 w 3810000"/>
                <a:gd name="connsiteY0" fmla="*/ 0 h 5181600"/>
                <a:gd name="connsiteX1" fmla="*/ 1079500 w 3810000"/>
                <a:gd name="connsiteY1" fmla="*/ 5181600 h 5181600"/>
                <a:gd name="connsiteX2" fmla="*/ 3810000 w 3810000"/>
                <a:gd name="connsiteY2" fmla="*/ 5181600 h 5181600"/>
                <a:gd name="connsiteX3" fmla="*/ 2514600 w 3810000"/>
                <a:gd name="connsiteY3" fmla="*/ 12700 h 5181600"/>
                <a:gd name="connsiteX4" fmla="*/ 0 w 3810000"/>
                <a:gd name="connsiteY4" fmla="*/ 0 h 5181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00" h="5181600">
                  <a:moveTo>
                    <a:pt x="0" y="0"/>
                  </a:moveTo>
                  <a:lnTo>
                    <a:pt x="1079500" y="5181600"/>
                  </a:lnTo>
                  <a:lnTo>
                    <a:pt x="3810000" y="5181600"/>
                  </a:lnTo>
                  <a:lnTo>
                    <a:pt x="2514600" y="127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1559C">
                <a:alpha val="68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0" hangingPunct="0">
                <a:lnSpc>
                  <a:spcPct val="150000"/>
                </a:lnSpc>
                <a:defRPr/>
              </a:pPr>
              <a:endParaRPr lang="zh-CN" altLang="en-US" sz="1600">
                <a:latin typeface="Arial" panose="020B0604020202020204" pitchFamily="34" charset="0"/>
                <a:ea typeface="微软雅黑" panose="020B0503020204020204" pitchFamily="34" charset="-122"/>
                <a:sym typeface="Arial" panose="020B0604020202020204" pitchFamily="34" charset="0"/>
              </a:endParaRPr>
            </a:p>
          </p:txBody>
        </p:sp>
      </p:grpSp>
      <p:sp>
        <p:nvSpPr>
          <p:cNvPr id="15" name="矩形 14"/>
          <p:cNvSpPr/>
          <p:nvPr/>
        </p:nvSpPr>
        <p:spPr>
          <a:xfrm>
            <a:off x="8414632" y="1874573"/>
            <a:ext cx="3013710" cy="5835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>
              <a:spcBef>
                <a:spcPct val="20000"/>
              </a:spcBef>
            </a:pPr>
            <a:r>
              <a:rPr lang="zh-CN" altLang="en-US" sz="3200" b="1" spc="500" dirty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苹方-简" panose="020B0400000000000000" charset="-122"/>
                <a:ea typeface="苹方-简" panose="020B0400000000000000" charset="-122"/>
                <a:cs typeface="宋体" panose="02010600030101010101" pitchFamily="2" charset="-122"/>
                <a:sym typeface="Arial" panose="020B0604020202020204" pitchFamily="34" charset="0"/>
              </a:rPr>
              <a:t>可视化</a:t>
            </a:r>
            <a:r>
              <a:rPr lang="zh-CN" altLang="en-US" sz="3200" b="1" spc="500" dirty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苹方-简" panose="020B0400000000000000" charset="-122"/>
                <a:ea typeface="苹方-简" panose="020B0400000000000000" charset="-122"/>
                <a:cs typeface="宋体" panose="02010600030101010101" pitchFamily="2" charset="-122"/>
                <a:sym typeface="Arial" panose="020B0604020202020204" pitchFamily="34" charset="0"/>
              </a:rPr>
              <a:t>驾驶舱</a:t>
            </a:r>
            <a:endParaRPr lang="zh-CN" altLang="en-US" sz="3200" b="1" spc="500" dirty="0">
              <a:solidFill>
                <a:schemeClr val="tx1">
                  <a:lumMod val="85000"/>
                  <a:lumOff val="15000"/>
                </a:schemeClr>
              </a:solidFill>
              <a:uFillTx/>
              <a:latin typeface="苹方-简" panose="020B0400000000000000" charset="-122"/>
              <a:ea typeface="苹方-简" panose="020B0400000000000000" charset="-122"/>
              <a:cs typeface="宋体" panose="02010600030101010101" pitchFamily="2" charset="-122"/>
              <a:sym typeface="Arial" panose="020B0604020202020204" pitchFamily="34" charset="0"/>
            </a:endParaRPr>
          </a:p>
        </p:txBody>
      </p:sp>
      <p:cxnSp>
        <p:nvCxnSpPr>
          <p:cNvPr id="16" name="直接连接符 15"/>
          <p:cNvCxnSpPr/>
          <p:nvPr/>
        </p:nvCxnSpPr>
        <p:spPr>
          <a:xfrm>
            <a:off x="7648862" y="2718303"/>
            <a:ext cx="3779585" cy="0"/>
          </a:xfrm>
          <a:prstGeom prst="line">
            <a:avLst/>
          </a:prstGeom>
          <a:ln w="38100">
            <a:solidFill>
              <a:srgbClr val="11559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/>
          <p:cNvSpPr txBox="1"/>
          <p:nvPr/>
        </p:nvSpPr>
        <p:spPr>
          <a:xfrm>
            <a:off x="7648575" y="2978785"/>
            <a:ext cx="4349750" cy="336550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>
              <a:lnSpc>
                <a:spcPct val="150000"/>
              </a:lnSpc>
            </a:pPr>
            <a:r>
              <a:rPr lang="zh-CN" altLang="en-US" sz="1600"/>
              <a:t>驾驶舱集中展示原料/成品库存（湿吨、干吨）、今日入出库、待检与库存预警。中部为五仓堆位示意，按占用着色（空闲 / 正常 / 紧张≥70% / 超阈≥85%）。已维护平面图的仓库，点击 3</a:t>
            </a:r>
            <a:r>
              <a:rPr lang="en-US" altLang="zh-CN" sz="1600"/>
              <a:t>D </a:t>
            </a:r>
            <a:r>
              <a:rPr lang="zh-CN" altLang="en-US" sz="1600"/>
              <a:t>模型弹出平面图，按在库重量划分堆位并标注物料；未设置则不弹出。右侧为仓储作业链路滚动日志与生产数据卡片，底部为近 7 日入出库趋势、库容构成与预警列表，指标可下钻至对应业务页。</a:t>
            </a:r>
            <a:endParaRPr lang="zh-CN" altLang="en-US" sz="1600"/>
          </a:p>
        </p:txBody>
      </p:sp>
      <p:pic>
        <p:nvPicPr>
          <p:cNvPr id="37" name="图片 36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9075" y="1951355"/>
            <a:ext cx="7219315" cy="4095115"/>
          </a:xfrm>
          <a:prstGeom prst="rect">
            <a:avLst/>
          </a:prstGeom>
        </p:spPr>
      </p:pic>
    </p:spTree>
  </p:cSld>
  <p:clrMapOvr>
    <a:masterClrMapping/>
  </p:clrMapOvr>
  <p:transition spd="slow" advClick="0" advTm="2000"/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五边形 24"/>
          <p:cNvSpPr/>
          <p:nvPr/>
        </p:nvSpPr>
        <p:spPr>
          <a:xfrm>
            <a:off x="0" y="0"/>
            <a:ext cx="2247900" cy="838200"/>
          </a:xfrm>
          <a:custGeom>
            <a:avLst/>
            <a:gdLst>
              <a:gd name="connsiteX0" fmla="*/ 0 w 2641600"/>
              <a:gd name="connsiteY0" fmla="*/ 0 h 787400"/>
              <a:gd name="connsiteX1" fmla="*/ 2247900 w 2641600"/>
              <a:gd name="connsiteY1" fmla="*/ 0 h 787400"/>
              <a:gd name="connsiteX2" fmla="*/ 2641600 w 2641600"/>
              <a:gd name="connsiteY2" fmla="*/ 393700 h 787400"/>
              <a:gd name="connsiteX3" fmla="*/ 2247900 w 2641600"/>
              <a:gd name="connsiteY3" fmla="*/ 787400 h 787400"/>
              <a:gd name="connsiteX4" fmla="*/ 0 w 2641600"/>
              <a:gd name="connsiteY4" fmla="*/ 787400 h 787400"/>
              <a:gd name="connsiteX5" fmla="*/ 0 w 2641600"/>
              <a:gd name="connsiteY5" fmla="*/ 0 h 787400"/>
              <a:gd name="connsiteX0-1" fmla="*/ 0 w 2247900"/>
              <a:gd name="connsiteY0-2" fmla="*/ 0 h 787400"/>
              <a:gd name="connsiteX1-3" fmla="*/ 2247900 w 2247900"/>
              <a:gd name="connsiteY1-4" fmla="*/ 0 h 787400"/>
              <a:gd name="connsiteX2-5" fmla="*/ 2247900 w 2247900"/>
              <a:gd name="connsiteY2-6" fmla="*/ 787400 h 787400"/>
              <a:gd name="connsiteX3-7" fmla="*/ 0 w 2247900"/>
              <a:gd name="connsiteY3-8" fmla="*/ 787400 h 787400"/>
              <a:gd name="connsiteX4-9" fmla="*/ 0 w 2247900"/>
              <a:gd name="connsiteY4-10" fmla="*/ 0 h 787400"/>
              <a:gd name="connsiteX0-11" fmla="*/ 0 w 2247900"/>
              <a:gd name="connsiteY0-12" fmla="*/ 0 h 787400"/>
              <a:gd name="connsiteX1-13" fmla="*/ 2158690 w 2247900"/>
              <a:gd name="connsiteY1-14" fmla="*/ 0 h 787400"/>
              <a:gd name="connsiteX2-15" fmla="*/ 2247900 w 2247900"/>
              <a:gd name="connsiteY2-16" fmla="*/ 787400 h 787400"/>
              <a:gd name="connsiteX3-17" fmla="*/ 0 w 2247900"/>
              <a:gd name="connsiteY3-18" fmla="*/ 787400 h 787400"/>
              <a:gd name="connsiteX4-19" fmla="*/ 0 w 2247900"/>
              <a:gd name="connsiteY4-20" fmla="*/ 0 h 787400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</a:cxnLst>
            <a:rect l="l" t="t" r="r" b="b"/>
            <a:pathLst>
              <a:path w="2247900" h="787400">
                <a:moveTo>
                  <a:pt x="0" y="0"/>
                </a:moveTo>
                <a:lnTo>
                  <a:pt x="2158690" y="0"/>
                </a:lnTo>
                <a:lnTo>
                  <a:pt x="2247900" y="787400"/>
                </a:lnTo>
                <a:lnTo>
                  <a:pt x="0" y="787400"/>
                </a:lnTo>
                <a:lnTo>
                  <a:pt x="0" y="0"/>
                </a:lnTo>
                <a:close/>
              </a:path>
            </a:pathLst>
          </a:cu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2400" dirty="0">
                <a:latin typeface="苹方-简" panose="020B0400000000000000" charset="-122"/>
                <a:ea typeface="苹方-简" panose="020B0400000000000000" charset="-122"/>
                <a:cs typeface="+mn-ea"/>
                <a:sym typeface="+mn-lt"/>
              </a:rPr>
              <a:t>平台前端</a:t>
            </a:r>
            <a:endParaRPr lang="zh-CN" altLang="en-US" sz="2400" dirty="0">
              <a:latin typeface="苹方-简" panose="020B0400000000000000" charset="-122"/>
              <a:ea typeface="苹方-简" panose="020B0400000000000000" charset="-122"/>
              <a:cs typeface="+mn-ea"/>
              <a:sym typeface="+mn-lt"/>
            </a:endParaRPr>
          </a:p>
        </p:txBody>
      </p:sp>
      <p:grpSp>
        <p:nvGrpSpPr>
          <p:cNvPr id="6" name="组合 6"/>
          <p:cNvGrpSpPr/>
          <p:nvPr/>
        </p:nvGrpSpPr>
        <p:grpSpPr bwMode="auto">
          <a:xfrm>
            <a:off x="1876234" y="838358"/>
            <a:ext cx="5247977" cy="5982808"/>
            <a:chOff x="694895" y="85823"/>
            <a:chExt cx="4833397" cy="5156200"/>
          </a:xfrm>
        </p:grpSpPr>
        <p:sp>
          <p:nvSpPr>
            <p:cNvPr id="50" name="任意多边形 49"/>
            <p:cNvSpPr/>
            <p:nvPr/>
          </p:nvSpPr>
          <p:spPr>
            <a:xfrm>
              <a:off x="1049956" y="91121"/>
              <a:ext cx="4478336" cy="5023921"/>
            </a:xfrm>
            <a:custGeom>
              <a:avLst/>
              <a:gdLst>
                <a:gd name="connsiteX0" fmla="*/ 0 w 3810000"/>
                <a:gd name="connsiteY0" fmla="*/ 0 h 5181600"/>
                <a:gd name="connsiteX1" fmla="*/ 1079500 w 3810000"/>
                <a:gd name="connsiteY1" fmla="*/ 5181600 h 5181600"/>
                <a:gd name="connsiteX2" fmla="*/ 3810000 w 3810000"/>
                <a:gd name="connsiteY2" fmla="*/ 5181600 h 5181600"/>
                <a:gd name="connsiteX3" fmla="*/ 2514600 w 3810000"/>
                <a:gd name="connsiteY3" fmla="*/ 12700 h 5181600"/>
                <a:gd name="connsiteX4" fmla="*/ 0 w 3810000"/>
                <a:gd name="connsiteY4" fmla="*/ 0 h 5181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00" h="5181600">
                  <a:moveTo>
                    <a:pt x="0" y="0"/>
                  </a:moveTo>
                  <a:lnTo>
                    <a:pt x="1079500" y="5181600"/>
                  </a:lnTo>
                  <a:lnTo>
                    <a:pt x="3810000" y="5181600"/>
                  </a:lnTo>
                  <a:lnTo>
                    <a:pt x="2514600" y="127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1559C">
                <a:alpha val="68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0" hangingPunct="0">
                <a:lnSpc>
                  <a:spcPct val="150000"/>
                </a:lnSpc>
                <a:defRPr/>
              </a:pPr>
              <a:endParaRPr lang="zh-CN" altLang="en-US" sz="1600">
                <a:latin typeface="Arial" panose="020B0604020202020204" pitchFamily="34" charset="0"/>
                <a:ea typeface="微软雅黑" panose="020B0503020204020204" pitchFamily="34" charset="-122"/>
                <a:sym typeface="Arial" panose="020B0604020202020204" pitchFamily="34" charset="0"/>
              </a:endParaRPr>
            </a:p>
          </p:txBody>
        </p:sp>
        <p:sp>
          <p:nvSpPr>
            <p:cNvPr id="2" name="任意多边形 1"/>
            <p:cNvSpPr/>
            <p:nvPr/>
          </p:nvSpPr>
          <p:spPr>
            <a:xfrm>
              <a:off x="694895" y="85823"/>
              <a:ext cx="4478545" cy="5156200"/>
            </a:xfrm>
            <a:custGeom>
              <a:avLst/>
              <a:gdLst>
                <a:gd name="connsiteX0" fmla="*/ 0 w 3810000"/>
                <a:gd name="connsiteY0" fmla="*/ 0 h 5181600"/>
                <a:gd name="connsiteX1" fmla="*/ 1079500 w 3810000"/>
                <a:gd name="connsiteY1" fmla="*/ 5181600 h 5181600"/>
                <a:gd name="connsiteX2" fmla="*/ 3810000 w 3810000"/>
                <a:gd name="connsiteY2" fmla="*/ 5181600 h 5181600"/>
                <a:gd name="connsiteX3" fmla="*/ 2514600 w 3810000"/>
                <a:gd name="connsiteY3" fmla="*/ 12700 h 5181600"/>
                <a:gd name="connsiteX4" fmla="*/ 0 w 3810000"/>
                <a:gd name="connsiteY4" fmla="*/ 0 h 5181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00" h="5181600">
                  <a:moveTo>
                    <a:pt x="0" y="0"/>
                  </a:moveTo>
                  <a:lnTo>
                    <a:pt x="1079500" y="5181600"/>
                  </a:lnTo>
                  <a:lnTo>
                    <a:pt x="3810000" y="5181600"/>
                  </a:lnTo>
                  <a:lnTo>
                    <a:pt x="2514600" y="127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1559C">
                <a:alpha val="68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0" hangingPunct="0">
                <a:lnSpc>
                  <a:spcPct val="150000"/>
                </a:lnSpc>
                <a:defRPr/>
              </a:pPr>
              <a:endParaRPr lang="zh-CN" altLang="en-US" sz="1600">
                <a:latin typeface="Arial" panose="020B0604020202020204" pitchFamily="34" charset="0"/>
                <a:ea typeface="微软雅黑" panose="020B0503020204020204" pitchFamily="34" charset="-122"/>
                <a:sym typeface="Arial" panose="020B0604020202020204" pitchFamily="34" charset="0"/>
              </a:endParaRPr>
            </a:p>
          </p:txBody>
        </p:sp>
      </p:grpSp>
      <p:sp>
        <p:nvSpPr>
          <p:cNvPr id="15" name="矩形 14"/>
          <p:cNvSpPr/>
          <p:nvPr/>
        </p:nvSpPr>
        <p:spPr>
          <a:xfrm>
            <a:off x="9358242" y="1874573"/>
            <a:ext cx="2070100" cy="5835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>
              <a:spcBef>
                <a:spcPct val="20000"/>
              </a:spcBef>
            </a:pPr>
            <a:r>
              <a:rPr lang="zh-CN" altLang="en-US" sz="3200" b="1" spc="500" dirty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苹方-简" panose="020B0400000000000000" charset="-122"/>
                <a:ea typeface="苹方-简" panose="020B0400000000000000" charset="-122"/>
                <a:cs typeface="宋体" panose="02010600030101010101" pitchFamily="2" charset="-122"/>
                <a:sym typeface="Arial" panose="020B0604020202020204" pitchFamily="34" charset="0"/>
              </a:rPr>
              <a:t>仓库管理</a:t>
            </a:r>
            <a:endParaRPr lang="zh-CN" altLang="en-US" sz="3200" b="1" spc="500" dirty="0">
              <a:solidFill>
                <a:schemeClr val="tx1">
                  <a:lumMod val="85000"/>
                  <a:lumOff val="15000"/>
                </a:schemeClr>
              </a:solidFill>
              <a:uFillTx/>
              <a:latin typeface="苹方-简" panose="020B0400000000000000" charset="-122"/>
              <a:ea typeface="苹方-简" panose="020B0400000000000000" charset="-122"/>
              <a:cs typeface="宋体" panose="02010600030101010101" pitchFamily="2" charset="-122"/>
              <a:sym typeface="Arial" panose="020B0604020202020204" pitchFamily="34" charset="0"/>
            </a:endParaRPr>
          </a:p>
        </p:txBody>
      </p:sp>
      <p:cxnSp>
        <p:nvCxnSpPr>
          <p:cNvPr id="16" name="直接连接符 15"/>
          <p:cNvCxnSpPr/>
          <p:nvPr/>
        </p:nvCxnSpPr>
        <p:spPr>
          <a:xfrm>
            <a:off x="7648862" y="2718303"/>
            <a:ext cx="3779585" cy="0"/>
          </a:xfrm>
          <a:prstGeom prst="line">
            <a:avLst/>
          </a:prstGeom>
          <a:ln w="38100">
            <a:solidFill>
              <a:srgbClr val="11559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/>
          <p:cNvSpPr txBox="1"/>
          <p:nvPr/>
        </p:nvSpPr>
        <p:spPr>
          <a:xfrm>
            <a:off x="7648575" y="2978785"/>
            <a:ext cx="3779520" cy="340995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>
              <a:lnSpc>
                <a:spcPct val="150000"/>
              </a:lnSpc>
            </a:pPr>
            <a:r>
              <a:rPr lang="zh-CN" altLang="en-US" sz="1600"/>
              <a:t>仓库模块允许自定义仓库名称、库容以及启用停用，点击</a:t>
            </a:r>
            <a:r>
              <a:rPr lang="en-US" altLang="zh-CN" sz="1600"/>
              <a:t>“</a:t>
            </a:r>
            <a:r>
              <a:rPr lang="zh-CN" altLang="en-US" sz="1600"/>
              <a:t>查看堆位</a:t>
            </a:r>
            <a:r>
              <a:rPr lang="en-US" altLang="zh-CN" sz="1600"/>
              <a:t>”</a:t>
            </a:r>
            <a:r>
              <a:rPr lang="zh-CN" altLang="en-US" sz="1600"/>
              <a:t>可跳转到对应仓库的堆位进行设置与</a:t>
            </a:r>
            <a:r>
              <a:rPr lang="zh-CN" altLang="en-US" sz="1600"/>
              <a:t>查看。</a:t>
            </a:r>
            <a:endParaRPr lang="zh-CN" altLang="en-US" sz="1600"/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9075" y="1951355"/>
            <a:ext cx="7219950" cy="4095115"/>
          </a:xfrm>
          <a:prstGeom prst="rect">
            <a:avLst/>
          </a:prstGeom>
        </p:spPr>
      </p:pic>
    </p:spTree>
  </p:cSld>
  <p:clrMapOvr>
    <a:masterClrMapping/>
  </p:clrMapOvr>
  <p:transition spd="slow" advClick="0" advTm="2000"/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五边形 24"/>
          <p:cNvSpPr/>
          <p:nvPr/>
        </p:nvSpPr>
        <p:spPr>
          <a:xfrm>
            <a:off x="0" y="0"/>
            <a:ext cx="2247900" cy="838200"/>
          </a:xfrm>
          <a:custGeom>
            <a:avLst/>
            <a:gdLst>
              <a:gd name="connsiteX0" fmla="*/ 0 w 2641600"/>
              <a:gd name="connsiteY0" fmla="*/ 0 h 787400"/>
              <a:gd name="connsiteX1" fmla="*/ 2247900 w 2641600"/>
              <a:gd name="connsiteY1" fmla="*/ 0 h 787400"/>
              <a:gd name="connsiteX2" fmla="*/ 2641600 w 2641600"/>
              <a:gd name="connsiteY2" fmla="*/ 393700 h 787400"/>
              <a:gd name="connsiteX3" fmla="*/ 2247900 w 2641600"/>
              <a:gd name="connsiteY3" fmla="*/ 787400 h 787400"/>
              <a:gd name="connsiteX4" fmla="*/ 0 w 2641600"/>
              <a:gd name="connsiteY4" fmla="*/ 787400 h 787400"/>
              <a:gd name="connsiteX5" fmla="*/ 0 w 2641600"/>
              <a:gd name="connsiteY5" fmla="*/ 0 h 787400"/>
              <a:gd name="connsiteX0-1" fmla="*/ 0 w 2247900"/>
              <a:gd name="connsiteY0-2" fmla="*/ 0 h 787400"/>
              <a:gd name="connsiteX1-3" fmla="*/ 2247900 w 2247900"/>
              <a:gd name="connsiteY1-4" fmla="*/ 0 h 787400"/>
              <a:gd name="connsiteX2-5" fmla="*/ 2247900 w 2247900"/>
              <a:gd name="connsiteY2-6" fmla="*/ 787400 h 787400"/>
              <a:gd name="connsiteX3-7" fmla="*/ 0 w 2247900"/>
              <a:gd name="connsiteY3-8" fmla="*/ 787400 h 787400"/>
              <a:gd name="connsiteX4-9" fmla="*/ 0 w 2247900"/>
              <a:gd name="connsiteY4-10" fmla="*/ 0 h 787400"/>
              <a:gd name="connsiteX0-11" fmla="*/ 0 w 2247900"/>
              <a:gd name="connsiteY0-12" fmla="*/ 0 h 787400"/>
              <a:gd name="connsiteX1-13" fmla="*/ 2158690 w 2247900"/>
              <a:gd name="connsiteY1-14" fmla="*/ 0 h 787400"/>
              <a:gd name="connsiteX2-15" fmla="*/ 2247900 w 2247900"/>
              <a:gd name="connsiteY2-16" fmla="*/ 787400 h 787400"/>
              <a:gd name="connsiteX3-17" fmla="*/ 0 w 2247900"/>
              <a:gd name="connsiteY3-18" fmla="*/ 787400 h 787400"/>
              <a:gd name="connsiteX4-19" fmla="*/ 0 w 2247900"/>
              <a:gd name="connsiteY4-20" fmla="*/ 0 h 787400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</a:cxnLst>
            <a:rect l="l" t="t" r="r" b="b"/>
            <a:pathLst>
              <a:path w="2247900" h="787400">
                <a:moveTo>
                  <a:pt x="0" y="0"/>
                </a:moveTo>
                <a:lnTo>
                  <a:pt x="2158690" y="0"/>
                </a:lnTo>
                <a:lnTo>
                  <a:pt x="2247900" y="787400"/>
                </a:lnTo>
                <a:lnTo>
                  <a:pt x="0" y="787400"/>
                </a:lnTo>
                <a:lnTo>
                  <a:pt x="0" y="0"/>
                </a:lnTo>
                <a:close/>
              </a:path>
            </a:pathLst>
          </a:cu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2400" dirty="0">
                <a:latin typeface="苹方-简" panose="020B0400000000000000" charset="-122"/>
                <a:ea typeface="苹方-简" panose="020B0400000000000000" charset="-122"/>
                <a:cs typeface="+mn-ea"/>
                <a:sym typeface="+mn-lt"/>
              </a:rPr>
              <a:t>平台前端</a:t>
            </a:r>
            <a:endParaRPr lang="zh-CN" altLang="en-US" sz="2400" dirty="0">
              <a:latin typeface="苹方-简" panose="020B0400000000000000" charset="-122"/>
              <a:ea typeface="苹方-简" panose="020B0400000000000000" charset="-122"/>
              <a:cs typeface="+mn-ea"/>
              <a:sym typeface="+mn-lt"/>
            </a:endParaRPr>
          </a:p>
        </p:txBody>
      </p:sp>
      <p:grpSp>
        <p:nvGrpSpPr>
          <p:cNvPr id="6" name="组合 6"/>
          <p:cNvGrpSpPr/>
          <p:nvPr/>
        </p:nvGrpSpPr>
        <p:grpSpPr bwMode="auto">
          <a:xfrm>
            <a:off x="1876234" y="838358"/>
            <a:ext cx="5247977" cy="5982808"/>
            <a:chOff x="694895" y="85823"/>
            <a:chExt cx="4833397" cy="5156200"/>
          </a:xfrm>
        </p:grpSpPr>
        <p:sp>
          <p:nvSpPr>
            <p:cNvPr id="50" name="任意多边形 49"/>
            <p:cNvSpPr/>
            <p:nvPr/>
          </p:nvSpPr>
          <p:spPr>
            <a:xfrm>
              <a:off x="1049956" y="91121"/>
              <a:ext cx="4478336" cy="5023921"/>
            </a:xfrm>
            <a:custGeom>
              <a:avLst/>
              <a:gdLst>
                <a:gd name="connsiteX0" fmla="*/ 0 w 3810000"/>
                <a:gd name="connsiteY0" fmla="*/ 0 h 5181600"/>
                <a:gd name="connsiteX1" fmla="*/ 1079500 w 3810000"/>
                <a:gd name="connsiteY1" fmla="*/ 5181600 h 5181600"/>
                <a:gd name="connsiteX2" fmla="*/ 3810000 w 3810000"/>
                <a:gd name="connsiteY2" fmla="*/ 5181600 h 5181600"/>
                <a:gd name="connsiteX3" fmla="*/ 2514600 w 3810000"/>
                <a:gd name="connsiteY3" fmla="*/ 12700 h 5181600"/>
                <a:gd name="connsiteX4" fmla="*/ 0 w 3810000"/>
                <a:gd name="connsiteY4" fmla="*/ 0 h 5181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00" h="5181600">
                  <a:moveTo>
                    <a:pt x="0" y="0"/>
                  </a:moveTo>
                  <a:lnTo>
                    <a:pt x="1079500" y="5181600"/>
                  </a:lnTo>
                  <a:lnTo>
                    <a:pt x="3810000" y="5181600"/>
                  </a:lnTo>
                  <a:lnTo>
                    <a:pt x="2514600" y="127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1559C">
                <a:alpha val="68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0" hangingPunct="0">
                <a:lnSpc>
                  <a:spcPct val="150000"/>
                </a:lnSpc>
                <a:defRPr/>
              </a:pPr>
              <a:endParaRPr lang="zh-CN" altLang="en-US" sz="1600">
                <a:latin typeface="Arial" panose="020B0604020202020204" pitchFamily="34" charset="0"/>
                <a:ea typeface="微软雅黑" panose="020B0503020204020204" pitchFamily="34" charset="-122"/>
                <a:sym typeface="Arial" panose="020B0604020202020204" pitchFamily="34" charset="0"/>
              </a:endParaRPr>
            </a:p>
          </p:txBody>
        </p:sp>
        <p:sp>
          <p:nvSpPr>
            <p:cNvPr id="2" name="任意多边形 1"/>
            <p:cNvSpPr/>
            <p:nvPr/>
          </p:nvSpPr>
          <p:spPr>
            <a:xfrm>
              <a:off x="694895" y="85823"/>
              <a:ext cx="4478545" cy="5156200"/>
            </a:xfrm>
            <a:custGeom>
              <a:avLst/>
              <a:gdLst>
                <a:gd name="connsiteX0" fmla="*/ 0 w 3810000"/>
                <a:gd name="connsiteY0" fmla="*/ 0 h 5181600"/>
                <a:gd name="connsiteX1" fmla="*/ 1079500 w 3810000"/>
                <a:gd name="connsiteY1" fmla="*/ 5181600 h 5181600"/>
                <a:gd name="connsiteX2" fmla="*/ 3810000 w 3810000"/>
                <a:gd name="connsiteY2" fmla="*/ 5181600 h 5181600"/>
                <a:gd name="connsiteX3" fmla="*/ 2514600 w 3810000"/>
                <a:gd name="connsiteY3" fmla="*/ 12700 h 5181600"/>
                <a:gd name="connsiteX4" fmla="*/ 0 w 3810000"/>
                <a:gd name="connsiteY4" fmla="*/ 0 h 5181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00" h="5181600">
                  <a:moveTo>
                    <a:pt x="0" y="0"/>
                  </a:moveTo>
                  <a:lnTo>
                    <a:pt x="1079500" y="5181600"/>
                  </a:lnTo>
                  <a:lnTo>
                    <a:pt x="3810000" y="5181600"/>
                  </a:lnTo>
                  <a:lnTo>
                    <a:pt x="2514600" y="127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1559C">
                <a:alpha val="68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0" hangingPunct="0">
                <a:lnSpc>
                  <a:spcPct val="150000"/>
                </a:lnSpc>
                <a:defRPr/>
              </a:pPr>
              <a:endParaRPr lang="zh-CN" altLang="en-US" sz="1600">
                <a:latin typeface="Arial" panose="020B0604020202020204" pitchFamily="34" charset="0"/>
                <a:ea typeface="微软雅黑" panose="020B0503020204020204" pitchFamily="34" charset="-122"/>
                <a:sym typeface="Arial" panose="020B0604020202020204" pitchFamily="34" charset="0"/>
              </a:endParaRPr>
            </a:p>
          </p:txBody>
        </p:sp>
      </p:grpSp>
      <p:sp>
        <p:nvSpPr>
          <p:cNvPr id="15" name="矩形 14"/>
          <p:cNvSpPr/>
          <p:nvPr/>
        </p:nvSpPr>
        <p:spPr>
          <a:xfrm>
            <a:off x="9358242" y="1874573"/>
            <a:ext cx="2070100" cy="5835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>
              <a:spcBef>
                <a:spcPct val="20000"/>
              </a:spcBef>
            </a:pPr>
            <a:r>
              <a:rPr lang="zh-CN" altLang="en-US" sz="3200" b="1" spc="500" dirty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苹方-简" panose="020B0400000000000000" charset="-122"/>
                <a:ea typeface="苹方-简" panose="020B0400000000000000" charset="-122"/>
                <a:cs typeface="宋体" panose="02010600030101010101" pitchFamily="2" charset="-122"/>
                <a:sym typeface="Arial" panose="020B0604020202020204" pitchFamily="34" charset="0"/>
              </a:rPr>
              <a:t>堆位管理</a:t>
            </a:r>
            <a:endParaRPr lang="zh-CN" altLang="en-US" sz="3200" b="1" spc="500" dirty="0">
              <a:solidFill>
                <a:schemeClr val="tx1">
                  <a:lumMod val="85000"/>
                  <a:lumOff val="15000"/>
                </a:schemeClr>
              </a:solidFill>
              <a:uFillTx/>
              <a:latin typeface="苹方-简" panose="020B0400000000000000" charset="-122"/>
              <a:ea typeface="苹方-简" panose="020B0400000000000000" charset="-122"/>
              <a:cs typeface="宋体" panose="02010600030101010101" pitchFamily="2" charset="-122"/>
              <a:sym typeface="Arial" panose="020B0604020202020204" pitchFamily="34" charset="0"/>
            </a:endParaRPr>
          </a:p>
        </p:txBody>
      </p:sp>
      <p:cxnSp>
        <p:nvCxnSpPr>
          <p:cNvPr id="16" name="直接连接符 15"/>
          <p:cNvCxnSpPr/>
          <p:nvPr/>
        </p:nvCxnSpPr>
        <p:spPr>
          <a:xfrm>
            <a:off x="7648862" y="2718303"/>
            <a:ext cx="3779585" cy="0"/>
          </a:xfrm>
          <a:prstGeom prst="line">
            <a:avLst/>
          </a:prstGeom>
          <a:ln w="38100">
            <a:solidFill>
              <a:srgbClr val="11559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/>
          <p:cNvSpPr txBox="1"/>
          <p:nvPr/>
        </p:nvSpPr>
        <p:spPr>
          <a:xfrm>
            <a:off x="7648575" y="2978785"/>
            <a:ext cx="3779520" cy="340995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>
              <a:lnSpc>
                <a:spcPct val="150000"/>
              </a:lnSpc>
            </a:pPr>
            <a:r>
              <a:rPr lang="zh-CN" altLang="en-US" sz="1600"/>
              <a:t>仓下拆分为堆位；编码由仓库编号 + 堆位名称自动生成（如 1 仓 + </a:t>
            </a:r>
            <a:r>
              <a:rPr lang="en-US" altLang="zh-CN" sz="1600"/>
              <a:t>A1 → 1#A1），</a:t>
            </a:r>
            <a:r>
              <a:rPr lang="zh-CN" altLang="en-US" sz="1600"/>
              <a:t>不可更改。片区标识随查验变化，变更写入操作日志。本页按单仓库进行展示与设置，须在左上角切换仓库即可查看其它仓库堆位，点击</a:t>
            </a:r>
            <a:r>
              <a:rPr lang="en-US" altLang="zh-CN" sz="1600"/>
              <a:t>“</a:t>
            </a:r>
            <a:r>
              <a:rPr lang="zh-CN" altLang="en-US" sz="1600">
                <a:sym typeface="+mn-ea"/>
              </a:rPr>
              <a:t>平面图管理</a:t>
            </a:r>
            <a:r>
              <a:rPr lang="en-US" altLang="zh-CN" sz="1600"/>
              <a:t>”</a:t>
            </a:r>
            <a:r>
              <a:rPr lang="zh-CN" altLang="en-US" sz="1600"/>
              <a:t>按钮进入仓库平面图</a:t>
            </a:r>
            <a:r>
              <a:rPr lang="zh-CN" altLang="en-US" sz="1600"/>
              <a:t>设置。</a:t>
            </a:r>
            <a:endParaRPr lang="zh-CN" altLang="en-US" sz="1600"/>
          </a:p>
        </p:txBody>
      </p:sp>
      <p:pic>
        <p:nvPicPr>
          <p:cNvPr id="7" name="图片 6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9075" y="1951355"/>
            <a:ext cx="7219950" cy="4095115"/>
          </a:xfrm>
          <a:prstGeom prst="rect">
            <a:avLst/>
          </a:prstGeom>
        </p:spPr>
      </p:pic>
    </p:spTree>
  </p:cSld>
  <p:clrMapOvr>
    <a:masterClrMapping/>
  </p:clrMapOvr>
  <p:transition spd="slow" advClick="0" advTm="2000"/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五边形 24"/>
          <p:cNvSpPr/>
          <p:nvPr/>
        </p:nvSpPr>
        <p:spPr>
          <a:xfrm>
            <a:off x="0" y="0"/>
            <a:ext cx="2247900" cy="838200"/>
          </a:xfrm>
          <a:custGeom>
            <a:avLst/>
            <a:gdLst>
              <a:gd name="connsiteX0" fmla="*/ 0 w 2641600"/>
              <a:gd name="connsiteY0" fmla="*/ 0 h 787400"/>
              <a:gd name="connsiteX1" fmla="*/ 2247900 w 2641600"/>
              <a:gd name="connsiteY1" fmla="*/ 0 h 787400"/>
              <a:gd name="connsiteX2" fmla="*/ 2641600 w 2641600"/>
              <a:gd name="connsiteY2" fmla="*/ 393700 h 787400"/>
              <a:gd name="connsiteX3" fmla="*/ 2247900 w 2641600"/>
              <a:gd name="connsiteY3" fmla="*/ 787400 h 787400"/>
              <a:gd name="connsiteX4" fmla="*/ 0 w 2641600"/>
              <a:gd name="connsiteY4" fmla="*/ 787400 h 787400"/>
              <a:gd name="connsiteX5" fmla="*/ 0 w 2641600"/>
              <a:gd name="connsiteY5" fmla="*/ 0 h 787400"/>
              <a:gd name="connsiteX0-1" fmla="*/ 0 w 2247900"/>
              <a:gd name="connsiteY0-2" fmla="*/ 0 h 787400"/>
              <a:gd name="connsiteX1-3" fmla="*/ 2247900 w 2247900"/>
              <a:gd name="connsiteY1-4" fmla="*/ 0 h 787400"/>
              <a:gd name="connsiteX2-5" fmla="*/ 2247900 w 2247900"/>
              <a:gd name="connsiteY2-6" fmla="*/ 787400 h 787400"/>
              <a:gd name="connsiteX3-7" fmla="*/ 0 w 2247900"/>
              <a:gd name="connsiteY3-8" fmla="*/ 787400 h 787400"/>
              <a:gd name="connsiteX4-9" fmla="*/ 0 w 2247900"/>
              <a:gd name="connsiteY4-10" fmla="*/ 0 h 787400"/>
              <a:gd name="connsiteX0-11" fmla="*/ 0 w 2247900"/>
              <a:gd name="connsiteY0-12" fmla="*/ 0 h 787400"/>
              <a:gd name="connsiteX1-13" fmla="*/ 2158690 w 2247900"/>
              <a:gd name="connsiteY1-14" fmla="*/ 0 h 787400"/>
              <a:gd name="connsiteX2-15" fmla="*/ 2247900 w 2247900"/>
              <a:gd name="connsiteY2-16" fmla="*/ 787400 h 787400"/>
              <a:gd name="connsiteX3-17" fmla="*/ 0 w 2247900"/>
              <a:gd name="connsiteY3-18" fmla="*/ 787400 h 787400"/>
              <a:gd name="connsiteX4-19" fmla="*/ 0 w 2247900"/>
              <a:gd name="connsiteY4-20" fmla="*/ 0 h 787400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</a:cxnLst>
            <a:rect l="l" t="t" r="r" b="b"/>
            <a:pathLst>
              <a:path w="2247900" h="787400">
                <a:moveTo>
                  <a:pt x="0" y="0"/>
                </a:moveTo>
                <a:lnTo>
                  <a:pt x="2158690" y="0"/>
                </a:lnTo>
                <a:lnTo>
                  <a:pt x="2247900" y="787400"/>
                </a:lnTo>
                <a:lnTo>
                  <a:pt x="0" y="787400"/>
                </a:lnTo>
                <a:lnTo>
                  <a:pt x="0" y="0"/>
                </a:lnTo>
                <a:close/>
              </a:path>
            </a:pathLst>
          </a:cu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2400" dirty="0">
                <a:latin typeface="苹方-简" panose="020B0400000000000000" charset="-122"/>
                <a:ea typeface="苹方-简" panose="020B0400000000000000" charset="-122"/>
                <a:cs typeface="+mn-ea"/>
                <a:sym typeface="+mn-lt"/>
              </a:rPr>
              <a:t>平台前端</a:t>
            </a:r>
            <a:endParaRPr lang="zh-CN" altLang="en-US" sz="2400" dirty="0">
              <a:latin typeface="苹方-简" panose="020B0400000000000000" charset="-122"/>
              <a:ea typeface="苹方-简" panose="020B0400000000000000" charset="-122"/>
              <a:cs typeface="+mn-ea"/>
              <a:sym typeface="+mn-lt"/>
            </a:endParaRPr>
          </a:p>
        </p:txBody>
      </p:sp>
      <p:grpSp>
        <p:nvGrpSpPr>
          <p:cNvPr id="6" name="组合 6"/>
          <p:cNvGrpSpPr/>
          <p:nvPr/>
        </p:nvGrpSpPr>
        <p:grpSpPr bwMode="auto">
          <a:xfrm>
            <a:off x="1876234" y="838358"/>
            <a:ext cx="5247977" cy="5982808"/>
            <a:chOff x="694895" y="85823"/>
            <a:chExt cx="4833397" cy="5156200"/>
          </a:xfrm>
        </p:grpSpPr>
        <p:sp>
          <p:nvSpPr>
            <p:cNvPr id="50" name="任意多边形 49"/>
            <p:cNvSpPr/>
            <p:nvPr/>
          </p:nvSpPr>
          <p:spPr>
            <a:xfrm>
              <a:off x="1049956" y="91121"/>
              <a:ext cx="4478336" cy="5023921"/>
            </a:xfrm>
            <a:custGeom>
              <a:avLst/>
              <a:gdLst>
                <a:gd name="connsiteX0" fmla="*/ 0 w 3810000"/>
                <a:gd name="connsiteY0" fmla="*/ 0 h 5181600"/>
                <a:gd name="connsiteX1" fmla="*/ 1079500 w 3810000"/>
                <a:gd name="connsiteY1" fmla="*/ 5181600 h 5181600"/>
                <a:gd name="connsiteX2" fmla="*/ 3810000 w 3810000"/>
                <a:gd name="connsiteY2" fmla="*/ 5181600 h 5181600"/>
                <a:gd name="connsiteX3" fmla="*/ 2514600 w 3810000"/>
                <a:gd name="connsiteY3" fmla="*/ 12700 h 5181600"/>
                <a:gd name="connsiteX4" fmla="*/ 0 w 3810000"/>
                <a:gd name="connsiteY4" fmla="*/ 0 h 5181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00" h="5181600">
                  <a:moveTo>
                    <a:pt x="0" y="0"/>
                  </a:moveTo>
                  <a:lnTo>
                    <a:pt x="1079500" y="5181600"/>
                  </a:lnTo>
                  <a:lnTo>
                    <a:pt x="3810000" y="5181600"/>
                  </a:lnTo>
                  <a:lnTo>
                    <a:pt x="2514600" y="127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1559C">
                <a:alpha val="68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0" hangingPunct="0">
                <a:lnSpc>
                  <a:spcPct val="150000"/>
                </a:lnSpc>
                <a:defRPr/>
              </a:pPr>
              <a:endParaRPr lang="zh-CN" altLang="en-US" sz="1600">
                <a:latin typeface="Arial" panose="020B0604020202020204" pitchFamily="34" charset="0"/>
                <a:ea typeface="微软雅黑" panose="020B0503020204020204" pitchFamily="34" charset="-122"/>
                <a:sym typeface="Arial" panose="020B0604020202020204" pitchFamily="34" charset="0"/>
              </a:endParaRPr>
            </a:p>
          </p:txBody>
        </p:sp>
        <p:sp>
          <p:nvSpPr>
            <p:cNvPr id="2" name="任意多边形 1"/>
            <p:cNvSpPr/>
            <p:nvPr/>
          </p:nvSpPr>
          <p:spPr>
            <a:xfrm>
              <a:off x="694895" y="85823"/>
              <a:ext cx="4478545" cy="5156200"/>
            </a:xfrm>
            <a:custGeom>
              <a:avLst/>
              <a:gdLst>
                <a:gd name="connsiteX0" fmla="*/ 0 w 3810000"/>
                <a:gd name="connsiteY0" fmla="*/ 0 h 5181600"/>
                <a:gd name="connsiteX1" fmla="*/ 1079500 w 3810000"/>
                <a:gd name="connsiteY1" fmla="*/ 5181600 h 5181600"/>
                <a:gd name="connsiteX2" fmla="*/ 3810000 w 3810000"/>
                <a:gd name="connsiteY2" fmla="*/ 5181600 h 5181600"/>
                <a:gd name="connsiteX3" fmla="*/ 2514600 w 3810000"/>
                <a:gd name="connsiteY3" fmla="*/ 12700 h 5181600"/>
                <a:gd name="connsiteX4" fmla="*/ 0 w 3810000"/>
                <a:gd name="connsiteY4" fmla="*/ 0 h 5181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00" h="5181600">
                  <a:moveTo>
                    <a:pt x="0" y="0"/>
                  </a:moveTo>
                  <a:lnTo>
                    <a:pt x="1079500" y="5181600"/>
                  </a:lnTo>
                  <a:lnTo>
                    <a:pt x="3810000" y="5181600"/>
                  </a:lnTo>
                  <a:lnTo>
                    <a:pt x="2514600" y="127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1559C">
                <a:alpha val="68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0" hangingPunct="0">
                <a:lnSpc>
                  <a:spcPct val="150000"/>
                </a:lnSpc>
                <a:defRPr/>
              </a:pPr>
              <a:endParaRPr lang="zh-CN" altLang="en-US" sz="1600">
                <a:latin typeface="Arial" panose="020B0604020202020204" pitchFamily="34" charset="0"/>
                <a:ea typeface="微软雅黑" panose="020B0503020204020204" pitchFamily="34" charset="-122"/>
                <a:sym typeface="Arial" panose="020B0604020202020204" pitchFamily="34" charset="0"/>
              </a:endParaRPr>
            </a:p>
          </p:txBody>
        </p:sp>
      </p:grpSp>
      <p:sp>
        <p:nvSpPr>
          <p:cNvPr id="15" name="矩形 14"/>
          <p:cNvSpPr/>
          <p:nvPr/>
        </p:nvSpPr>
        <p:spPr>
          <a:xfrm>
            <a:off x="9358242" y="1874573"/>
            <a:ext cx="2070100" cy="5835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>
              <a:spcBef>
                <a:spcPct val="20000"/>
              </a:spcBef>
            </a:pPr>
            <a:r>
              <a:rPr lang="zh-CN" altLang="en-US" sz="3200" b="1" spc="500" dirty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苹方-简" panose="020B0400000000000000" charset="-122"/>
                <a:ea typeface="苹方-简" panose="020B0400000000000000" charset="-122"/>
                <a:cs typeface="宋体" panose="02010600030101010101" pitchFamily="2" charset="-122"/>
                <a:sym typeface="Arial" panose="020B0604020202020204" pitchFamily="34" charset="0"/>
              </a:rPr>
              <a:t>物料档案</a:t>
            </a:r>
            <a:endParaRPr lang="zh-CN" altLang="en-US" sz="3200" b="1" spc="500" dirty="0">
              <a:solidFill>
                <a:schemeClr val="tx1">
                  <a:lumMod val="85000"/>
                  <a:lumOff val="15000"/>
                </a:schemeClr>
              </a:solidFill>
              <a:uFillTx/>
              <a:latin typeface="苹方-简" panose="020B0400000000000000" charset="-122"/>
              <a:ea typeface="苹方-简" panose="020B0400000000000000" charset="-122"/>
              <a:cs typeface="宋体" panose="02010600030101010101" pitchFamily="2" charset="-122"/>
              <a:sym typeface="Arial" panose="020B0604020202020204" pitchFamily="34" charset="0"/>
            </a:endParaRPr>
          </a:p>
        </p:txBody>
      </p:sp>
      <p:cxnSp>
        <p:nvCxnSpPr>
          <p:cNvPr id="16" name="直接连接符 15"/>
          <p:cNvCxnSpPr/>
          <p:nvPr/>
        </p:nvCxnSpPr>
        <p:spPr>
          <a:xfrm>
            <a:off x="7648862" y="2718303"/>
            <a:ext cx="3779585" cy="0"/>
          </a:xfrm>
          <a:prstGeom prst="line">
            <a:avLst/>
          </a:prstGeom>
          <a:ln w="38100">
            <a:solidFill>
              <a:srgbClr val="11559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/>
          <p:cNvSpPr txBox="1"/>
          <p:nvPr/>
        </p:nvSpPr>
        <p:spPr>
          <a:xfrm>
            <a:off x="7648575" y="2972435"/>
            <a:ext cx="3779520" cy="340995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>
              <a:lnSpc>
                <a:spcPct val="150000"/>
              </a:lnSpc>
            </a:pPr>
            <a:r>
              <a:rPr lang="zh-CN" altLang="en-US" sz="1600"/>
              <a:t>物料档案管理仓库内矿物品类，原料及成品都需要添加，方便进行入库、出库、生产等操作。</a:t>
            </a:r>
            <a:endParaRPr lang="zh-CN" altLang="en-US" sz="1600"/>
          </a:p>
        </p:txBody>
      </p:sp>
      <p:pic>
        <p:nvPicPr>
          <p:cNvPr id="9" name="图片 8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9075" y="1950085"/>
            <a:ext cx="7255510" cy="4115435"/>
          </a:xfrm>
          <a:prstGeom prst="rect">
            <a:avLst/>
          </a:prstGeom>
        </p:spPr>
      </p:pic>
    </p:spTree>
  </p:cSld>
  <p:clrMapOvr>
    <a:masterClrMapping/>
  </p:clrMapOvr>
  <p:transition spd="slow" advClick="0" advTm="2000"/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五边形 24"/>
          <p:cNvSpPr/>
          <p:nvPr/>
        </p:nvSpPr>
        <p:spPr>
          <a:xfrm>
            <a:off x="0" y="0"/>
            <a:ext cx="2247900" cy="838200"/>
          </a:xfrm>
          <a:custGeom>
            <a:avLst/>
            <a:gdLst>
              <a:gd name="connsiteX0" fmla="*/ 0 w 2641600"/>
              <a:gd name="connsiteY0" fmla="*/ 0 h 787400"/>
              <a:gd name="connsiteX1" fmla="*/ 2247900 w 2641600"/>
              <a:gd name="connsiteY1" fmla="*/ 0 h 787400"/>
              <a:gd name="connsiteX2" fmla="*/ 2641600 w 2641600"/>
              <a:gd name="connsiteY2" fmla="*/ 393700 h 787400"/>
              <a:gd name="connsiteX3" fmla="*/ 2247900 w 2641600"/>
              <a:gd name="connsiteY3" fmla="*/ 787400 h 787400"/>
              <a:gd name="connsiteX4" fmla="*/ 0 w 2641600"/>
              <a:gd name="connsiteY4" fmla="*/ 787400 h 787400"/>
              <a:gd name="connsiteX5" fmla="*/ 0 w 2641600"/>
              <a:gd name="connsiteY5" fmla="*/ 0 h 787400"/>
              <a:gd name="connsiteX0-1" fmla="*/ 0 w 2247900"/>
              <a:gd name="connsiteY0-2" fmla="*/ 0 h 787400"/>
              <a:gd name="connsiteX1-3" fmla="*/ 2247900 w 2247900"/>
              <a:gd name="connsiteY1-4" fmla="*/ 0 h 787400"/>
              <a:gd name="connsiteX2-5" fmla="*/ 2247900 w 2247900"/>
              <a:gd name="connsiteY2-6" fmla="*/ 787400 h 787400"/>
              <a:gd name="connsiteX3-7" fmla="*/ 0 w 2247900"/>
              <a:gd name="connsiteY3-8" fmla="*/ 787400 h 787400"/>
              <a:gd name="connsiteX4-9" fmla="*/ 0 w 2247900"/>
              <a:gd name="connsiteY4-10" fmla="*/ 0 h 787400"/>
              <a:gd name="connsiteX0-11" fmla="*/ 0 w 2247900"/>
              <a:gd name="connsiteY0-12" fmla="*/ 0 h 787400"/>
              <a:gd name="connsiteX1-13" fmla="*/ 2158690 w 2247900"/>
              <a:gd name="connsiteY1-14" fmla="*/ 0 h 787400"/>
              <a:gd name="connsiteX2-15" fmla="*/ 2247900 w 2247900"/>
              <a:gd name="connsiteY2-16" fmla="*/ 787400 h 787400"/>
              <a:gd name="connsiteX3-17" fmla="*/ 0 w 2247900"/>
              <a:gd name="connsiteY3-18" fmla="*/ 787400 h 787400"/>
              <a:gd name="connsiteX4-19" fmla="*/ 0 w 2247900"/>
              <a:gd name="connsiteY4-20" fmla="*/ 0 h 787400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</a:cxnLst>
            <a:rect l="l" t="t" r="r" b="b"/>
            <a:pathLst>
              <a:path w="2247900" h="787400">
                <a:moveTo>
                  <a:pt x="0" y="0"/>
                </a:moveTo>
                <a:lnTo>
                  <a:pt x="2158690" y="0"/>
                </a:lnTo>
                <a:lnTo>
                  <a:pt x="2247900" y="787400"/>
                </a:lnTo>
                <a:lnTo>
                  <a:pt x="0" y="787400"/>
                </a:lnTo>
                <a:lnTo>
                  <a:pt x="0" y="0"/>
                </a:lnTo>
                <a:close/>
              </a:path>
            </a:pathLst>
          </a:cu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2400" dirty="0">
                <a:latin typeface="苹方-简" panose="020B0400000000000000" charset="-122"/>
                <a:ea typeface="苹方-简" panose="020B0400000000000000" charset="-122"/>
                <a:cs typeface="+mn-ea"/>
                <a:sym typeface="+mn-lt"/>
              </a:rPr>
              <a:t>平台前端</a:t>
            </a:r>
            <a:endParaRPr lang="zh-CN" altLang="en-US" sz="2400" dirty="0">
              <a:latin typeface="苹方-简" panose="020B0400000000000000" charset="-122"/>
              <a:ea typeface="苹方-简" panose="020B0400000000000000" charset="-122"/>
              <a:cs typeface="+mn-ea"/>
              <a:sym typeface="+mn-lt"/>
            </a:endParaRPr>
          </a:p>
        </p:txBody>
      </p:sp>
      <p:grpSp>
        <p:nvGrpSpPr>
          <p:cNvPr id="6" name="组合 6"/>
          <p:cNvGrpSpPr/>
          <p:nvPr/>
        </p:nvGrpSpPr>
        <p:grpSpPr bwMode="auto">
          <a:xfrm>
            <a:off x="1876234" y="838358"/>
            <a:ext cx="5247977" cy="5982808"/>
            <a:chOff x="694895" y="85823"/>
            <a:chExt cx="4833397" cy="5156200"/>
          </a:xfrm>
        </p:grpSpPr>
        <p:sp>
          <p:nvSpPr>
            <p:cNvPr id="50" name="任意多边形 49"/>
            <p:cNvSpPr/>
            <p:nvPr/>
          </p:nvSpPr>
          <p:spPr>
            <a:xfrm>
              <a:off x="1049956" y="91121"/>
              <a:ext cx="4478336" cy="5023921"/>
            </a:xfrm>
            <a:custGeom>
              <a:avLst/>
              <a:gdLst>
                <a:gd name="connsiteX0" fmla="*/ 0 w 3810000"/>
                <a:gd name="connsiteY0" fmla="*/ 0 h 5181600"/>
                <a:gd name="connsiteX1" fmla="*/ 1079500 w 3810000"/>
                <a:gd name="connsiteY1" fmla="*/ 5181600 h 5181600"/>
                <a:gd name="connsiteX2" fmla="*/ 3810000 w 3810000"/>
                <a:gd name="connsiteY2" fmla="*/ 5181600 h 5181600"/>
                <a:gd name="connsiteX3" fmla="*/ 2514600 w 3810000"/>
                <a:gd name="connsiteY3" fmla="*/ 12700 h 5181600"/>
                <a:gd name="connsiteX4" fmla="*/ 0 w 3810000"/>
                <a:gd name="connsiteY4" fmla="*/ 0 h 5181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00" h="5181600">
                  <a:moveTo>
                    <a:pt x="0" y="0"/>
                  </a:moveTo>
                  <a:lnTo>
                    <a:pt x="1079500" y="5181600"/>
                  </a:lnTo>
                  <a:lnTo>
                    <a:pt x="3810000" y="5181600"/>
                  </a:lnTo>
                  <a:lnTo>
                    <a:pt x="2514600" y="127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1559C">
                <a:alpha val="68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0" hangingPunct="0">
                <a:lnSpc>
                  <a:spcPct val="150000"/>
                </a:lnSpc>
                <a:defRPr/>
              </a:pPr>
              <a:endParaRPr lang="zh-CN" altLang="en-US" sz="1600">
                <a:latin typeface="Arial" panose="020B0604020202020204" pitchFamily="34" charset="0"/>
                <a:ea typeface="微软雅黑" panose="020B0503020204020204" pitchFamily="34" charset="-122"/>
                <a:sym typeface="Arial" panose="020B0604020202020204" pitchFamily="34" charset="0"/>
              </a:endParaRPr>
            </a:p>
          </p:txBody>
        </p:sp>
        <p:sp>
          <p:nvSpPr>
            <p:cNvPr id="2" name="任意多边形 1"/>
            <p:cNvSpPr/>
            <p:nvPr/>
          </p:nvSpPr>
          <p:spPr>
            <a:xfrm>
              <a:off x="694895" y="85823"/>
              <a:ext cx="4478545" cy="5156200"/>
            </a:xfrm>
            <a:custGeom>
              <a:avLst/>
              <a:gdLst>
                <a:gd name="connsiteX0" fmla="*/ 0 w 3810000"/>
                <a:gd name="connsiteY0" fmla="*/ 0 h 5181600"/>
                <a:gd name="connsiteX1" fmla="*/ 1079500 w 3810000"/>
                <a:gd name="connsiteY1" fmla="*/ 5181600 h 5181600"/>
                <a:gd name="connsiteX2" fmla="*/ 3810000 w 3810000"/>
                <a:gd name="connsiteY2" fmla="*/ 5181600 h 5181600"/>
                <a:gd name="connsiteX3" fmla="*/ 2514600 w 3810000"/>
                <a:gd name="connsiteY3" fmla="*/ 12700 h 5181600"/>
                <a:gd name="connsiteX4" fmla="*/ 0 w 3810000"/>
                <a:gd name="connsiteY4" fmla="*/ 0 h 5181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00" h="5181600">
                  <a:moveTo>
                    <a:pt x="0" y="0"/>
                  </a:moveTo>
                  <a:lnTo>
                    <a:pt x="1079500" y="5181600"/>
                  </a:lnTo>
                  <a:lnTo>
                    <a:pt x="3810000" y="5181600"/>
                  </a:lnTo>
                  <a:lnTo>
                    <a:pt x="2514600" y="127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1559C">
                <a:alpha val="68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0" hangingPunct="0">
                <a:lnSpc>
                  <a:spcPct val="150000"/>
                </a:lnSpc>
                <a:defRPr/>
              </a:pPr>
              <a:endParaRPr lang="zh-CN" altLang="en-US" sz="1600">
                <a:latin typeface="Arial" panose="020B0604020202020204" pitchFamily="34" charset="0"/>
                <a:ea typeface="微软雅黑" panose="020B0503020204020204" pitchFamily="34" charset="-122"/>
                <a:sym typeface="Arial" panose="020B0604020202020204" pitchFamily="34" charset="0"/>
              </a:endParaRPr>
            </a:p>
          </p:txBody>
        </p:sp>
      </p:grpSp>
      <p:sp>
        <p:nvSpPr>
          <p:cNvPr id="15" name="矩形 14"/>
          <p:cNvSpPr/>
          <p:nvPr/>
        </p:nvSpPr>
        <p:spPr>
          <a:xfrm>
            <a:off x="9358242" y="1874573"/>
            <a:ext cx="2070100" cy="5835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>
              <a:spcBef>
                <a:spcPct val="20000"/>
              </a:spcBef>
            </a:pPr>
            <a:r>
              <a:rPr lang="zh-CN" altLang="en-US" sz="3200" b="1" spc="500" dirty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苹方-简" panose="020B0400000000000000" charset="-122"/>
                <a:ea typeface="苹方-简" panose="020B0400000000000000" charset="-122"/>
                <a:cs typeface="宋体" panose="02010600030101010101" pitchFamily="2" charset="-122"/>
                <a:sym typeface="Arial" panose="020B0604020202020204" pitchFamily="34" charset="0"/>
              </a:rPr>
              <a:t>矿源</a:t>
            </a:r>
            <a:r>
              <a:rPr lang="zh-CN" altLang="en-US" sz="3200" b="1" spc="500" dirty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苹方-简" panose="020B0400000000000000" charset="-122"/>
                <a:ea typeface="苹方-简" panose="020B0400000000000000" charset="-122"/>
                <a:cs typeface="宋体" panose="02010600030101010101" pitchFamily="2" charset="-122"/>
                <a:sym typeface="Arial" panose="020B0604020202020204" pitchFamily="34" charset="0"/>
              </a:rPr>
              <a:t>备案</a:t>
            </a:r>
            <a:endParaRPr lang="zh-CN" altLang="en-US" sz="3200" b="1" spc="500" dirty="0">
              <a:solidFill>
                <a:schemeClr val="tx1">
                  <a:lumMod val="85000"/>
                  <a:lumOff val="15000"/>
                </a:schemeClr>
              </a:solidFill>
              <a:uFillTx/>
              <a:latin typeface="苹方-简" panose="020B0400000000000000" charset="-122"/>
              <a:ea typeface="苹方-简" panose="020B0400000000000000" charset="-122"/>
              <a:cs typeface="宋体" panose="02010600030101010101" pitchFamily="2" charset="-122"/>
              <a:sym typeface="Arial" panose="020B0604020202020204" pitchFamily="34" charset="0"/>
            </a:endParaRPr>
          </a:p>
        </p:txBody>
      </p:sp>
      <p:cxnSp>
        <p:nvCxnSpPr>
          <p:cNvPr id="16" name="直接连接符 15"/>
          <p:cNvCxnSpPr/>
          <p:nvPr/>
        </p:nvCxnSpPr>
        <p:spPr>
          <a:xfrm>
            <a:off x="7648862" y="2718303"/>
            <a:ext cx="3779585" cy="0"/>
          </a:xfrm>
          <a:prstGeom prst="line">
            <a:avLst/>
          </a:prstGeom>
          <a:ln w="38100">
            <a:solidFill>
              <a:srgbClr val="11559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/>
          <p:cNvSpPr txBox="1"/>
          <p:nvPr/>
        </p:nvSpPr>
        <p:spPr>
          <a:xfrm>
            <a:off x="7648575" y="2972435"/>
            <a:ext cx="3779520" cy="340995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>
              <a:lnSpc>
                <a:spcPct val="150000"/>
              </a:lnSpc>
            </a:pPr>
            <a:r>
              <a:rPr lang="zh-CN" altLang="en-US" sz="1600"/>
              <a:t>本模块针对矿源备案号进行管理，记录备案日期，备案数量等关键信息，备案数量使用率超</a:t>
            </a:r>
            <a:r>
              <a:rPr lang="en-US" altLang="zh-CN" sz="1600"/>
              <a:t>80%</a:t>
            </a:r>
            <a:r>
              <a:rPr lang="zh-CN" altLang="en-US" sz="1600"/>
              <a:t>时会触发预警，入库时会自动扣减备案</a:t>
            </a:r>
            <a:r>
              <a:rPr lang="zh-CN" altLang="en-US" sz="1600"/>
              <a:t>数量。</a:t>
            </a:r>
            <a:endParaRPr lang="zh-CN" altLang="en-US" sz="1600"/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9075" y="1950085"/>
            <a:ext cx="7256145" cy="4115435"/>
          </a:xfrm>
          <a:prstGeom prst="rect">
            <a:avLst/>
          </a:prstGeom>
        </p:spPr>
      </p:pic>
    </p:spTree>
  </p:cSld>
  <p:clrMapOvr>
    <a:masterClrMapping/>
  </p:clrMapOvr>
  <p:transition spd="slow" advClick="0" advTm="2000"/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五边形 24"/>
          <p:cNvSpPr/>
          <p:nvPr/>
        </p:nvSpPr>
        <p:spPr>
          <a:xfrm>
            <a:off x="0" y="0"/>
            <a:ext cx="2247900" cy="838200"/>
          </a:xfrm>
          <a:custGeom>
            <a:avLst/>
            <a:gdLst>
              <a:gd name="connsiteX0" fmla="*/ 0 w 2641600"/>
              <a:gd name="connsiteY0" fmla="*/ 0 h 787400"/>
              <a:gd name="connsiteX1" fmla="*/ 2247900 w 2641600"/>
              <a:gd name="connsiteY1" fmla="*/ 0 h 787400"/>
              <a:gd name="connsiteX2" fmla="*/ 2641600 w 2641600"/>
              <a:gd name="connsiteY2" fmla="*/ 393700 h 787400"/>
              <a:gd name="connsiteX3" fmla="*/ 2247900 w 2641600"/>
              <a:gd name="connsiteY3" fmla="*/ 787400 h 787400"/>
              <a:gd name="connsiteX4" fmla="*/ 0 w 2641600"/>
              <a:gd name="connsiteY4" fmla="*/ 787400 h 787400"/>
              <a:gd name="connsiteX5" fmla="*/ 0 w 2641600"/>
              <a:gd name="connsiteY5" fmla="*/ 0 h 787400"/>
              <a:gd name="connsiteX0-1" fmla="*/ 0 w 2247900"/>
              <a:gd name="connsiteY0-2" fmla="*/ 0 h 787400"/>
              <a:gd name="connsiteX1-3" fmla="*/ 2247900 w 2247900"/>
              <a:gd name="connsiteY1-4" fmla="*/ 0 h 787400"/>
              <a:gd name="connsiteX2-5" fmla="*/ 2247900 w 2247900"/>
              <a:gd name="connsiteY2-6" fmla="*/ 787400 h 787400"/>
              <a:gd name="connsiteX3-7" fmla="*/ 0 w 2247900"/>
              <a:gd name="connsiteY3-8" fmla="*/ 787400 h 787400"/>
              <a:gd name="connsiteX4-9" fmla="*/ 0 w 2247900"/>
              <a:gd name="connsiteY4-10" fmla="*/ 0 h 787400"/>
              <a:gd name="connsiteX0-11" fmla="*/ 0 w 2247900"/>
              <a:gd name="connsiteY0-12" fmla="*/ 0 h 787400"/>
              <a:gd name="connsiteX1-13" fmla="*/ 2158690 w 2247900"/>
              <a:gd name="connsiteY1-14" fmla="*/ 0 h 787400"/>
              <a:gd name="connsiteX2-15" fmla="*/ 2247900 w 2247900"/>
              <a:gd name="connsiteY2-16" fmla="*/ 787400 h 787400"/>
              <a:gd name="connsiteX3-17" fmla="*/ 0 w 2247900"/>
              <a:gd name="connsiteY3-18" fmla="*/ 787400 h 787400"/>
              <a:gd name="connsiteX4-19" fmla="*/ 0 w 2247900"/>
              <a:gd name="connsiteY4-20" fmla="*/ 0 h 787400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</a:cxnLst>
            <a:rect l="l" t="t" r="r" b="b"/>
            <a:pathLst>
              <a:path w="2247900" h="787400">
                <a:moveTo>
                  <a:pt x="0" y="0"/>
                </a:moveTo>
                <a:lnTo>
                  <a:pt x="2158690" y="0"/>
                </a:lnTo>
                <a:lnTo>
                  <a:pt x="2247900" y="787400"/>
                </a:lnTo>
                <a:lnTo>
                  <a:pt x="0" y="787400"/>
                </a:lnTo>
                <a:lnTo>
                  <a:pt x="0" y="0"/>
                </a:lnTo>
                <a:close/>
              </a:path>
            </a:pathLst>
          </a:cu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2400" dirty="0">
                <a:latin typeface="苹方-简" panose="020B0400000000000000" charset="-122"/>
                <a:ea typeface="苹方-简" panose="020B0400000000000000" charset="-122"/>
                <a:cs typeface="+mn-ea"/>
                <a:sym typeface="+mn-lt"/>
              </a:rPr>
              <a:t>平台前端</a:t>
            </a:r>
            <a:endParaRPr lang="zh-CN" altLang="en-US" sz="2400" dirty="0">
              <a:latin typeface="苹方-简" panose="020B0400000000000000" charset="-122"/>
              <a:ea typeface="苹方-简" panose="020B0400000000000000" charset="-122"/>
              <a:cs typeface="+mn-ea"/>
              <a:sym typeface="+mn-lt"/>
            </a:endParaRPr>
          </a:p>
        </p:txBody>
      </p:sp>
      <p:grpSp>
        <p:nvGrpSpPr>
          <p:cNvPr id="6" name="组合 6"/>
          <p:cNvGrpSpPr/>
          <p:nvPr/>
        </p:nvGrpSpPr>
        <p:grpSpPr bwMode="auto">
          <a:xfrm>
            <a:off x="1876234" y="838358"/>
            <a:ext cx="5247977" cy="5982808"/>
            <a:chOff x="694895" y="85823"/>
            <a:chExt cx="4833397" cy="5156200"/>
          </a:xfrm>
        </p:grpSpPr>
        <p:sp>
          <p:nvSpPr>
            <p:cNvPr id="50" name="任意多边形 49"/>
            <p:cNvSpPr/>
            <p:nvPr/>
          </p:nvSpPr>
          <p:spPr>
            <a:xfrm>
              <a:off x="1049956" y="91121"/>
              <a:ext cx="4478336" cy="5023921"/>
            </a:xfrm>
            <a:custGeom>
              <a:avLst/>
              <a:gdLst>
                <a:gd name="connsiteX0" fmla="*/ 0 w 3810000"/>
                <a:gd name="connsiteY0" fmla="*/ 0 h 5181600"/>
                <a:gd name="connsiteX1" fmla="*/ 1079500 w 3810000"/>
                <a:gd name="connsiteY1" fmla="*/ 5181600 h 5181600"/>
                <a:gd name="connsiteX2" fmla="*/ 3810000 w 3810000"/>
                <a:gd name="connsiteY2" fmla="*/ 5181600 h 5181600"/>
                <a:gd name="connsiteX3" fmla="*/ 2514600 w 3810000"/>
                <a:gd name="connsiteY3" fmla="*/ 12700 h 5181600"/>
                <a:gd name="connsiteX4" fmla="*/ 0 w 3810000"/>
                <a:gd name="connsiteY4" fmla="*/ 0 h 5181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00" h="5181600">
                  <a:moveTo>
                    <a:pt x="0" y="0"/>
                  </a:moveTo>
                  <a:lnTo>
                    <a:pt x="1079500" y="5181600"/>
                  </a:lnTo>
                  <a:lnTo>
                    <a:pt x="3810000" y="5181600"/>
                  </a:lnTo>
                  <a:lnTo>
                    <a:pt x="2514600" y="127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1559C">
                <a:alpha val="68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0" hangingPunct="0">
                <a:lnSpc>
                  <a:spcPct val="150000"/>
                </a:lnSpc>
                <a:defRPr/>
              </a:pPr>
              <a:endParaRPr lang="zh-CN" altLang="en-US" sz="1600">
                <a:latin typeface="Arial" panose="020B0604020202020204" pitchFamily="34" charset="0"/>
                <a:ea typeface="微软雅黑" panose="020B0503020204020204" pitchFamily="34" charset="-122"/>
                <a:sym typeface="Arial" panose="020B0604020202020204" pitchFamily="34" charset="0"/>
              </a:endParaRPr>
            </a:p>
          </p:txBody>
        </p:sp>
        <p:sp>
          <p:nvSpPr>
            <p:cNvPr id="2" name="任意多边形 1"/>
            <p:cNvSpPr/>
            <p:nvPr/>
          </p:nvSpPr>
          <p:spPr>
            <a:xfrm>
              <a:off x="694895" y="85823"/>
              <a:ext cx="4478545" cy="5156200"/>
            </a:xfrm>
            <a:custGeom>
              <a:avLst/>
              <a:gdLst>
                <a:gd name="connsiteX0" fmla="*/ 0 w 3810000"/>
                <a:gd name="connsiteY0" fmla="*/ 0 h 5181600"/>
                <a:gd name="connsiteX1" fmla="*/ 1079500 w 3810000"/>
                <a:gd name="connsiteY1" fmla="*/ 5181600 h 5181600"/>
                <a:gd name="connsiteX2" fmla="*/ 3810000 w 3810000"/>
                <a:gd name="connsiteY2" fmla="*/ 5181600 h 5181600"/>
                <a:gd name="connsiteX3" fmla="*/ 2514600 w 3810000"/>
                <a:gd name="connsiteY3" fmla="*/ 12700 h 5181600"/>
                <a:gd name="connsiteX4" fmla="*/ 0 w 3810000"/>
                <a:gd name="connsiteY4" fmla="*/ 0 h 5181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00" h="5181600">
                  <a:moveTo>
                    <a:pt x="0" y="0"/>
                  </a:moveTo>
                  <a:lnTo>
                    <a:pt x="1079500" y="5181600"/>
                  </a:lnTo>
                  <a:lnTo>
                    <a:pt x="3810000" y="5181600"/>
                  </a:lnTo>
                  <a:lnTo>
                    <a:pt x="2514600" y="127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1559C">
                <a:alpha val="68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0" hangingPunct="0">
                <a:lnSpc>
                  <a:spcPct val="150000"/>
                </a:lnSpc>
                <a:defRPr/>
              </a:pPr>
              <a:endParaRPr lang="zh-CN" altLang="en-US" sz="1600">
                <a:latin typeface="Arial" panose="020B0604020202020204" pitchFamily="34" charset="0"/>
                <a:ea typeface="微软雅黑" panose="020B0503020204020204" pitchFamily="34" charset="-122"/>
                <a:sym typeface="Arial" panose="020B0604020202020204" pitchFamily="34" charset="0"/>
              </a:endParaRPr>
            </a:p>
          </p:txBody>
        </p:sp>
      </p:grpSp>
      <p:sp>
        <p:nvSpPr>
          <p:cNvPr id="15" name="矩形 14"/>
          <p:cNvSpPr/>
          <p:nvPr/>
        </p:nvSpPr>
        <p:spPr>
          <a:xfrm>
            <a:off x="9358242" y="1874573"/>
            <a:ext cx="2070100" cy="5835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>
              <a:spcBef>
                <a:spcPct val="20000"/>
              </a:spcBef>
            </a:pPr>
            <a:r>
              <a:rPr lang="zh-CN" altLang="en-US" sz="3200" b="1" spc="500" dirty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苹方-简" panose="020B0400000000000000" charset="-122"/>
                <a:ea typeface="苹方-简" panose="020B0400000000000000" charset="-122"/>
                <a:cs typeface="宋体" panose="02010600030101010101" pitchFamily="2" charset="-122"/>
                <a:sym typeface="Arial" panose="020B0604020202020204" pitchFamily="34" charset="0"/>
              </a:rPr>
              <a:t>矿源</a:t>
            </a:r>
            <a:r>
              <a:rPr lang="zh-CN" altLang="en-US" sz="3200" b="1" spc="500" dirty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苹方-简" panose="020B0400000000000000" charset="-122"/>
                <a:ea typeface="苹方-简" panose="020B0400000000000000" charset="-122"/>
                <a:cs typeface="宋体" panose="02010600030101010101" pitchFamily="2" charset="-122"/>
                <a:sym typeface="Arial" panose="020B0604020202020204" pitchFamily="34" charset="0"/>
              </a:rPr>
              <a:t>备案</a:t>
            </a:r>
            <a:endParaRPr lang="zh-CN" altLang="en-US" sz="3200" b="1" spc="500" dirty="0">
              <a:solidFill>
                <a:schemeClr val="tx1">
                  <a:lumMod val="85000"/>
                  <a:lumOff val="15000"/>
                </a:schemeClr>
              </a:solidFill>
              <a:uFillTx/>
              <a:latin typeface="苹方-简" panose="020B0400000000000000" charset="-122"/>
              <a:ea typeface="苹方-简" panose="020B0400000000000000" charset="-122"/>
              <a:cs typeface="宋体" panose="02010600030101010101" pitchFamily="2" charset="-122"/>
              <a:sym typeface="Arial" panose="020B0604020202020204" pitchFamily="34" charset="0"/>
            </a:endParaRPr>
          </a:p>
        </p:txBody>
      </p:sp>
      <p:cxnSp>
        <p:nvCxnSpPr>
          <p:cNvPr id="16" name="直接连接符 15"/>
          <p:cNvCxnSpPr/>
          <p:nvPr/>
        </p:nvCxnSpPr>
        <p:spPr>
          <a:xfrm>
            <a:off x="7648862" y="2718303"/>
            <a:ext cx="3779585" cy="0"/>
          </a:xfrm>
          <a:prstGeom prst="line">
            <a:avLst/>
          </a:prstGeom>
          <a:ln w="38100">
            <a:solidFill>
              <a:srgbClr val="11559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/>
          <p:cNvSpPr txBox="1"/>
          <p:nvPr/>
        </p:nvSpPr>
        <p:spPr>
          <a:xfrm>
            <a:off x="7648575" y="2972435"/>
            <a:ext cx="3779520" cy="340995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>
              <a:lnSpc>
                <a:spcPct val="150000"/>
              </a:lnSpc>
            </a:pPr>
            <a:r>
              <a:rPr lang="zh-CN" altLang="en-US" sz="1600"/>
              <a:t>本模块针对矿源备案号进行管理，记录备案日期，备案数量等关键信息，备案数量使用率超</a:t>
            </a:r>
            <a:r>
              <a:rPr lang="en-US" altLang="zh-CN" sz="1600"/>
              <a:t>80%</a:t>
            </a:r>
            <a:r>
              <a:rPr lang="zh-CN" altLang="en-US" sz="1600"/>
              <a:t>时会触发预警，入库时会自动扣减备案</a:t>
            </a:r>
            <a:r>
              <a:rPr lang="zh-CN" altLang="en-US" sz="1600"/>
              <a:t>数量。</a:t>
            </a:r>
            <a:endParaRPr lang="zh-CN" altLang="en-US" sz="1600"/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9075" y="1950085"/>
            <a:ext cx="7256145" cy="4115435"/>
          </a:xfrm>
          <a:prstGeom prst="rect">
            <a:avLst/>
          </a:prstGeom>
        </p:spPr>
      </p:pic>
    </p:spTree>
  </p:cSld>
  <p:clrMapOvr>
    <a:masterClrMapping/>
  </p:clrMapOvr>
  <p:transition spd="slow" advClick="0" advTm="2000"/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五边形 24"/>
          <p:cNvSpPr/>
          <p:nvPr/>
        </p:nvSpPr>
        <p:spPr>
          <a:xfrm>
            <a:off x="0" y="0"/>
            <a:ext cx="2247900" cy="838200"/>
          </a:xfrm>
          <a:custGeom>
            <a:avLst/>
            <a:gdLst>
              <a:gd name="connsiteX0" fmla="*/ 0 w 2641600"/>
              <a:gd name="connsiteY0" fmla="*/ 0 h 787400"/>
              <a:gd name="connsiteX1" fmla="*/ 2247900 w 2641600"/>
              <a:gd name="connsiteY1" fmla="*/ 0 h 787400"/>
              <a:gd name="connsiteX2" fmla="*/ 2641600 w 2641600"/>
              <a:gd name="connsiteY2" fmla="*/ 393700 h 787400"/>
              <a:gd name="connsiteX3" fmla="*/ 2247900 w 2641600"/>
              <a:gd name="connsiteY3" fmla="*/ 787400 h 787400"/>
              <a:gd name="connsiteX4" fmla="*/ 0 w 2641600"/>
              <a:gd name="connsiteY4" fmla="*/ 787400 h 787400"/>
              <a:gd name="connsiteX5" fmla="*/ 0 w 2641600"/>
              <a:gd name="connsiteY5" fmla="*/ 0 h 787400"/>
              <a:gd name="connsiteX0-1" fmla="*/ 0 w 2247900"/>
              <a:gd name="connsiteY0-2" fmla="*/ 0 h 787400"/>
              <a:gd name="connsiteX1-3" fmla="*/ 2247900 w 2247900"/>
              <a:gd name="connsiteY1-4" fmla="*/ 0 h 787400"/>
              <a:gd name="connsiteX2-5" fmla="*/ 2247900 w 2247900"/>
              <a:gd name="connsiteY2-6" fmla="*/ 787400 h 787400"/>
              <a:gd name="connsiteX3-7" fmla="*/ 0 w 2247900"/>
              <a:gd name="connsiteY3-8" fmla="*/ 787400 h 787400"/>
              <a:gd name="connsiteX4-9" fmla="*/ 0 w 2247900"/>
              <a:gd name="connsiteY4-10" fmla="*/ 0 h 787400"/>
              <a:gd name="connsiteX0-11" fmla="*/ 0 w 2247900"/>
              <a:gd name="connsiteY0-12" fmla="*/ 0 h 787400"/>
              <a:gd name="connsiteX1-13" fmla="*/ 2158690 w 2247900"/>
              <a:gd name="connsiteY1-14" fmla="*/ 0 h 787400"/>
              <a:gd name="connsiteX2-15" fmla="*/ 2247900 w 2247900"/>
              <a:gd name="connsiteY2-16" fmla="*/ 787400 h 787400"/>
              <a:gd name="connsiteX3-17" fmla="*/ 0 w 2247900"/>
              <a:gd name="connsiteY3-18" fmla="*/ 787400 h 787400"/>
              <a:gd name="connsiteX4-19" fmla="*/ 0 w 2247900"/>
              <a:gd name="connsiteY4-20" fmla="*/ 0 h 787400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</a:cxnLst>
            <a:rect l="l" t="t" r="r" b="b"/>
            <a:pathLst>
              <a:path w="2247900" h="787400">
                <a:moveTo>
                  <a:pt x="0" y="0"/>
                </a:moveTo>
                <a:lnTo>
                  <a:pt x="2158690" y="0"/>
                </a:lnTo>
                <a:lnTo>
                  <a:pt x="2247900" y="787400"/>
                </a:lnTo>
                <a:lnTo>
                  <a:pt x="0" y="787400"/>
                </a:lnTo>
                <a:lnTo>
                  <a:pt x="0" y="0"/>
                </a:lnTo>
                <a:close/>
              </a:path>
            </a:pathLst>
          </a:cu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2400" dirty="0">
                <a:latin typeface="苹方-简" panose="020B0400000000000000" charset="-122"/>
                <a:ea typeface="苹方-简" panose="020B0400000000000000" charset="-122"/>
                <a:cs typeface="+mn-ea"/>
                <a:sym typeface="+mn-lt"/>
              </a:rPr>
              <a:t>平台前端</a:t>
            </a:r>
            <a:endParaRPr lang="zh-CN" altLang="en-US" sz="2400" dirty="0">
              <a:latin typeface="苹方-简" panose="020B0400000000000000" charset="-122"/>
              <a:ea typeface="苹方-简" panose="020B0400000000000000" charset="-122"/>
              <a:cs typeface="+mn-ea"/>
              <a:sym typeface="+mn-lt"/>
            </a:endParaRPr>
          </a:p>
        </p:txBody>
      </p:sp>
      <p:grpSp>
        <p:nvGrpSpPr>
          <p:cNvPr id="6" name="组合 6"/>
          <p:cNvGrpSpPr/>
          <p:nvPr/>
        </p:nvGrpSpPr>
        <p:grpSpPr bwMode="auto">
          <a:xfrm>
            <a:off x="1876234" y="838358"/>
            <a:ext cx="5247977" cy="5982808"/>
            <a:chOff x="694895" y="85823"/>
            <a:chExt cx="4833397" cy="5156200"/>
          </a:xfrm>
        </p:grpSpPr>
        <p:sp>
          <p:nvSpPr>
            <p:cNvPr id="50" name="任意多边形 49"/>
            <p:cNvSpPr/>
            <p:nvPr/>
          </p:nvSpPr>
          <p:spPr>
            <a:xfrm>
              <a:off x="1049956" y="91121"/>
              <a:ext cx="4478336" cy="5023921"/>
            </a:xfrm>
            <a:custGeom>
              <a:avLst/>
              <a:gdLst>
                <a:gd name="connsiteX0" fmla="*/ 0 w 3810000"/>
                <a:gd name="connsiteY0" fmla="*/ 0 h 5181600"/>
                <a:gd name="connsiteX1" fmla="*/ 1079500 w 3810000"/>
                <a:gd name="connsiteY1" fmla="*/ 5181600 h 5181600"/>
                <a:gd name="connsiteX2" fmla="*/ 3810000 w 3810000"/>
                <a:gd name="connsiteY2" fmla="*/ 5181600 h 5181600"/>
                <a:gd name="connsiteX3" fmla="*/ 2514600 w 3810000"/>
                <a:gd name="connsiteY3" fmla="*/ 12700 h 5181600"/>
                <a:gd name="connsiteX4" fmla="*/ 0 w 3810000"/>
                <a:gd name="connsiteY4" fmla="*/ 0 h 5181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00" h="5181600">
                  <a:moveTo>
                    <a:pt x="0" y="0"/>
                  </a:moveTo>
                  <a:lnTo>
                    <a:pt x="1079500" y="5181600"/>
                  </a:lnTo>
                  <a:lnTo>
                    <a:pt x="3810000" y="5181600"/>
                  </a:lnTo>
                  <a:lnTo>
                    <a:pt x="2514600" y="127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1559C">
                <a:alpha val="68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0" hangingPunct="0">
                <a:lnSpc>
                  <a:spcPct val="150000"/>
                </a:lnSpc>
                <a:defRPr/>
              </a:pPr>
              <a:endParaRPr lang="zh-CN" altLang="en-US" sz="1600">
                <a:latin typeface="Arial" panose="020B0604020202020204" pitchFamily="34" charset="0"/>
                <a:ea typeface="微软雅黑" panose="020B0503020204020204" pitchFamily="34" charset="-122"/>
                <a:sym typeface="Arial" panose="020B0604020202020204" pitchFamily="34" charset="0"/>
              </a:endParaRPr>
            </a:p>
          </p:txBody>
        </p:sp>
        <p:sp>
          <p:nvSpPr>
            <p:cNvPr id="2" name="任意多边形 1"/>
            <p:cNvSpPr/>
            <p:nvPr/>
          </p:nvSpPr>
          <p:spPr>
            <a:xfrm>
              <a:off x="694895" y="85823"/>
              <a:ext cx="4478545" cy="5156200"/>
            </a:xfrm>
            <a:custGeom>
              <a:avLst/>
              <a:gdLst>
                <a:gd name="connsiteX0" fmla="*/ 0 w 3810000"/>
                <a:gd name="connsiteY0" fmla="*/ 0 h 5181600"/>
                <a:gd name="connsiteX1" fmla="*/ 1079500 w 3810000"/>
                <a:gd name="connsiteY1" fmla="*/ 5181600 h 5181600"/>
                <a:gd name="connsiteX2" fmla="*/ 3810000 w 3810000"/>
                <a:gd name="connsiteY2" fmla="*/ 5181600 h 5181600"/>
                <a:gd name="connsiteX3" fmla="*/ 2514600 w 3810000"/>
                <a:gd name="connsiteY3" fmla="*/ 12700 h 5181600"/>
                <a:gd name="connsiteX4" fmla="*/ 0 w 3810000"/>
                <a:gd name="connsiteY4" fmla="*/ 0 h 5181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00" h="5181600">
                  <a:moveTo>
                    <a:pt x="0" y="0"/>
                  </a:moveTo>
                  <a:lnTo>
                    <a:pt x="1079500" y="5181600"/>
                  </a:lnTo>
                  <a:lnTo>
                    <a:pt x="3810000" y="5181600"/>
                  </a:lnTo>
                  <a:lnTo>
                    <a:pt x="2514600" y="127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1559C">
                <a:alpha val="68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0" hangingPunct="0">
                <a:lnSpc>
                  <a:spcPct val="150000"/>
                </a:lnSpc>
                <a:defRPr/>
              </a:pPr>
              <a:endParaRPr lang="zh-CN" altLang="en-US" sz="1600">
                <a:latin typeface="Arial" panose="020B0604020202020204" pitchFamily="34" charset="0"/>
                <a:ea typeface="微软雅黑" panose="020B0503020204020204" pitchFamily="34" charset="-122"/>
                <a:sym typeface="Arial" panose="020B0604020202020204" pitchFamily="34" charset="0"/>
              </a:endParaRPr>
            </a:p>
          </p:txBody>
        </p:sp>
      </p:grpSp>
      <p:sp>
        <p:nvSpPr>
          <p:cNvPr id="15" name="矩形 14"/>
          <p:cNvSpPr/>
          <p:nvPr/>
        </p:nvSpPr>
        <p:spPr>
          <a:xfrm>
            <a:off x="9358242" y="1874573"/>
            <a:ext cx="2070100" cy="5835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>
              <a:spcBef>
                <a:spcPct val="20000"/>
              </a:spcBef>
            </a:pPr>
            <a:r>
              <a:rPr lang="zh-CN" altLang="en-US" sz="3200" b="1" spc="500" dirty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苹方-简" panose="020B0400000000000000" charset="-122"/>
                <a:ea typeface="苹方-简" panose="020B0400000000000000" charset="-122"/>
                <a:cs typeface="宋体" panose="02010600030101010101" pitchFamily="2" charset="-122"/>
                <a:sym typeface="Arial" panose="020B0604020202020204" pitchFamily="34" charset="0"/>
              </a:rPr>
              <a:t>往来主体</a:t>
            </a:r>
            <a:endParaRPr lang="zh-CN" altLang="en-US" sz="3200" b="1" spc="500" dirty="0">
              <a:solidFill>
                <a:schemeClr val="tx1">
                  <a:lumMod val="85000"/>
                  <a:lumOff val="15000"/>
                </a:schemeClr>
              </a:solidFill>
              <a:uFillTx/>
              <a:latin typeface="苹方-简" panose="020B0400000000000000" charset="-122"/>
              <a:ea typeface="苹方-简" panose="020B0400000000000000" charset="-122"/>
              <a:cs typeface="宋体" panose="02010600030101010101" pitchFamily="2" charset="-122"/>
              <a:sym typeface="Arial" panose="020B0604020202020204" pitchFamily="34" charset="0"/>
            </a:endParaRPr>
          </a:p>
        </p:txBody>
      </p:sp>
      <p:cxnSp>
        <p:nvCxnSpPr>
          <p:cNvPr id="16" name="直接连接符 15"/>
          <p:cNvCxnSpPr/>
          <p:nvPr/>
        </p:nvCxnSpPr>
        <p:spPr>
          <a:xfrm>
            <a:off x="7648862" y="2718303"/>
            <a:ext cx="3779585" cy="0"/>
          </a:xfrm>
          <a:prstGeom prst="line">
            <a:avLst/>
          </a:prstGeom>
          <a:ln w="38100">
            <a:solidFill>
              <a:srgbClr val="11559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/>
          <p:cNvSpPr txBox="1"/>
          <p:nvPr/>
        </p:nvSpPr>
        <p:spPr>
          <a:xfrm>
            <a:off x="7648575" y="2972435"/>
            <a:ext cx="3779520" cy="340995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>
              <a:lnSpc>
                <a:spcPct val="150000"/>
              </a:lnSpc>
            </a:pPr>
            <a:r>
              <a:rPr lang="zh-CN" altLang="en-US" sz="1600"/>
              <a:t>主体分三类：委托方、物流账册主体、流向企业。委托方贯穿入出库、移库、库存与生产；出库指定流向企业；入库匹配物流账册主体。</a:t>
            </a:r>
            <a:endParaRPr lang="zh-CN" altLang="en-US" sz="1600"/>
          </a:p>
        </p:txBody>
      </p:sp>
      <p:pic>
        <p:nvPicPr>
          <p:cNvPr id="7" name="图片 6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9075" y="1950085"/>
            <a:ext cx="7255510" cy="4114800"/>
          </a:xfrm>
          <a:prstGeom prst="rect">
            <a:avLst/>
          </a:prstGeom>
        </p:spPr>
      </p:pic>
    </p:spTree>
  </p:cSld>
  <p:clrMapOvr>
    <a:masterClrMapping/>
  </p:clrMapOvr>
  <p:transition spd="slow" advClick="0" advTm="2000"/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五边形 24"/>
          <p:cNvSpPr/>
          <p:nvPr/>
        </p:nvSpPr>
        <p:spPr>
          <a:xfrm>
            <a:off x="0" y="0"/>
            <a:ext cx="2247900" cy="838200"/>
          </a:xfrm>
          <a:custGeom>
            <a:avLst/>
            <a:gdLst>
              <a:gd name="connsiteX0" fmla="*/ 0 w 2641600"/>
              <a:gd name="connsiteY0" fmla="*/ 0 h 787400"/>
              <a:gd name="connsiteX1" fmla="*/ 2247900 w 2641600"/>
              <a:gd name="connsiteY1" fmla="*/ 0 h 787400"/>
              <a:gd name="connsiteX2" fmla="*/ 2641600 w 2641600"/>
              <a:gd name="connsiteY2" fmla="*/ 393700 h 787400"/>
              <a:gd name="connsiteX3" fmla="*/ 2247900 w 2641600"/>
              <a:gd name="connsiteY3" fmla="*/ 787400 h 787400"/>
              <a:gd name="connsiteX4" fmla="*/ 0 w 2641600"/>
              <a:gd name="connsiteY4" fmla="*/ 787400 h 787400"/>
              <a:gd name="connsiteX5" fmla="*/ 0 w 2641600"/>
              <a:gd name="connsiteY5" fmla="*/ 0 h 787400"/>
              <a:gd name="connsiteX0-1" fmla="*/ 0 w 2247900"/>
              <a:gd name="connsiteY0-2" fmla="*/ 0 h 787400"/>
              <a:gd name="connsiteX1-3" fmla="*/ 2247900 w 2247900"/>
              <a:gd name="connsiteY1-4" fmla="*/ 0 h 787400"/>
              <a:gd name="connsiteX2-5" fmla="*/ 2247900 w 2247900"/>
              <a:gd name="connsiteY2-6" fmla="*/ 787400 h 787400"/>
              <a:gd name="connsiteX3-7" fmla="*/ 0 w 2247900"/>
              <a:gd name="connsiteY3-8" fmla="*/ 787400 h 787400"/>
              <a:gd name="connsiteX4-9" fmla="*/ 0 w 2247900"/>
              <a:gd name="connsiteY4-10" fmla="*/ 0 h 787400"/>
              <a:gd name="connsiteX0-11" fmla="*/ 0 w 2247900"/>
              <a:gd name="connsiteY0-12" fmla="*/ 0 h 787400"/>
              <a:gd name="connsiteX1-13" fmla="*/ 2158690 w 2247900"/>
              <a:gd name="connsiteY1-14" fmla="*/ 0 h 787400"/>
              <a:gd name="connsiteX2-15" fmla="*/ 2247900 w 2247900"/>
              <a:gd name="connsiteY2-16" fmla="*/ 787400 h 787400"/>
              <a:gd name="connsiteX3-17" fmla="*/ 0 w 2247900"/>
              <a:gd name="connsiteY3-18" fmla="*/ 787400 h 787400"/>
              <a:gd name="connsiteX4-19" fmla="*/ 0 w 2247900"/>
              <a:gd name="connsiteY4-20" fmla="*/ 0 h 787400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</a:cxnLst>
            <a:rect l="l" t="t" r="r" b="b"/>
            <a:pathLst>
              <a:path w="2247900" h="787400">
                <a:moveTo>
                  <a:pt x="0" y="0"/>
                </a:moveTo>
                <a:lnTo>
                  <a:pt x="2158690" y="0"/>
                </a:lnTo>
                <a:lnTo>
                  <a:pt x="2247900" y="787400"/>
                </a:lnTo>
                <a:lnTo>
                  <a:pt x="0" y="787400"/>
                </a:lnTo>
                <a:lnTo>
                  <a:pt x="0" y="0"/>
                </a:lnTo>
                <a:close/>
              </a:path>
            </a:pathLst>
          </a:cu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2400" dirty="0">
                <a:latin typeface="苹方-简" panose="020B0400000000000000" charset="-122"/>
                <a:ea typeface="苹方-简" panose="020B0400000000000000" charset="-122"/>
                <a:cs typeface="+mn-ea"/>
                <a:sym typeface="+mn-lt"/>
              </a:rPr>
              <a:t>平台前端</a:t>
            </a:r>
            <a:endParaRPr lang="zh-CN" altLang="en-US" sz="2400" dirty="0">
              <a:latin typeface="苹方-简" panose="020B0400000000000000" charset="-122"/>
              <a:ea typeface="苹方-简" panose="020B0400000000000000" charset="-122"/>
              <a:cs typeface="+mn-ea"/>
              <a:sym typeface="+mn-lt"/>
            </a:endParaRPr>
          </a:p>
        </p:txBody>
      </p:sp>
      <p:grpSp>
        <p:nvGrpSpPr>
          <p:cNvPr id="6" name="组合 6"/>
          <p:cNvGrpSpPr/>
          <p:nvPr/>
        </p:nvGrpSpPr>
        <p:grpSpPr bwMode="auto">
          <a:xfrm>
            <a:off x="1876234" y="838358"/>
            <a:ext cx="5247977" cy="5982808"/>
            <a:chOff x="694895" y="85823"/>
            <a:chExt cx="4833397" cy="5156200"/>
          </a:xfrm>
        </p:grpSpPr>
        <p:sp>
          <p:nvSpPr>
            <p:cNvPr id="50" name="任意多边形 49"/>
            <p:cNvSpPr/>
            <p:nvPr/>
          </p:nvSpPr>
          <p:spPr>
            <a:xfrm>
              <a:off x="1049956" y="91121"/>
              <a:ext cx="4478336" cy="5023921"/>
            </a:xfrm>
            <a:custGeom>
              <a:avLst/>
              <a:gdLst>
                <a:gd name="connsiteX0" fmla="*/ 0 w 3810000"/>
                <a:gd name="connsiteY0" fmla="*/ 0 h 5181600"/>
                <a:gd name="connsiteX1" fmla="*/ 1079500 w 3810000"/>
                <a:gd name="connsiteY1" fmla="*/ 5181600 h 5181600"/>
                <a:gd name="connsiteX2" fmla="*/ 3810000 w 3810000"/>
                <a:gd name="connsiteY2" fmla="*/ 5181600 h 5181600"/>
                <a:gd name="connsiteX3" fmla="*/ 2514600 w 3810000"/>
                <a:gd name="connsiteY3" fmla="*/ 12700 h 5181600"/>
                <a:gd name="connsiteX4" fmla="*/ 0 w 3810000"/>
                <a:gd name="connsiteY4" fmla="*/ 0 h 5181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00" h="5181600">
                  <a:moveTo>
                    <a:pt x="0" y="0"/>
                  </a:moveTo>
                  <a:lnTo>
                    <a:pt x="1079500" y="5181600"/>
                  </a:lnTo>
                  <a:lnTo>
                    <a:pt x="3810000" y="5181600"/>
                  </a:lnTo>
                  <a:lnTo>
                    <a:pt x="2514600" y="127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1559C">
                <a:alpha val="68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0" hangingPunct="0">
                <a:lnSpc>
                  <a:spcPct val="150000"/>
                </a:lnSpc>
                <a:defRPr/>
              </a:pPr>
              <a:endParaRPr lang="zh-CN" altLang="en-US" sz="1600">
                <a:latin typeface="Arial" panose="020B0604020202020204" pitchFamily="34" charset="0"/>
                <a:ea typeface="微软雅黑" panose="020B0503020204020204" pitchFamily="34" charset="-122"/>
                <a:sym typeface="Arial" panose="020B0604020202020204" pitchFamily="34" charset="0"/>
              </a:endParaRPr>
            </a:p>
          </p:txBody>
        </p:sp>
        <p:sp>
          <p:nvSpPr>
            <p:cNvPr id="2" name="任意多边形 1"/>
            <p:cNvSpPr/>
            <p:nvPr/>
          </p:nvSpPr>
          <p:spPr>
            <a:xfrm>
              <a:off x="694895" y="85823"/>
              <a:ext cx="4478545" cy="5156200"/>
            </a:xfrm>
            <a:custGeom>
              <a:avLst/>
              <a:gdLst>
                <a:gd name="connsiteX0" fmla="*/ 0 w 3810000"/>
                <a:gd name="connsiteY0" fmla="*/ 0 h 5181600"/>
                <a:gd name="connsiteX1" fmla="*/ 1079500 w 3810000"/>
                <a:gd name="connsiteY1" fmla="*/ 5181600 h 5181600"/>
                <a:gd name="connsiteX2" fmla="*/ 3810000 w 3810000"/>
                <a:gd name="connsiteY2" fmla="*/ 5181600 h 5181600"/>
                <a:gd name="connsiteX3" fmla="*/ 2514600 w 3810000"/>
                <a:gd name="connsiteY3" fmla="*/ 12700 h 5181600"/>
                <a:gd name="connsiteX4" fmla="*/ 0 w 3810000"/>
                <a:gd name="connsiteY4" fmla="*/ 0 h 5181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00" h="5181600">
                  <a:moveTo>
                    <a:pt x="0" y="0"/>
                  </a:moveTo>
                  <a:lnTo>
                    <a:pt x="1079500" y="5181600"/>
                  </a:lnTo>
                  <a:lnTo>
                    <a:pt x="3810000" y="5181600"/>
                  </a:lnTo>
                  <a:lnTo>
                    <a:pt x="2514600" y="127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1559C">
                <a:alpha val="68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0" hangingPunct="0">
                <a:lnSpc>
                  <a:spcPct val="150000"/>
                </a:lnSpc>
                <a:defRPr/>
              </a:pPr>
              <a:endParaRPr lang="zh-CN" altLang="en-US" sz="1600">
                <a:latin typeface="Arial" panose="020B0604020202020204" pitchFamily="34" charset="0"/>
                <a:ea typeface="微软雅黑" panose="020B0503020204020204" pitchFamily="34" charset="-122"/>
                <a:sym typeface="Arial" panose="020B0604020202020204" pitchFamily="34" charset="0"/>
              </a:endParaRPr>
            </a:p>
          </p:txBody>
        </p:sp>
      </p:grpSp>
      <p:sp>
        <p:nvSpPr>
          <p:cNvPr id="15" name="矩形 14"/>
          <p:cNvSpPr/>
          <p:nvPr/>
        </p:nvSpPr>
        <p:spPr>
          <a:xfrm>
            <a:off x="9358242" y="1874573"/>
            <a:ext cx="2070100" cy="5835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>
              <a:spcBef>
                <a:spcPct val="20000"/>
              </a:spcBef>
            </a:pPr>
            <a:r>
              <a:rPr lang="zh-CN" altLang="en-US" sz="3200" b="1" spc="500" dirty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苹方-简" panose="020B0400000000000000" charset="-122"/>
                <a:ea typeface="苹方-简" panose="020B0400000000000000" charset="-122"/>
                <a:cs typeface="宋体" panose="02010600030101010101" pitchFamily="2" charset="-122"/>
                <a:sym typeface="Arial" panose="020B0604020202020204" pitchFamily="34" charset="0"/>
              </a:rPr>
              <a:t>保税账册</a:t>
            </a:r>
            <a:endParaRPr lang="zh-CN" altLang="en-US" sz="3200" b="1" spc="500" dirty="0">
              <a:solidFill>
                <a:schemeClr val="tx1">
                  <a:lumMod val="85000"/>
                  <a:lumOff val="15000"/>
                </a:schemeClr>
              </a:solidFill>
              <a:uFillTx/>
              <a:latin typeface="苹方-简" panose="020B0400000000000000" charset="-122"/>
              <a:ea typeface="苹方-简" panose="020B0400000000000000" charset="-122"/>
              <a:cs typeface="宋体" panose="02010600030101010101" pitchFamily="2" charset="-122"/>
              <a:sym typeface="Arial" panose="020B0604020202020204" pitchFamily="34" charset="0"/>
            </a:endParaRPr>
          </a:p>
        </p:txBody>
      </p:sp>
      <p:cxnSp>
        <p:nvCxnSpPr>
          <p:cNvPr id="16" name="直接连接符 15"/>
          <p:cNvCxnSpPr/>
          <p:nvPr/>
        </p:nvCxnSpPr>
        <p:spPr>
          <a:xfrm>
            <a:off x="7648862" y="2718303"/>
            <a:ext cx="3779585" cy="0"/>
          </a:xfrm>
          <a:prstGeom prst="line">
            <a:avLst/>
          </a:prstGeom>
          <a:ln w="38100">
            <a:solidFill>
              <a:srgbClr val="11559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/>
          <p:cNvSpPr txBox="1"/>
          <p:nvPr/>
        </p:nvSpPr>
        <p:spPr>
          <a:xfrm>
            <a:off x="7648575" y="2972435"/>
            <a:ext cx="3779520" cy="340995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>
              <a:lnSpc>
                <a:spcPct val="150000"/>
              </a:lnSpc>
            </a:pPr>
            <a:r>
              <a:rPr lang="zh-CN" altLang="en-US" sz="1600"/>
              <a:t>账册维护编号、名称、经营单位与状态；入库称重时匹配；关务按账册做账实对账。</a:t>
            </a:r>
            <a:endParaRPr lang="zh-CN" altLang="en-US" sz="1600"/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9075" y="1950085"/>
            <a:ext cx="7254240" cy="4114800"/>
          </a:xfrm>
          <a:prstGeom prst="rect">
            <a:avLst/>
          </a:prstGeom>
        </p:spPr>
      </p:pic>
    </p:spTree>
  </p:cSld>
  <p:clrMapOvr>
    <a:masterClrMapping/>
  </p:clrMapOvr>
  <p:transition spd="slow" advClick="0" advTm="2000"/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五边形 24"/>
          <p:cNvSpPr/>
          <p:nvPr/>
        </p:nvSpPr>
        <p:spPr>
          <a:xfrm>
            <a:off x="0" y="0"/>
            <a:ext cx="2247900" cy="838200"/>
          </a:xfrm>
          <a:custGeom>
            <a:avLst/>
            <a:gdLst>
              <a:gd name="connsiteX0" fmla="*/ 0 w 2641600"/>
              <a:gd name="connsiteY0" fmla="*/ 0 h 787400"/>
              <a:gd name="connsiteX1" fmla="*/ 2247900 w 2641600"/>
              <a:gd name="connsiteY1" fmla="*/ 0 h 787400"/>
              <a:gd name="connsiteX2" fmla="*/ 2641600 w 2641600"/>
              <a:gd name="connsiteY2" fmla="*/ 393700 h 787400"/>
              <a:gd name="connsiteX3" fmla="*/ 2247900 w 2641600"/>
              <a:gd name="connsiteY3" fmla="*/ 787400 h 787400"/>
              <a:gd name="connsiteX4" fmla="*/ 0 w 2641600"/>
              <a:gd name="connsiteY4" fmla="*/ 787400 h 787400"/>
              <a:gd name="connsiteX5" fmla="*/ 0 w 2641600"/>
              <a:gd name="connsiteY5" fmla="*/ 0 h 787400"/>
              <a:gd name="connsiteX0-1" fmla="*/ 0 w 2247900"/>
              <a:gd name="connsiteY0-2" fmla="*/ 0 h 787400"/>
              <a:gd name="connsiteX1-3" fmla="*/ 2247900 w 2247900"/>
              <a:gd name="connsiteY1-4" fmla="*/ 0 h 787400"/>
              <a:gd name="connsiteX2-5" fmla="*/ 2247900 w 2247900"/>
              <a:gd name="connsiteY2-6" fmla="*/ 787400 h 787400"/>
              <a:gd name="connsiteX3-7" fmla="*/ 0 w 2247900"/>
              <a:gd name="connsiteY3-8" fmla="*/ 787400 h 787400"/>
              <a:gd name="connsiteX4-9" fmla="*/ 0 w 2247900"/>
              <a:gd name="connsiteY4-10" fmla="*/ 0 h 787400"/>
              <a:gd name="connsiteX0-11" fmla="*/ 0 w 2247900"/>
              <a:gd name="connsiteY0-12" fmla="*/ 0 h 787400"/>
              <a:gd name="connsiteX1-13" fmla="*/ 2158690 w 2247900"/>
              <a:gd name="connsiteY1-14" fmla="*/ 0 h 787400"/>
              <a:gd name="connsiteX2-15" fmla="*/ 2247900 w 2247900"/>
              <a:gd name="connsiteY2-16" fmla="*/ 787400 h 787400"/>
              <a:gd name="connsiteX3-17" fmla="*/ 0 w 2247900"/>
              <a:gd name="connsiteY3-18" fmla="*/ 787400 h 787400"/>
              <a:gd name="connsiteX4-19" fmla="*/ 0 w 2247900"/>
              <a:gd name="connsiteY4-20" fmla="*/ 0 h 787400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</a:cxnLst>
            <a:rect l="l" t="t" r="r" b="b"/>
            <a:pathLst>
              <a:path w="2247900" h="787400">
                <a:moveTo>
                  <a:pt x="0" y="0"/>
                </a:moveTo>
                <a:lnTo>
                  <a:pt x="2158690" y="0"/>
                </a:lnTo>
                <a:lnTo>
                  <a:pt x="2247900" y="787400"/>
                </a:lnTo>
                <a:lnTo>
                  <a:pt x="0" y="787400"/>
                </a:lnTo>
                <a:lnTo>
                  <a:pt x="0" y="0"/>
                </a:lnTo>
                <a:close/>
              </a:path>
            </a:pathLst>
          </a:cu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2400" dirty="0">
                <a:latin typeface="苹方-简" panose="020B0400000000000000" charset="-122"/>
                <a:ea typeface="苹方-简" panose="020B0400000000000000" charset="-122"/>
                <a:cs typeface="+mn-ea"/>
                <a:sym typeface="+mn-lt"/>
              </a:rPr>
              <a:t>平台前端</a:t>
            </a:r>
            <a:endParaRPr lang="zh-CN" altLang="en-US" sz="2400" dirty="0">
              <a:latin typeface="苹方-简" panose="020B0400000000000000" charset="-122"/>
              <a:ea typeface="苹方-简" panose="020B0400000000000000" charset="-122"/>
              <a:cs typeface="+mn-ea"/>
              <a:sym typeface="+mn-lt"/>
            </a:endParaRPr>
          </a:p>
        </p:txBody>
      </p:sp>
      <p:grpSp>
        <p:nvGrpSpPr>
          <p:cNvPr id="6" name="组合 6"/>
          <p:cNvGrpSpPr/>
          <p:nvPr/>
        </p:nvGrpSpPr>
        <p:grpSpPr bwMode="auto">
          <a:xfrm>
            <a:off x="1876234" y="838358"/>
            <a:ext cx="5247977" cy="5982808"/>
            <a:chOff x="694895" y="85823"/>
            <a:chExt cx="4833397" cy="5156200"/>
          </a:xfrm>
        </p:grpSpPr>
        <p:sp>
          <p:nvSpPr>
            <p:cNvPr id="50" name="任意多边形 49"/>
            <p:cNvSpPr/>
            <p:nvPr/>
          </p:nvSpPr>
          <p:spPr>
            <a:xfrm>
              <a:off x="1049956" y="91121"/>
              <a:ext cx="4478336" cy="5023921"/>
            </a:xfrm>
            <a:custGeom>
              <a:avLst/>
              <a:gdLst>
                <a:gd name="connsiteX0" fmla="*/ 0 w 3810000"/>
                <a:gd name="connsiteY0" fmla="*/ 0 h 5181600"/>
                <a:gd name="connsiteX1" fmla="*/ 1079500 w 3810000"/>
                <a:gd name="connsiteY1" fmla="*/ 5181600 h 5181600"/>
                <a:gd name="connsiteX2" fmla="*/ 3810000 w 3810000"/>
                <a:gd name="connsiteY2" fmla="*/ 5181600 h 5181600"/>
                <a:gd name="connsiteX3" fmla="*/ 2514600 w 3810000"/>
                <a:gd name="connsiteY3" fmla="*/ 12700 h 5181600"/>
                <a:gd name="connsiteX4" fmla="*/ 0 w 3810000"/>
                <a:gd name="connsiteY4" fmla="*/ 0 h 5181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00" h="5181600">
                  <a:moveTo>
                    <a:pt x="0" y="0"/>
                  </a:moveTo>
                  <a:lnTo>
                    <a:pt x="1079500" y="5181600"/>
                  </a:lnTo>
                  <a:lnTo>
                    <a:pt x="3810000" y="5181600"/>
                  </a:lnTo>
                  <a:lnTo>
                    <a:pt x="2514600" y="127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1559C">
                <a:alpha val="68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0" hangingPunct="0">
                <a:lnSpc>
                  <a:spcPct val="150000"/>
                </a:lnSpc>
                <a:defRPr/>
              </a:pPr>
              <a:endParaRPr lang="zh-CN" altLang="en-US" sz="1600">
                <a:latin typeface="Arial" panose="020B0604020202020204" pitchFamily="34" charset="0"/>
                <a:ea typeface="微软雅黑" panose="020B0503020204020204" pitchFamily="34" charset="-122"/>
                <a:sym typeface="Arial" panose="020B0604020202020204" pitchFamily="34" charset="0"/>
              </a:endParaRPr>
            </a:p>
          </p:txBody>
        </p:sp>
        <p:sp>
          <p:nvSpPr>
            <p:cNvPr id="2" name="任意多边形 1"/>
            <p:cNvSpPr/>
            <p:nvPr/>
          </p:nvSpPr>
          <p:spPr>
            <a:xfrm>
              <a:off x="694895" y="85823"/>
              <a:ext cx="4478545" cy="5156200"/>
            </a:xfrm>
            <a:custGeom>
              <a:avLst/>
              <a:gdLst>
                <a:gd name="connsiteX0" fmla="*/ 0 w 3810000"/>
                <a:gd name="connsiteY0" fmla="*/ 0 h 5181600"/>
                <a:gd name="connsiteX1" fmla="*/ 1079500 w 3810000"/>
                <a:gd name="connsiteY1" fmla="*/ 5181600 h 5181600"/>
                <a:gd name="connsiteX2" fmla="*/ 3810000 w 3810000"/>
                <a:gd name="connsiteY2" fmla="*/ 5181600 h 5181600"/>
                <a:gd name="connsiteX3" fmla="*/ 2514600 w 3810000"/>
                <a:gd name="connsiteY3" fmla="*/ 12700 h 5181600"/>
                <a:gd name="connsiteX4" fmla="*/ 0 w 3810000"/>
                <a:gd name="connsiteY4" fmla="*/ 0 h 5181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00" h="5181600">
                  <a:moveTo>
                    <a:pt x="0" y="0"/>
                  </a:moveTo>
                  <a:lnTo>
                    <a:pt x="1079500" y="5181600"/>
                  </a:lnTo>
                  <a:lnTo>
                    <a:pt x="3810000" y="5181600"/>
                  </a:lnTo>
                  <a:lnTo>
                    <a:pt x="2514600" y="127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1559C">
                <a:alpha val="68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0" hangingPunct="0">
                <a:lnSpc>
                  <a:spcPct val="150000"/>
                </a:lnSpc>
                <a:defRPr/>
              </a:pPr>
              <a:endParaRPr lang="zh-CN" altLang="en-US" sz="1600">
                <a:latin typeface="Arial" panose="020B0604020202020204" pitchFamily="34" charset="0"/>
                <a:ea typeface="微软雅黑" panose="020B0503020204020204" pitchFamily="34" charset="-122"/>
                <a:sym typeface="Arial" panose="020B0604020202020204" pitchFamily="34" charset="0"/>
              </a:endParaRPr>
            </a:p>
          </p:txBody>
        </p:sp>
      </p:grpSp>
      <p:sp>
        <p:nvSpPr>
          <p:cNvPr id="15" name="矩形 14"/>
          <p:cNvSpPr/>
          <p:nvPr/>
        </p:nvSpPr>
        <p:spPr>
          <a:xfrm>
            <a:off x="9358242" y="1874573"/>
            <a:ext cx="2070100" cy="5835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>
              <a:spcBef>
                <a:spcPct val="20000"/>
              </a:spcBef>
            </a:pPr>
            <a:r>
              <a:rPr lang="zh-CN" altLang="en-US" sz="3200" b="1" spc="500" dirty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苹方-简" panose="020B0400000000000000" charset="-122"/>
                <a:ea typeface="苹方-简" panose="020B0400000000000000" charset="-122"/>
                <a:cs typeface="宋体" panose="02010600030101010101" pitchFamily="2" charset="-122"/>
                <a:sym typeface="Arial" panose="020B0604020202020204" pitchFamily="34" charset="0"/>
              </a:rPr>
              <a:t>系统设置</a:t>
            </a:r>
            <a:endParaRPr lang="zh-CN" altLang="en-US" sz="3200" b="1" spc="500" dirty="0">
              <a:solidFill>
                <a:schemeClr val="tx1">
                  <a:lumMod val="85000"/>
                  <a:lumOff val="15000"/>
                </a:schemeClr>
              </a:solidFill>
              <a:uFillTx/>
              <a:latin typeface="苹方-简" panose="020B0400000000000000" charset="-122"/>
              <a:ea typeface="苹方-简" panose="020B0400000000000000" charset="-122"/>
              <a:cs typeface="宋体" panose="02010600030101010101" pitchFamily="2" charset="-122"/>
              <a:sym typeface="Arial" panose="020B0604020202020204" pitchFamily="34" charset="0"/>
            </a:endParaRPr>
          </a:p>
        </p:txBody>
      </p:sp>
      <p:cxnSp>
        <p:nvCxnSpPr>
          <p:cNvPr id="16" name="直接连接符 15"/>
          <p:cNvCxnSpPr/>
          <p:nvPr/>
        </p:nvCxnSpPr>
        <p:spPr>
          <a:xfrm>
            <a:off x="7648862" y="2718303"/>
            <a:ext cx="3779585" cy="0"/>
          </a:xfrm>
          <a:prstGeom prst="line">
            <a:avLst/>
          </a:prstGeom>
          <a:ln w="38100">
            <a:solidFill>
              <a:srgbClr val="11559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/>
          <p:cNvSpPr txBox="1"/>
          <p:nvPr/>
        </p:nvSpPr>
        <p:spPr>
          <a:xfrm>
            <a:off x="7648575" y="2972435"/>
            <a:ext cx="3779520" cy="340995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>
              <a:lnSpc>
                <a:spcPct val="150000"/>
              </a:lnSpc>
            </a:pPr>
            <a:r>
              <a:rPr lang="zh-CN" altLang="en-US" sz="1400"/>
              <a:t>三角色配置：系统管理员、仓管员、关务员、生产员，权限与人数可配。海关专用账号独立建档，与业务账号菜单、数据、审计隔离。系统参数可配库容占用预警阈值（默认 70%）、原料库龄天数（默认 90 天）、矿源备案用量预警（默认 80%），以及入库/</a:t>
            </a:r>
            <a:r>
              <a:rPr lang="en-US" altLang="zh-CN" sz="1400"/>
              <a:t>OCR </a:t>
            </a:r>
            <a:r>
              <a:rPr lang="zh-CN" altLang="en-US" sz="1400"/>
              <a:t>使用的品质参数清单。操作日志默认永久留存。</a:t>
            </a:r>
            <a:endParaRPr lang="zh-CN" altLang="en-US" sz="1400"/>
          </a:p>
        </p:txBody>
      </p:sp>
      <p:pic>
        <p:nvPicPr>
          <p:cNvPr id="7" name="图片 6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9075" y="1950085"/>
            <a:ext cx="7253605" cy="4114165"/>
          </a:xfrm>
          <a:prstGeom prst="rect">
            <a:avLst/>
          </a:prstGeom>
        </p:spPr>
      </p:pic>
    </p:spTree>
  </p:cSld>
  <p:clrMapOvr>
    <a:masterClrMapping/>
  </p:clrMapOvr>
  <p:transition spd="slow" advClick="0" advTm="2000"/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五边形 24"/>
          <p:cNvSpPr/>
          <p:nvPr/>
        </p:nvSpPr>
        <p:spPr>
          <a:xfrm>
            <a:off x="0" y="0"/>
            <a:ext cx="2247900" cy="838200"/>
          </a:xfrm>
          <a:custGeom>
            <a:avLst/>
            <a:gdLst>
              <a:gd name="connsiteX0" fmla="*/ 0 w 2641600"/>
              <a:gd name="connsiteY0" fmla="*/ 0 h 787400"/>
              <a:gd name="connsiteX1" fmla="*/ 2247900 w 2641600"/>
              <a:gd name="connsiteY1" fmla="*/ 0 h 787400"/>
              <a:gd name="connsiteX2" fmla="*/ 2641600 w 2641600"/>
              <a:gd name="connsiteY2" fmla="*/ 393700 h 787400"/>
              <a:gd name="connsiteX3" fmla="*/ 2247900 w 2641600"/>
              <a:gd name="connsiteY3" fmla="*/ 787400 h 787400"/>
              <a:gd name="connsiteX4" fmla="*/ 0 w 2641600"/>
              <a:gd name="connsiteY4" fmla="*/ 787400 h 787400"/>
              <a:gd name="connsiteX5" fmla="*/ 0 w 2641600"/>
              <a:gd name="connsiteY5" fmla="*/ 0 h 787400"/>
              <a:gd name="connsiteX0-1" fmla="*/ 0 w 2247900"/>
              <a:gd name="connsiteY0-2" fmla="*/ 0 h 787400"/>
              <a:gd name="connsiteX1-3" fmla="*/ 2247900 w 2247900"/>
              <a:gd name="connsiteY1-4" fmla="*/ 0 h 787400"/>
              <a:gd name="connsiteX2-5" fmla="*/ 2247900 w 2247900"/>
              <a:gd name="connsiteY2-6" fmla="*/ 787400 h 787400"/>
              <a:gd name="connsiteX3-7" fmla="*/ 0 w 2247900"/>
              <a:gd name="connsiteY3-8" fmla="*/ 787400 h 787400"/>
              <a:gd name="connsiteX4-9" fmla="*/ 0 w 2247900"/>
              <a:gd name="connsiteY4-10" fmla="*/ 0 h 787400"/>
              <a:gd name="connsiteX0-11" fmla="*/ 0 w 2247900"/>
              <a:gd name="connsiteY0-12" fmla="*/ 0 h 787400"/>
              <a:gd name="connsiteX1-13" fmla="*/ 2158690 w 2247900"/>
              <a:gd name="connsiteY1-14" fmla="*/ 0 h 787400"/>
              <a:gd name="connsiteX2-15" fmla="*/ 2247900 w 2247900"/>
              <a:gd name="connsiteY2-16" fmla="*/ 787400 h 787400"/>
              <a:gd name="connsiteX3-17" fmla="*/ 0 w 2247900"/>
              <a:gd name="connsiteY3-18" fmla="*/ 787400 h 787400"/>
              <a:gd name="connsiteX4-19" fmla="*/ 0 w 2247900"/>
              <a:gd name="connsiteY4-20" fmla="*/ 0 h 787400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</a:cxnLst>
            <a:rect l="l" t="t" r="r" b="b"/>
            <a:pathLst>
              <a:path w="2247900" h="787400">
                <a:moveTo>
                  <a:pt x="0" y="0"/>
                </a:moveTo>
                <a:lnTo>
                  <a:pt x="2158690" y="0"/>
                </a:lnTo>
                <a:lnTo>
                  <a:pt x="2247900" y="787400"/>
                </a:lnTo>
                <a:lnTo>
                  <a:pt x="0" y="787400"/>
                </a:lnTo>
                <a:lnTo>
                  <a:pt x="0" y="0"/>
                </a:lnTo>
                <a:close/>
              </a:path>
            </a:pathLst>
          </a:cu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2400" dirty="0">
                <a:latin typeface="苹方-简" panose="020B0400000000000000" charset="-122"/>
                <a:ea typeface="苹方-简" panose="020B0400000000000000" charset="-122"/>
                <a:cs typeface="+mn-ea"/>
                <a:sym typeface="+mn-lt"/>
              </a:rPr>
              <a:t>平台前端</a:t>
            </a:r>
            <a:endParaRPr lang="zh-CN" altLang="en-US" sz="2400" dirty="0">
              <a:latin typeface="苹方-简" panose="020B0400000000000000" charset="-122"/>
              <a:ea typeface="苹方-简" panose="020B0400000000000000" charset="-122"/>
              <a:cs typeface="+mn-ea"/>
              <a:sym typeface="+mn-lt"/>
            </a:endParaRPr>
          </a:p>
        </p:txBody>
      </p:sp>
      <p:grpSp>
        <p:nvGrpSpPr>
          <p:cNvPr id="6" name="组合 6"/>
          <p:cNvGrpSpPr/>
          <p:nvPr/>
        </p:nvGrpSpPr>
        <p:grpSpPr bwMode="auto">
          <a:xfrm>
            <a:off x="1876234" y="838358"/>
            <a:ext cx="5247977" cy="5982808"/>
            <a:chOff x="694895" y="85823"/>
            <a:chExt cx="4833397" cy="5156200"/>
          </a:xfrm>
        </p:grpSpPr>
        <p:sp>
          <p:nvSpPr>
            <p:cNvPr id="50" name="任意多边形 49"/>
            <p:cNvSpPr/>
            <p:nvPr/>
          </p:nvSpPr>
          <p:spPr>
            <a:xfrm>
              <a:off x="1049956" y="91121"/>
              <a:ext cx="4478336" cy="5023921"/>
            </a:xfrm>
            <a:custGeom>
              <a:avLst/>
              <a:gdLst>
                <a:gd name="connsiteX0" fmla="*/ 0 w 3810000"/>
                <a:gd name="connsiteY0" fmla="*/ 0 h 5181600"/>
                <a:gd name="connsiteX1" fmla="*/ 1079500 w 3810000"/>
                <a:gd name="connsiteY1" fmla="*/ 5181600 h 5181600"/>
                <a:gd name="connsiteX2" fmla="*/ 3810000 w 3810000"/>
                <a:gd name="connsiteY2" fmla="*/ 5181600 h 5181600"/>
                <a:gd name="connsiteX3" fmla="*/ 2514600 w 3810000"/>
                <a:gd name="connsiteY3" fmla="*/ 12700 h 5181600"/>
                <a:gd name="connsiteX4" fmla="*/ 0 w 3810000"/>
                <a:gd name="connsiteY4" fmla="*/ 0 h 5181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00" h="5181600">
                  <a:moveTo>
                    <a:pt x="0" y="0"/>
                  </a:moveTo>
                  <a:lnTo>
                    <a:pt x="1079500" y="5181600"/>
                  </a:lnTo>
                  <a:lnTo>
                    <a:pt x="3810000" y="5181600"/>
                  </a:lnTo>
                  <a:lnTo>
                    <a:pt x="2514600" y="127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1559C">
                <a:alpha val="68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0" hangingPunct="0">
                <a:lnSpc>
                  <a:spcPct val="150000"/>
                </a:lnSpc>
                <a:defRPr/>
              </a:pPr>
              <a:endParaRPr lang="zh-CN" altLang="en-US" sz="1600">
                <a:latin typeface="Arial" panose="020B0604020202020204" pitchFamily="34" charset="0"/>
                <a:ea typeface="微软雅黑" panose="020B0503020204020204" pitchFamily="34" charset="-122"/>
                <a:sym typeface="Arial" panose="020B0604020202020204" pitchFamily="34" charset="0"/>
              </a:endParaRPr>
            </a:p>
          </p:txBody>
        </p:sp>
        <p:sp>
          <p:nvSpPr>
            <p:cNvPr id="2" name="任意多边形 1"/>
            <p:cNvSpPr/>
            <p:nvPr/>
          </p:nvSpPr>
          <p:spPr>
            <a:xfrm>
              <a:off x="694895" y="85823"/>
              <a:ext cx="4478545" cy="5156200"/>
            </a:xfrm>
            <a:custGeom>
              <a:avLst/>
              <a:gdLst>
                <a:gd name="connsiteX0" fmla="*/ 0 w 3810000"/>
                <a:gd name="connsiteY0" fmla="*/ 0 h 5181600"/>
                <a:gd name="connsiteX1" fmla="*/ 1079500 w 3810000"/>
                <a:gd name="connsiteY1" fmla="*/ 5181600 h 5181600"/>
                <a:gd name="connsiteX2" fmla="*/ 3810000 w 3810000"/>
                <a:gd name="connsiteY2" fmla="*/ 5181600 h 5181600"/>
                <a:gd name="connsiteX3" fmla="*/ 2514600 w 3810000"/>
                <a:gd name="connsiteY3" fmla="*/ 12700 h 5181600"/>
                <a:gd name="connsiteX4" fmla="*/ 0 w 3810000"/>
                <a:gd name="connsiteY4" fmla="*/ 0 h 5181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00" h="5181600">
                  <a:moveTo>
                    <a:pt x="0" y="0"/>
                  </a:moveTo>
                  <a:lnTo>
                    <a:pt x="1079500" y="5181600"/>
                  </a:lnTo>
                  <a:lnTo>
                    <a:pt x="3810000" y="5181600"/>
                  </a:lnTo>
                  <a:lnTo>
                    <a:pt x="2514600" y="127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1559C">
                <a:alpha val="68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0" hangingPunct="0">
                <a:lnSpc>
                  <a:spcPct val="150000"/>
                </a:lnSpc>
                <a:defRPr/>
              </a:pPr>
              <a:endParaRPr lang="zh-CN" altLang="en-US" sz="1600">
                <a:latin typeface="Arial" panose="020B0604020202020204" pitchFamily="34" charset="0"/>
                <a:ea typeface="微软雅黑" panose="020B0503020204020204" pitchFamily="34" charset="-122"/>
                <a:sym typeface="Arial" panose="020B0604020202020204" pitchFamily="34" charset="0"/>
              </a:endParaRPr>
            </a:p>
          </p:txBody>
        </p:sp>
      </p:grpSp>
      <p:sp>
        <p:nvSpPr>
          <p:cNvPr id="15" name="矩形 14"/>
          <p:cNvSpPr/>
          <p:nvPr/>
        </p:nvSpPr>
        <p:spPr>
          <a:xfrm>
            <a:off x="9358242" y="1874573"/>
            <a:ext cx="2070100" cy="5835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>
              <a:spcBef>
                <a:spcPct val="20000"/>
              </a:spcBef>
            </a:pPr>
            <a:r>
              <a:rPr lang="zh-CN" altLang="en-US" sz="3200" b="1" spc="500" dirty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苹方-简" panose="020B0400000000000000" charset="-122"/>
                <a:ea typeface="苹方-简" panose="020B0400000000000000" charset="-122"/>
                <a:cs typeface="宋体" panose="02010600030101010101" pitchFamily="2" charset="-122"/>
                <a:sym typeface="Arial" panose="020B0604020202020204" pitchFamily="34" charset="0"/>
              </a:rPr>
              <a:t>入库管理</a:t>
            </a:r>
            <a:endParaRPr lang="zh-CN" altLang="en-US" sz="3200" b="1" spc="500" dirty="0">
              <a:solidFill>
                <a:schemeClr val="tx1">
                  <a:lumMod val="85000"/>
                  <a:lumOff val="15000"/>
                </a:schemeClr>
              </a:solidFill>
              <a:uFillTx/>
              <a:latin typeface="苹方-简" panose="020B0400000000000000" charset="-122"/>
              <a:ea typeface="苹方-简" panose="020B0400000000000000" charset="-122"/>
              <a:cs typeface="宋体" panose="02010600030101010101" pitchFamily="2" charset="-122"/>
              <a:sym typeface="Arial" panose="020B0604020202020204" pitchFamily="34" charset="0"/>
            </a:endParaRPr>
          </a:p>
        </p:txBody>
      </p:sp>
      <p:cxnSp>
        <p:nvCxnSpPr>
          <p:cNvPr id="16" name="直接连接符 15"/>
          <p:cNvCxnSpPr/>
          <p:nvPr/>
        </p:nvCxnSpPr>
        <p:spPr>
          <a:xfrm>
            <a:off x="7648862" y="2718303"/>
            <a:ext cx="3779585" cy="0"/>
          </a:xfrm>
          <a:prstGeom prst="line">
            <a:avLst/>
          </a:prstGeom>
          <a:ln w="38100">
            <a:solidFill>
              <a:srgbClr val="11559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/>
          <p:cNvSpPr txBox="1"/>
          <p:nvPr/>
        </p:nvSpPr>
        <p:spPr>
          <a:xfrm>
            <a:off x="7648575" y="2972435"/>
            <a:ext cx="3779520" cy="340995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>
              <a:lnSpc>
                <a:spcPct val="150000"/>
              </a:lnSpc>
            </a:pPr>
            <a:r>
              <a:rPr lang="zh-CN" altLang="en-US" sz="1400"/>
              <a:t>流程：预约收货 → 到货称重 → 上架。预约须指定 </a:t>
            </a:r>
            <a:r>
              <a:rPr lang="en-US" altLang="zh-CN" sz="1400"/>
              <a:t>“</a:t>
            </a:r>
            <a:r>
              <a:rPr lang="zh-CN" altLang="en-US" sz="1400">
                <a:sym typeface="+mn-ea"/>
              </a:rPr>
              <a:t>委托方</a:t>
            </a:r>
            <a:r>
              <a:rPr lang="en-US" altLang="zh-CN" sz="1400"/>
              <a:t>”</a:t>
            </a:r>
            <a:r>
              <a:rPr lang="zh-CN" altLang="en-US" sz="1400"/>
              <a:t>，可选用人民币或美元金额。支持 上传提单/报关单 </a:t>
            </a:r>
            <a:r>
              <a:rPr lang="en-US" altLang="zh-CN" sz="1400"/>
              <a:t>OCR </a:t>
            </a:r>
            <a:r>
              <a:rPr lang="zh-CN" altLang="en-US" sz="1400"/>
              <a:t>回填船名、提单号、报关单号、核注清单、金额与物料；收货环节识别重量单、品质证书，回填湿重/干重/水分及品质项。报备矿 收货确认时按本次干重扣减矿源备案剩余。上架后原料库存身份即为 报关单号，并落到指定堆位与片区标识。已上架及已称重可点 </a:t>
            </a:r>
            <a:r>
              <a:rPr lang="en-US" altLang="zh-CN" sz="1400"/>
              <a:t>“</a:t>
            </a:r>
            <a:r>
              <a:rPr lang="zh-CN" altLang="en-US" sz="1400">
                <a:sym typeface="+mn-ea"/>
              </a:rPr>
              <a:t>详情</a:t>
            </a:r>
            <a:r>
              <a:rPr lang="en-US" altLang="zh-CN" sz="1400"/>
              <a:t>”</a:t>
            </a:r>
            <a:r>
              <a:rPr lang="zh-CN" altLang="en-US" sz="1400"/>
              <a:t> 查看本票报关单、重量证书、品质证书及品质参数。</a:t>
            </a:r>
            <a:endParaRPr lang="zh-CN" altLang="en-US" sz="1400"/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9075" y="1950085"/>
            <a:ext cx="7253605" cy="4114800"/>
          </a:xfrm>
          <a:prstGeom prst="rect">
            <a:avLst/>
          </a:prstGeom>
        </p:spPr>
      </p:pic>
    </p:spTree>
  </p:cSld>
  <p:clrMapOvr>
    <a:masterClrMapping/>
  </p:clrMapOvr>
  <p:transition spd="slow" advClick="0" advTm="2000"/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五边形 24"/>
          <p:cNvSpPr/>
          <p:nvPr/>
        </p:nvSpPr>
        <p:spPr>
          <a:xfrm>
            <a:off x="0" y="0"/>
            <a:ext cx="2247900" cy="838200"/>
          </a:xfrm>
          <a:custGeom>
            <a:avLst/>
            <a:gdLst>
              <a:gd name="connsiteX0" fmla="*/ 0 w 2641600"/>
              <a:gd name="connsiteY0" fmla="*/ 0 h 787400"/>
              <a:gd name="connsiteX1" fmla="*/ 2247900 w 2641600"/>
              <a:gd name="connsiteY1" fmla="*/ 0 h 787400"/>
              <a:gd name="connsiteX2" fmla="*/ 2641600 w 2641600"/>
              <a:gd name="connsiteY2" fmla="*/ 393700 h 787400"/>
              <a:gd name="connsiteX3" fmla="*/ 2247900 w 2641600"/>
              <a:gd name="connsiteY3" fmla="*/ 787400 h 787400"/>
              <a:gd name="connsiteX4" fmla="*/ 0 w 2641600"/>
              <a:gd name="connsiteY4" fmla="*/ 787400 h 787400"/>
              <a:gd name="connsiteX5" fmla="*/ 0 w 2641600"/>
              <a:gd name="connsiteY5" fmla="*/ 0 h 787400"/>
              <a:gd name="connsiteX0-1" fmla="*/ 0 w 2247900"/>
              <a:gd name="connsiteY0-2" fmla="*/ 0 h 787400"/>
              <a:gd name="connsiteX1-3" fmla="*/ 2247900 w 2247900"/>
              <a:gd name="connsiteY1-4" fmla="*/ 0 h 787400"/>
              <a:gd name="connsiteX2-5" fmla="*/ 2247900 w 2247900"/>
              <a:gd name="connsiteY2-6" fmla="*/ 787400 h 787400"/>
              <a:gd name="connsiteX3-7" fmla="*/ 0 w 2247900"/>
              <a:gd name="connsiteY3-8" fmla="*/ 787400 h 787400"/>
              <a:gd name="connsiteX4-9" fmla="*/ 0 w 2247900"/>
              <a:gd name="connsiteY4-10" fmla="*/ 0 h 787400"/>
              <a:gd name="connsiteX0-11" fmla="*/ 0 w 2247900"/>
              <a:gd name="connsiteY0-12" fmla="*/ 0 h 787400"/>
              <a:gd name="connsiteX1-13" fmla="*/ 2158690 w 2247900"/>
              <a:gd name="connsiteY1-14" fmla="*/ 0 h 787400"/>
              <a:gd name="connsiteX2-15" fmla="*/ 2247900 w 2247900"/>
              <a:gd name="connsiteY2-16" fmla="*/ 787400 h 787400"/>
              <a:gd name="connsiteX3-17" fmla="*/ 0 w 2247900"/>
              <a:gd name="connsiteY3-18" fmla="*/ 787400 h 787400"/>
              <a:gd name="connsiteX4-19" fmla="*/ 0 w 2247900"/>
              <a:gd name="connsiteY4-20" fmla="*/ 0 h 787400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</a:cxnLst>
            <a:rect l="l" t="t" r="r" b="b"/>
            <a:pathLst>
              <a:path w="2247900" h="787400">
                <a:moveTo>
                  <a:pt x="0" y="0"/>
                </a:moveTo>
                <a:lnTo>
                  <a:pt x="2158690" y="0"/>
                </a:lnTo>
                <a:lnTo>
                  <a:pt x="2247900" y="787400"/>
                </a:lnTo>
                <a:lnTo>
                  <a:pt x="0" y="787400"/>
                </a:lnTo>
                <a:lnTo>
                  <a:pt x="0" y="0"/>
                </a:lnTo>
                <a:close/>
              </a:path>
            </a:pathLst>
          </a:cu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2400" dirty="0">
                <a:latin typeface="苹方-简" panose="020B0400000000000000" charset="-122"/>
                <a:ea typeface="苹方-简" panose="020B0400000000000000" charset="-122"/>
                <a:cs typeface="+mn-ea"/>
                <a:sym typeface="+mn-lt"/>
              </a:rPr>
              <a:t>平台前端</a:t>
            </a:r>
            <a:endParaRPr lang="zh-CN" altLang="en-US" sz="2400" dirty="0">
              <a:latin typeface="苹方-简" panose="020B0400000000000000" charset="-122"/>
              <a:ea typeface="苹方-简" panose="020B0400000000000000" charset="-122"/>
              <a:cs typeface="+mn-ea"/>
              <a:sym typeface="+mn-lt"/>
            </a:endParaRPr>
          </a:p>
        </p:txBody>
      </p:sp>
      <p:grpSp>
        <p:nvGrpSpPr>
          <p:cNvPr id="6" name="组合 6"/>
          <p:cNvGrpSpPr/>
          <p:nvPr/>
        </p:nvGrpSpPr>
        <p:grpSpPr bwMode="auto">
          <a:xfrm>
            <a:off x="1876234" y="838358"/>
            <a:ext cx="5247977" cy="5982808"/>
            <a:chOff x="694895" y="85823"/>
            <a:chExt cx="4833397" cy="5156200"/>
          </a:xfrm>
        </p:grpSpPr>
        <p:sp>
          <p:nvSpPr>
            <p:cNvPr id="50" name="任意多边形 49"/>
            <p:cNvSpPr/>
            <p:nvPr/>
          </p:nvSpPr>
          <p:spPr>
            <a:xfrm>
              <a:off x="1049956" y="91121"/>
              <a:ext cx="4478336" cy="5023921"/>
            </a:xfrm>
            <a:custGeom>
              <a:avLst/>
              <a:gdLst>
                <a:gd name="connsiteX0" fmla="*/ 0 w 3810000"/>
                <a:gd name="connsiteY0" fmla="*/ 0 h 5181600"/>
                <a:gd name="connsiteX1" fmla="*/ 1079500 w 3810000"/>
                <a:gd name="connsiteY1" fmla="*/ 5181600 h 5181600"/>
                <a:gd name="connsiteX2" fmla="*/ 3810000 w 3810000"/>
                <a:gd name="connsiteY2" fmla="*/ 5181600 h 5181600"/>
                <a:gd name="connsiteX3" fmla="*/ 2514600 w 3810000"/>
                <a:gd name="connsiteY3" fmla="*/ 12700 h 5181600"/>
                <a:gd name="connsiteX4" fmla="*/ 0 w 3810000"/>
                <a:gd name="connsiteY4" fmla="*/ 0 h 5181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00" h="5181600">
                  <a:moveTo>
                    <a:pt x="0" y="0"/>
                  </a:moveTo>
                  <a:lnTo>
                    <a:pt x="1079500" y="5181600"/>
                  </a:lnTo>
                  <a:lnTo>
                    <a:pt x="3810000" y="5181600"/>
                  </a:lnTo>
                  <a:lnTo>
                    <a:pt x="2514600" y="127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1559C">
                <a:alpha val="68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0" hangingPunct="0">
                <a:lnSpc>
                  <a:spcPct val="150000"/>
                </a:lnSpc>
                <a:defRPr/>
              </a:pPr>
              <a:endParaRPr lang="zh-CN" altLang="en-US" sz="1600">
                <a:latin typeface="Arial" panose="020B0604020202020204" pitchFamily="34" charset="0"/>
                <a:ea typeface="微软雅黑" panose="020B0503020204020204" pitchFamily="34" charset="-122"/>
                <a:sym typeface="Arial" panose="020B0604020202020204" pitchFamily="34" charset="0"/>
              </a:endParaRPr>
            </a:p>
          </p:txBody>
        </p:sp>
        <p:sp>
          <p:nvSpPr>
            <p:cNvPr id="2" name="任意多边形 1"/>
            <p:cNvSpPr/>
            <p:nvPr/>
          </p:nvSpPr>
          <p:spPr>
            <a:xfrm>
              <a:off x="694895" y="85823"/>
              <a:ext cx="4478545" cy="5156200"/>
            </a:xfrm>
            <a:custGeom>
              <a:avLst/>
              <a:gdLst>
                <a:gd name="connsiteX0" fmla="*/ 0 w 3810000"/>
                <a:gd name="connsiteY0" fmla="*/ 0 h 5181600"/>
                <a:gd name="connsiteX1" fmla="*/ 1079500 w 3810000"/>
                <a:gd name="connsiteY1" fmla="*/ 5181600 h 5181600"/>
                <a:gd name="connsiteX2" fmla="*/ 3810000 w 3810000"/>
                <a:gd name="connsiteY2" fmla="*/ 5181600 h 5181600"/>
                <a:gd name="connsiteX3" fmla="*/ 2514600 w 3810000"/>
                <a:gd name="connsiteY3" fmla="*/ 12700 h 5181600"/>
                <a:gd name="connsiteX4" fmla="*/ 0 w 3810000"/>
                <a:gd name="connsiteY4" fmla="*/ 0 h 5181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00" h="5181600">
                  <a:moveTo>
                    <a:pt x="0" y="0"/>
                  </a:moveTo>
                  <a:lnTo>
                    <a:pt x="1079500" y="5181600"/>
                  </a:lnTo>
                  <a:lnTo>
                    <a:pt x="3810000" y="5181600"/>
                  </a:lnTo>
                  <a:lnTo>
                    <a:pt x="2514600" y="127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1559C">
                <a:alpha val="68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0" hangingPunct="0">
                <a:lnSpc>
                  <a:spcPct val="150000"/>
                </a:lnSpc>
                <a:defRPr/>
              </a:pPr>
              <a:endParaRPr lang="zh-CN" altLang="en-US" sz="1600">
                <a:latin typeface="Arial" panose="020B0604020202020204" pitchFamily="34" charset="0"/>
                <a:ea typeface="微软雅黑" panose="020B0503020204020204" pitchFamily="34" charset="-122"/>
                <a:sym typeface="Arial" panose="020B0604020202020204" pitchFamily="34" charset="0"/>
              </a:endParaRPr>
            </a:p>
          </p:txBody>
        </p:sp>
      </p:grpSp>
      <p:sp>
        <p:nvSpPr>
          <p:cNvPr id="15" name="矩形 14"/>
          <p:cNvSpPr/>
          <p:nvPr/>
        </p:nvSpPr>
        <p:spPr>
          <a:xfrm>
            <a:off x="9358242" y="1874573"/>
            <a:ext cx="2070100" cy="5835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>
              <a:spcBef>
                <a:spcPct val="20000"/>
              </a:spcBef>
            </a:pPr>
            <a:r>
              <a:rPr lang="zh-CN" altLang="en-US" sz="3200" b="1" spc="500" dirty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苹方-简" panose="020B0400000000000000" charset="-122"/>
                <a:ea typeface="苹方-简" panose="020B0400000000000000" charset="-122"/>
                <a:cs typeface="宋体" panose="02010600030101010101" pitchFamily="2" charset="-122"/>
                <a:sym typeface="Arial" panose="020B0604020202020204" pitchFamily="34" charset="0"/>
              </a:rPr>
              <a:t>库内移库</a:t>
            </a:r>
            <a:endParaRPr lang="zh-CN" altLang="en-US" sz="3200" b="1" spc="500" dirty="0">
              <a:solidFill>
                <a:schemeClr val="tx1">
                  <a:lumMod val="85000"/>
                  <a:lumOff val="15000"/>
                </a:schemeClr>
              </a:solidFill>
              <a:uFillTx/>
              <a:latin typeface="苹方-简" panose="020B0400000000000000" charset="-122"/>
              <a:ea typeface="苹方-简" panose="020B0400000000000000" charset="-122"/>
              <a:cs typeface="宋体" panose="02010600030101010101" pitchFamily="2" charset="-122"/>
              <a:sym typeface="Arial" panose="020B0604020202020204" pitchFamily="34" charset="0"/>
            </a:endParaRPr>
          </a:p>
        </p:txBody>
      </p:sp>
      <p:cxnSp>
        <p:nvCxnSpPr>
          <p:cNvPr id="16" name="直接连接符 15"/>
          <p:cNvCxnSpPr/>
          <p:nvPr/>
        </p:nvCxnSpPr>
        <p:spPr>
          <a:xfrm>
            <a:off x="7648862" y="2718303"/>
            <a:ext cx="3779585" cy="0"/>
          </a:xfrm>
          <a:prstGeom prst="line">
            <a:avLst/>
          </a:prstGeom>
          <a:ln w="38100">
            <a:solidFill>
              <a:srgbClr val="11559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/>
          <p:cNvSpPr txBox="1"/>
          <p:nvPr/>
        </p:nvSpPr>
        <p:spPr>
          <a:xfrm>
            <a:off x="7648575" y="2972435"/>
            <a:ext cx="3779520" cy="340995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>
              <a:lnSpc>
                <a:spcPct val="150000"/>
              </a:lnSpc>
            </a:pPr>
            <a:r>
              <a:rPr lang="zh-CN" altLang="en-US" sz="1400"/>
              <a:t>移库对象为报关单号（原料）或生产批次（成品）。场景：整票移位、拆票移位、批量移库（勾选多票报关单同时移位）。移库不改变企业总库存，只改变堆位；同一事务扣减原堆位、增加目标堆位，失败则回滚。目标堆位片区标识随在库批次状态更新，过程写入操作日志。列表可按委托方、场景查询。</a:t>
            </a:r>
            <a:endParaRPr lang="zh-CN" altLang="en-US" sz="1400"/>
          </a:p>
        </p:txBody>
      </p:sp>
      <p:pic>
        <p:nvPicPr>
          <p:cNvPr id="7" name="图片 6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9075" y="1950085"/>
            <a:ext cx="7254240" cy="4114165"/>
          </a:xfrm>
          <a:prstGeom prst="rect">
            <a:avLst/>
          </a:prstGeom>
        </p:spPr>
      </p:pic>
    </p:spTree>
  </p:cSld>
  <p:clrMapOvr>
    <a:masterClrMapping/>
  </p:clrMapOvr>
  <p:transition spd="slow" advClick="0" advTm="2000"/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五边形 24"/>
          <p:cNvSpPr/>
          <p:nvPr/>
        </p:nvSpPr>
        <p:spPr>
          <a:xfrm>
            <a:off x="0" y="0"/>
            <a:ext cx="2247900" cy="838200"/>
          </a:xfrm>
          <a:custGeom>
            <a:avLst/>
            <a:gdLst>
              <a:gd name="connsiteX0" fmla="*/ 0 w 2641600"/>
              <a:gd name="connsiteY0" fmla="*/ 0 h 787400"/>
              <a:gd name="connsiteX1" fmla="*/ 2247900 w 2641600"/>
              <a:gd name="connsiteY1" fmla="*/ 0 h 787400"/>
              <a:gd name="connsiteX2" fmla="*/ 2641600 w 2641600"/>
              <a:gd name="connsiteY2" fmla="*/ 393700 h 787400"/>
              <a:gd name="connsiteX3" fmla="*/ 2247900 w 2641600"/>
              <a:gd name="connsiteY3" fmla="*/ 787400 h 787400"/>
              <a:gd name="connsiteX4" fmla="*/ 0 w 2641600"/>
              <a:gd name="connsiteY4" fmla="*/ 787400 h 787400"/>
              <a:gd name="connsiteX5" fmla="*/ 0 w 2641600"/>
              <a:gd name="connsiteY5" fmla="*/ 0 h 787400"/>
              <a:gd name="connsiteX0-1" fmla="*/ 0 w 2247900"/>
              <a:gd name="connsiteY0-2" fmla="*/ 0 h 787400"/>
              <a:gd name="connsiteX1-3" fmla="*/ 2247900 w 2247900"/>
              <a:gd name="connsiteY1-4" fmla="*/ 0 h 787400"/>
              <a:gd name="connsiteX2-5" fmla="*/ 2247900 w 2247900"/>
              <a:gd name="connsiteY2-6" fmla="*/ 787400 h 787400"/>
              <a:gd name="connsiteX3-7" fmla="*/ 0 w 2247900"/>
              <a:gd name="connsiteY3-8" fmla="*/ 787400 h 787400"/>
              <a:gd name="connsiteX4-9" fmla="*/ 0 w 2247900"/>
              <a:gd name="connsiteY4-10" fmla="*/ 0 h 787400"/>
              <a:gd name="connsiteX0-11" fmla="*/ 0 w 2247900"/>
              <a:gd name="connsiteY0-12" fmla="*/ 0 h 787400"/>
              <a:gd name="connsiteX1-13" fmla="*/ 2158690 w 2247900"/>
              <a:gd name="connsiteY1-14" fmla="*/ 0 h 787400"/>
              <a:gd name="connsiteX2-15" fmla="*/ 2247900 w 2247900"/>
              <a:gd name="connsiteY2-16" fmla="*/ 787400 h 787400"/>
              <a:gd name="connsiteX3-17" fmla="*/ 0 w 2247900"/>
              <a:gd name="connsiteY3-18" fmla="*/ 787400 h 787400"/>
              <a:gd name="connsiteX4-19" fmla="*/ 0 w 2247900"/>
              <a:gd name="connsiteY4-20" fmla="*/ 0 h 787400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</a:cxnLst>
            <a:rect l="l" t="t" r="r" b="b"/>
            <a:pathLst>
              <a:path w="2247900" h="787400">
                <a:moveTo>
                  <a:pt x="0" y="0"/>
                </a:moveTo>
                <a:lnTo>
                  <a:pt x="2158690" y="0"/>
                </a:lnTo>
                <a:lnTo>
                  <a:pt x="2247900" y="787400"/>
                </a:lnTo>
                <a:lnTo>
                  <a:pt x="0" y="787400"/>
                </a:lnTo>
                <a:lnTo>
                  <a:pt x="0" y="0"/>
                </a:lnTo>
                <a:close/>
              </a:path>
            </a:pathLst>
          </a:cu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2400" dirty="0">
                <a:latin typeface="苹方-简" panose="020B0400000000000000" charset="-122"/>
                <a:ea typeface="苹方-简" panose="020B0400000000000000" charset="-122"/>
                <a:cs typeface="+mn-ea"/>
                <a:sym typeface="+mn-lt"/>
              </a:rPr>
              <a:t>平台前端</a:t>
            </a:r>
            <a:endParaRPr lang="zh-CN" altLang="en-US" sz="2400" dirty="0">
              <a:latin typeface="苹方-简" panose="020B0400000000000000" charset="-122"/>
              <a:ea typeface="苹方-简" panose="020B0400000000000000" charset="-122"/>
              <a:cs typeface="+mn-ea"/>
              <a:sym typeface="+mn-lt"/>
            </a:endParaRPr>
          </a:p>
        </p:txBody>
      </p:sp>
      <p:grpSp>
        <p:nvGrpSpPr>
          <p:cNvPr id="6" name="组合 6"/>
          <p:cNvGrpSpPr/>
          <p:nvPr/>
        </p:nvGrpSpPr>
        <p:grpSpPr bwMode="auto">
          <a:xfrm>
            <a:off x="1876234" y="838358"/>
            <a:ext cx="5247977" cy="5982808"/>
            <a:chOff x="694895" y="85823"/>
            <a:chExt cx="4833397" cy="5156200"/>
          </a:xfrm>
        </p:grpSpPr>
        <p:sp>
          <p:nvSpPr>
            <p:cNvPr id="50" name="任意多边形 49"/>
            <p:cNvSpPr/>
            <p:nvPr/>
          </p:nvSpPr>
          <p:spPr>
            <a:xfrm>
              <a:off x="1049956" y="91121"/>
              <a:ext cx="4478336" cy="5023921"/>
            </a:xfrm>
            <a:custGeom>
              <a:avLst/>
              <a:gdLst>
                <a:gd name="connsiteX0" fmla="*/ 0 w 3810000"/>
                <a:gd name="connsiteY0" fmla="*/ 0 h 5181600"/>
                <a:gd name="connsiteX1" fmla="*/ 1079500 w 3810000"/>
                <a:gd name="connsiteY1" fmla="*/ 5181600 h 5181600"/>
                <a:gd name="connsiteX2" fmla="*/ 3810000 w 3810000"/>
                <a:gd name="connsiteY2" fmla="*/ 5181600 h 5181600"/>
                <a:gd name="connsiteX3" fmla="*/ 2514600 w 3810000"/>
                <a:gd name="connsiteY3" fmla="*/ 12700 h 5181600"/>
                <a:gd name="connsiteX4" fmla="*/ 0 w 3810000"/>
                <a:gd name="connsiteY4" fmla="*/ 0 h 5181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00" h="5181600">
                  <a:moveTo>
                    <a:pt x="0" y="0"/>
                  </a:moveTo>
                  <a:lnTo>
                    <a:pt x="1079500" y="5181600"/>
                  </a:lnTo>
                  <a:lnTo>
                    <a:pt x="3810000" y="5181600"/>
                  </a:lnTo>
                  <a:lnTo>
                    <a:pt x="2514600" y="127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1559C">
                <a:alpha val="68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0" hangingPunct="0">
                <a:lnSpc>
                  <a:spcPct val="150000"/>
                </a:lnSpc>
                <a:defRPr/>
              </a:pPr>
              <a:endParaRPr lang="zh-CN" altLang="en-US" sz="1600">
                <a:latin typeface="Arial" panose="020B0604020202020204" pitchFamily="34" charset="0"/>
                <a:ea typeface="微软雅黑" panose="020B0503020204020204" pitchFamily="34" charset="-122"/>
                <a:sym typeface="Arial" panose="020B0604020202020204" pitchFamily="34" charset="0"/>
              </a:endParaRPr>
            </a:p>
          </p:txBody>
        </p:sp>
        <p:sp>
          <p:nvSpPr>
            <p:cNvPr id="2" name="任意多边形 1"/>
            <p:cNvSpPr/>
            <p:nvPr/>
          </p:nvSpPr>
          <p:spPr>
            <a:xfrm>
              <a:off x="694895" y="85823"/>
              <a:ext cx="4478545" cy="5156200"/>
            </a:xfrm>
            <a:custGeom>
              <a:avLst/>
              <a:gdLst>
                <a:gd name="connsiteX0" fmla="*/ 0 w 3810000"/>
                <a:gd name="connsiteY0" fmla="*/ 0 h 5181600"/>
                <a:gd name="connsiteX1" fmla="*/ 1079500 w 3810000"/>
                <a:gd name="connsiteY1" fmla="*/ 5181600 h 5181600"/>
                <a:gd name="connsiteX2" fmla="*/ 3810000 w 3810000"/>
                <a:gd name="connsiteY2" fmla="*/ 5181600 h 5181600"/>
                <a:gd name="connsiteX3" fmla="*/ 2514600 w 3810000"/>
                <a:gd name="connsiteY3" fmla="*/ 12700 h 5181600"/>
                <a:gd name="connsiteX4" fmla="*/ 0 w 3810000"/>
                <a:gd name="connsiteY4" fmla="*/ 0 h 5181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00" h="5181600">
                  <a:moveTo>
                    <a:pt x="0" y="0"/>
                  </a:moveTo>
                  <a:lnTo>
                    <a:pt x="1079500" y="5181600"/>
                  </a:lnTo>
                  <a:lnTo>
                    <a:pt x="3810000" y="5181600"/>
                  </a:lnTo>
                  <a:lnTo>
                    <a:pt x="2514600" y="127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1559C">
                <a:alpha val="68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0" hangingPunct="0">
                <a:lnSpc>
                  <a:spcPct val="150000"/>
                </a:lnSpc>
                <a:defRPr/>
              </a:pPr>
              <a:endParaRPr lang="zh-CN" altLang="en-US" sz="1600">
                <a:latin typeface="Arial" panose="020B0604020202020204" pitchFamily="34" charset="0"/>
                <a:ea typeface="微软雅黑" panose="020B0503020204020204" pitchFamily="34" charset="-122"/>
                <a:sym typeface="Arial" panose="020B0604020202020204" pitchFamily="34" charset="0"/>
              </a:endParaRPr>
            </a:p>
          </p:txBody>
        </p:sp>
      </p:grpSp>
      <p:sp>
        <p:nvSpPr>
          <p:cNvPr id="15" name="矩形 14"/>
          <p:cNvSpPr/>
          <p:nvPr/>
        </p:nvSpPr>
        <p:spPr>
          <a:xfrm>
            <a:off x="9358242" y="1874573"/>
            <a:ext cx="2070100" cy="5835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>
              <a:spcBef>
                <a:spcPct val="20000"/>
              </a:spcBef>
            </a:pPr>
            <a:r>
              <a:rPr lang="zh-CN" altLang="en-US" sz="3200" b="1" spc="500" dirty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苹方-简" panose="020B0400000000000000" charset="-122"/>
                <a:ea typeface="苹方-简" panose="020B0400000000000000" charset="-122"/>
                <a:cs typeface="宋体" panose="02010600030101010101" pitchFamily="2" charset="-122"/>
                <a:sym typeface="Arial" panose="020B0604020202020204" pitchFamily="34" charset="0"/>
              </a:rPr>
              <a:t>库存查询</a:t>
            </a:r>
            <a:endParaRPr lang="zh-CN" altLang="en-US" sz="3200" b="1" spc="500" dirty="0">
              <a:solidFill>
                <a:schemeClr val="tx1">
                  <a:lumMod val="85000"/>
                  <a:lumOff val="15000"/>
                </a:schemeClr>
              </a:solidFill>
              <a:uFillTx/>
              <a:latin typeface="苹方-简" panose="020B0400000000000000" charset="-122"/>
              <a:ea typeface="苹方-简" panose="020B0400000000000000" charset="-122"/>
              <a:cs typeface="宋体" panose="02010600030101010101" pitchFamily="2" charset="-122"/>
              <a:sym typeface="Arial" panose="020B0604020202020204" pitchFamily="34" charset="0"/>
            </a:endParaRPr>
          </a:p>
        </p:txBody>
      </p:sp>
      <p:cxnSp>
        <p:nvCxnSpPr>
          <p:cNvPr id="16" name="直接连接符 15"/>
          <p:cNvCxnSpPr/>
          <p:nvPr/>
        </p:nvCxnSpPr>
        <p:spPr>
          <a:xfrm>
            <a:off x="7648862" y="2718303"/>
            <a:ext cx="3779585" cy="0"/>
          </a:xfrm>
          <a:prstGeom prst="line">
            <a:avLst/>
          </a:prstGeom>
          <a:ln w="38100">
            <a:solidFill>
              <a:srgbClr val="11559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/>
          <p:cNvSpPr txBox="1"/>
          <p:nvPr/>
        </p:nvSpPr>
        <p:spPr>
          <a:xfrm>
            <a:off x="7648575" y="2972435"/>
            <a:ext cx="3779520" cy="340995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>
              <a:lnSpc>
                <a:spcPct val="150000"/>
              </a:lnSpc>
            </a:pPr>
            <a:r>
              <a:rPr lang="zh-CN" altLang="en-US" sz="1400"/>
              <a:t>按委托方、货物类型、矿源备案号、原料/成品、原产国、账册、堆位、时间筛选。原料行展示报关单号，成品行展示生产批次；本票品质为上架后该票参数。操作列 详情 查看报关单/重量证书/品质证书及参数，台账 下钻重量流水。</a:t>
            </a:r>
            <a:endParaRPr lang="zh-CN" altLang="en-US" sz="1400"/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9075" y="1950085"/>
            <a:ext cx="7254240" cy="4114800"/>
          </a:xfrm>
          <a:prstGeom prst="rect">
            <a:avLst/>
          </a:prstGeom>
        </p:spPr>
      </p:pic>
    </p:spTree>
  </p:cSld>
  <p:clrMapOvr>
    <a:masterClrMapping/>
  </p:clrMapOvr>
  <p:transition spd="slow" advClick="0" advTm="2000"/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五边形 24"/>
          <p:cNvSpPr/>
          <p:nvPr/>
        </p:nvSpPr>
        <p:spPr>
          <a:xfrm>
            <a:off x="0" y="0"/>
            <a:ext cx="2247900" cy="838200"/>
          </a:xfrm>
          <a:custGeom>
            <a:avLst/>
            <a:gdLst>
              <a:gd name="connsiteX0" fmla="*/ 0 w 2641600"/>
              <a:gd name="connsiteY0" fmla="*/ 0 h 787400"/>
              <a:gd name="connsiteX1" fmla="*/ 2247900 w 2641600"/>
              <a:gd name="connsiteY1" fmla="*/ 0 h 787400"/>
              <a:gd name="connsiteX2" fmla="*/ 2641600 w 2641600"/>
              <a:gd name="connsiteY2" fmla="*/ 393700 h 787400"/>
              <a:gd name="connsiteX3" fmla="*/ 2247900 w 2641600"/>
              <a:gd name="connsiteY3" fmla="*/ 787400 h 787400"/>
              <a:gd name="connsiteX4" fmla="*/ 0 w 2641600"/>
              <a:gd name="connsiteY4" fmla="*/ 787400 h 787400"/>
              <a:gd name="connsiteX5" fmla="*/ 0 w 2641600"/>
              <a:gd name="connsiteY5" fmla="*/ 0 h 787400"/>
              <a:gd name="connsiteX0-1" fmla="*/ 0 w 2247900"/>
              <a:gd name="connsiteY0-2" fmla="*/ 0 h 787400"/>
              <a:gd name="connsiteX1-3" fmla="*/ 2247900 w 2247900"/>
              <a:gd name="connsiteY1-4" fmla="*/ 0 h 787400"/>
              <a:gd name="connsiteX2-5" fmla="*/ 2247900 w 2247900"/>
              <a:gd name="connsiteY2-6" fmla="*/ 787400 h 787400"/>
              <a:gd name="connsiteX3-7" fmla="*/ 0 w 2247900"/>
              <a:gd name="connsiteY3-8" fmla="*/ 787400 h 787400"/>
              <a:gd name="connsiteX4-9" fmla="*/ 0 w 2247900"/>
              <a:gd name="connsiteY4-10" fmla="*/ 0 h 787400"/>
              <a:gd name="connsiteX0-11" fmla="*/ 0 w 2247900"/>
              <a:gd name="connsiteY0-12" fmla="*/ 0 h 787400"/>
              <a:gd name="connsiteX1-13" fmla="*/ 2158690 w 2247900"/>
              <a:gd name="connsiteY1-14" fmla="*/ 0 h 787400"/>
              <a:gd name="connsiteX2-15" fmla="*/ 2247900 w 2247900"/>
              <a:gd name="connsiteY2-16" fmla="*/ 787400 h 787400"/>
              <a:gd name="connsiteX3-17" fmla="*/ 0 w 2247900"/>
              <a:gd name="connsiteY3-18" fmla="*/ 787400 h 787400"/>
              <a:gd name="connsiteX4-19" fmla="*/ 0 w 2247900"/>
              <a:gd name="connsiteY4-20" fmla="*/ 0 h 787400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</a:cxnLst>
            <a:rect l="l" t="t" r="r" b="b"/>
            <a:pathLst>
              <a:path w="2247900" h="787400">
                <a:moveTo>
                  <a:pt x="0" y="0"/>
                </a:moveTo>
                <a:lnTo>
                  <a:pt x="2158690" y="0"/>
                </a:lnTo>
                <a:lnTo>
                  <a:pt x="2247900" y="787400"/>
                </a:lnTo>
                <a:lnTo>
                  <a:pt x="0" y="787400"/>
                </a:lnTo>
                <a:lnTo>
                  <a:pt x="0" y="0"/>
                </a:lnTo>
                <a:close/>
              </a:path>
            </a:pathLst>
          </a:cu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2400" dirty="0">
                <a:latin typeface="苹方-简" panose="020B0400000000000000" charset="-122"/>
                <a:ea typeface="苹方-简" panose="020B0400000000000000" charset="-122"/>
                <a:cs typeface="+mn-ea"/>
                <a:sym typeface="+mn-lt"/>
              </a:rPr>
              <a:t>平台前端</a:t>
            </a:r>
            <a:endParaRPr lang="zh-CN" altLang="en-US" sz="2400" dirty="0">
              <a:latin typeface="苹方-简" panose="020B0400000000000000" charset="-122"/>
              <a:ea typeface="苹方-简" panose="020B0400000000000000" charset="-122"/>
              <a:cs typeface="+mn-ea"/>
              <a:sym typeface="+mn-lt"/>
            </a:endParaRPr>
          </a:p>
        </p:txBody>
      </p:sp>
      <p:grpSp>
        <p:nvGrpSpPr>
          <p:cNvPr id="6" name="组合 6"/>
          <p:cNvGrpSpPr/>
          <p:nvPr/>
        </p:nvGrpSpPr>
        <p:grpSpPr bwMode="auto">
          <a:xfrm>
            <a:off x="1876234" y="838358"/>
            <a:ext cx="5247977" cy="5982808"/>
            <a:chOff x="694895" y="85823"/>
            <a:chExt cx="4833397" cy="5156200"/>
          </a:xfrm>
        </p:grpSpPr>
        <p:sp>
          <p:nvSpPr>
            <p:cNvPr id="50" name="任意多边形 49"/>
            <p:cNvSpPr/>
            <p:nvPr/>
          </p:nvSpPr>
          <p:spPr>
            <a:xfrm>
              <a:off x="1049956" y="91121"/>
              <a:ext cx="4478336" cy="5023921"/>
            </a:xfrm>
            <a:custGeom>
              <a:avLst/>
              <a:gdLst>
                <a:gd name="connsiteX0" fmla="*/ 0 w 3810000"/>
                <a:gd name="connsiteY0" fmla="*/ 0 h 5181600"/>
                <a:gd name="connsiteX1" fmla="*/ 1079500 w 3810000"/>
                <a:gd name="connsiteY1" fmla="*/ 5181600 h 5181600"/>
                <a:gd name="connsiteX2" fmla="*/ 3810000 w 3810000"/>
                <a:gd name="connsiteY2" fmla="*/ 5181600 h 5181600"/>
                <a:gd name="connsiteX3" fmla="*/ 2514600 w 3810000"/>
                <a:gd name="connsiteY3" fmla="*/ 12700 h 5181600"/>
                <a:gd name="connsiteX4" fmla="*/ 0 w 3810000"/>
                <a:gd name="connsiteY4" fmla="*/ 0 h 5181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00" h="5181600">
                  <a:moveTo>
                    <a:pt x="0" y="0"/>
                  </a:moveTo>
                  <a:lnTo>
                    <a:pt x="1079500" y="5181600"/>
                  </a:lnTo>
                  <a:lnTo>
                    <a:pt x="3810000" y="5181600"/>
                  </a:lnTo>
                  <a:lnTo>
                    <a:pt x="2514600" y="127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1559C">
                <a:alpha val="68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0" hangingPunct="0">
                <a:lnSpc>
                  <a:spcPct val="150000"/>
                </a:lnSpc>
                <a:defRPr/>
              </a:pPr>
              <a:endParaRPr lang="zh-CN" altLang="en-US" sz="1600">
                <a:latin typeface="Arial" panose="020B0604020202020204" pitchFamily="34" charset="0"/>
                <a:ea typeface="微软雅黑" panose="020B0503020204020204" pitchFamily="34" charset="-122"/>
                <a:sym typeface="Arial" panose="020B0604020202020204" pitchFamily="34" charset="0"/>
              </a:endParaRPr>
            </a:p>
          </p:txBody>
        </p:sp>
        <p:sp>
          <p:nvSpPr>
            <p:cNvPr id="2" name="任意多边形 1"/>
            <p:cNvSpPr/>
            <p:nvPr/>
          </p:nvSpPr>
          <p:spPr>
            <a:xfrm>
              <a:off x="694895" y="85823"/>
              <a:ext cx="4478545" cy="5156200"/>
            </a:xfrm>
            <a:custGeom>
              <a:avLst/>
              <a:gdLst>
                <a:gd name="connsiteX0" fmla="*/ 0 w 3810000"/>
                <a:gd name="connsiteY0" fmla="*/ 0 h 5181600"/>
                <a:gd name="connsiteX1" fmla="*/ 1079500 w 3810000"/>
                <a:gd name="connsiteY1" fmla="*/ 5181600 h 5181600"/>
                <a:gd name="connsiteX2" fmla="*/ 3810000 w 3810000"/>
                <a:gd name="connsiteY2" fmla="*/ 5181600 h 5181600"/>
                <a:gd name="connsiteX3" fmla="*/ 2514600 w 3810000"/>
                <a:gd name="connsiteY3" fmla="*/ 12700 h 5181600"/>
                <a:gd name="connsiteX4" fmla="*/ 0 w 3810000"/>
                <a:gd name="connsiteY4" fmla="*/ 0 h 5181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00" h="5181600">
                  <a:moveTo>
                    <a:pt x="0" y="0"/>
                  </a:moveTo>
                  <a:lnTo>
                    <a:pt x="1079500" y="5181600"/>
                  </a:lnTo>
                  <a:lnTo>
                    <a:pt x="3810000" y="5181600"/>
                  </a:lnTo>
                  <a:lnTo>
                    <a:pt x="2514600" y="127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1559C">
                <a:alpha val="68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0" hangingPunct="0">
                <a:lnSpc>
                  <a:spcPct val="150000"/>
                </a:lnSpc>
                <a:defRPr/>
              </a:pPr>
              <a:endParaRPr lang="zh-CN" altLang="en-US" sz="1600">
                <a:latin typeface="Arial" panose="020B0604020202020204" pitchFamily="34" charset="0"/>
                <a:ea typeface="微软雅黑" panose="020B0503020204020204" pitchFamily="34" charset="-122"/>
                <a:sym typeface="Arial" panose="020B0604020202020204" pitchFamily="34" charset="0"/>
              </a:endParaRPr>
            </a:p>
          </p:txBody>
        </p:sp>
      </p:grpSp>
      <p:sp>
        <p:nvSpPr>
          <p:cNvPr id="15" name="矩形 14"/>
          <p:cNvSpPr/>
          <p:nvPr/>
        </p:nvSpPr>
        <p:spPr>
          <a:xfrm>
            <a:off x="9358242" y="1874573"/>
            <a:ext cx="2070100" cy="5835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>
              <a:spcBef>
                <a:spcPct val="20000"/>
              </a:spcBef>
            </a:pPr>
            <a:r>
              <a:rPr lang="zh-CN" altLang="en-US" sz="3200" b="1" spc="500" dirty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苹方-简" panose="020B0400000000000000" charset="-122"/>
                <a:ea typeface="苹方-简" panose="020B0400000000000000" charset="-122"/>
                <a:cs typeface="宋体" panose="02010600030101010101" pitchFamily="2" charset="-122"/>
                <a:sym typeface="Arial" panose="020B0604020202020204" pitchFamily="34" charset="0"/>
              </a:rPr>
              <a:t>盘点管理</a:t>
            </a:r>
            <a:endParaRPr lang="zh-CN" altLang="en-US" sz="3200" b="1" spc="500" dirty="0">
              <a:solidFill>
                <a:schemeClr val="tx1">
                  <a:lumMod val="85000"/>
                  <a:lumOff val="15000"/>
                </a:schemeClr>
              </a:solidFill>
              <a:uFillTx/>
              <a:latin typeface="苹方-简" panose="020B0400000000000000" charset="-122"/>
              <a:ea typeface="苹方-简" panose="020B0400000000000000" charset="-122"/>
              <a:cs typeface="宋体" panose="02010600030101010101" pitchFamily="2" charset="-122"/>
              <a:sym typeface="Arial" panose="020B0604020202020204" pitchFamily="34" charset="0"/>
            </a:endParaRPr>
          </a:p>
        </p:txBody>
      </p:sp>
      <p:cxnSp>
        <p:nvCxnSpPr>
          <p:cNvPr id="16" name="直接连接符 15"/>
          <p:cNvCxnSpPr/>
          <p:nvPr/>
        </p:nvCxnSpPr>
        <p:spPr>
          <a:xfrm>
            <a:off x="7648862" y="2718303"/>
            <a:ext cx="3779585" cy="0"/>
          </a:xfrm>
          <a:prstGeom prst="line">
            <a:avLst/>
          </a:prstGeom>
          <a:ln w="38100">
            <a:solidFill>
              <a:srgbClr val="11559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/>
          <p:cNvSpPr txBox="1"/>
          <p:nvPr/>
        </p:nvSpPr>
        <p:spPr>
          <a:xfrm>
            <a:off x="7648575" y="2972435"/>
            <a:ext cx="3779520" cy="340995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>
              <a:lnSpc>
                <a:spcPct val="150000"/>
              </a:lnSpc>
            </a:pPr>
            <a:r>
              <a:rPr lang="zh-CN" altLang="en-US" sz="1400"/>
              <a:t>支持周期盘点与动态抽盘；账面与实盘差异自动生成，走审批后调整库存，禁止脱离单据改数。</a:t>
            </a:r>
            <a:endParaRPr lang="zh-CN" altLang="en-US" sz="1400"/>
          </a:p>
        </p:txBody>
      </p:sp>
      <p:pic>
        <p:nvPicPr>
          <p:cNvPr id="8" name="图片 7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9075" y="1950085"/>
            <a:ext cx="7254240" cy="4114800"/>
          </a:xfrm>
          <a:prstGeom prst="rect">
            <a:avLst/>
          </a:prstGeom>
        </p:spPr>
      </p:pic>
    </p:spTree>
  </p:cSld>
  <p:clrMapOvr>
    <a:masterClrMapping/>
  </p:clrMapOvr>
  <p:transition spd="slow" advClick="0" advTm="2000"/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五边形 24"/>
          <p:cNvSpPr/>
          <p:nvPr/>
        </p:nvSpPr>
        <p:spPr>
          <a:xfrm>
            <a:off x="0" y="0"/>
            <a:ext cx="2247900" cy="838200"/>
          </a:xfrm>
          <a:custGeom>
            <a:avLst/>
            <a:gdLst>
              <a:gd name="connsiteX0" fmla="*/ 0 w 2641600"/>
              <a:gd name="connsiteY0" fmla="*/ 0 h 787400"/>
              <a:gd name="connsiteX1" fmla="*/ 2247900 w 2641600"/>
              <a:gd name="connsiteY1" fmla="*/ 0 h 787400"/>
              <a:gd name="connsiteX2" fmla="*/ 2641600 w 2641600"/>
              <a:gd name="connsiteY2" fmla="*/ 393700 h 787400"/>
              <a:gd name="connsiteX3" fmla="*/ 2247900 w 2641600"/>
              <a:gd name="connsiteY3" fmla="*/ 787400 h 787400"/>
              <a:gd name="connsiteX4" fmla="*/ 0 w 2641600"/>
              <a:gd name="connsiteY4" fmla="*/ 787400 h 787400"/>
              <a:gd name="connsiteX5" fmla="*/ 0 w 2641600"/>
              <a:gd name="connsiteY5" fmla="*/ 0 h 787400"/>
              <a:gd name="connsiteX0-1" fmla="*/ 0 w 2247900"/>
              <a:gd name="connsiteY0-2" fmla="*/ 0 h 787400"/>
              <a:gd name="connsiteX1-3" fmla="*/ 2247900 w 2247900"/>
              <a:gd name="connsiteY1-4" fmla="*/ 0 h 787400"/>
              <a:gd name="connsiteX2-5" fmla="*/ 2247900 w 2247900"/>
              <a:gd name="connsiteY2-6" fmla="*/ 787400 h 787400"/>
              <a:gd name="connsiteX3-7" fmla="*/ 0 w 2247900"/>
              <a:gd name="connsiteY3-8" fmla="*/ 787400 h 787400"/>
              <a:gd name="connsiteX4-9" fmla="*/ 0 w 2247900"/>
              <a:gd name="connsiteY4-10" fmla="*/ 0 h 787400"/>
              <a:gd name="connsiteX0-11" fmla="*/ 0 w 2247900"/>
              <a:gd name="connsiteY0-12" fmla="*/ 0 h 787400"/>
              <a:gd name="connsiteX1-13" fmla="*/ 2158690 w 2247900"/>
              <a:gd name="connsiteY1-14" fmla="*/ 0 h 787400"/>
              <a:gd name="connsiteX2-15" fmla="*/ 2247900 w 2247900"/>
              <a:gd name="connsiteY2-16" fmla="*/ 787400 h 787400"/>
              <a:gd name="connsiteX3-17" fmla="*/ 0 w 2247900"/>
              <a:gd name="connsiteY3-18" fmla="*/ 787400 h 787400"/>
              <a:gd name="connsiteX4-19" fmla="*/ 0 w 2247900"/>
              <a:gd name="connsiteY4-20" fmla="*/ 0 h 787400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</a:cxnLst>
            <a:rect l="l" t="t" r="r" b="b"/>
            <a:pathLst>
              <a:path w="2247900" h="787400">
                <a:moveTo>
                  <a:pt x="0" y="0"/>
                </a:moveTo>
                <a:lnTo>
                  <a:pt x="2158690" y="0"/>
                </a:lnTo>
                <a:lnTo>
                  <a:pt x="2247900" y="787400"/>
                </a:lnTo>
                <a:lnTo>
                  <a:pt x="0" y="787400"/>
                </a:lnTo>
                <a:lnTo>
                  <a:pt x="0" y="0"/>
                </a:lnTo>
                <a:close/>
              </a:path>
            </a:pathLst>
          </a:cu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2400" dirty="0">
                <a:latin typeface="苹方-简" panose="020B0400000000000000" charset="-122"/>
                <a:ea typeface="苹方-简" panose="020B0400000000000000" charset="-122"/>
                <a:cs typeface="+mn-ea"/>
                <a:sym typeface="+mn-lt"/>
              </a:rPr>
              <a:t>平台前端</a:t>
            </a:r>
            <a:endParaRPr lang="zh-CN" altLang="en-US" sz="2400" dirty="0">
              <a:latin typeface="苹方-简" panose="020B0400000000000000" charset="-122"/>
              <a:ea typeface="苹方-简" panose="020B0400000000000000" charset="-122"/>
              <a:cs typeface="+mn-ea"/>
              <a:sym typeface="+mn-lt"/>
            </a:endParaRPr>
          </a:p>
        </p:txBody>
      </p:sp>
      <p:grpSp>
        <p:nvGrpSpPr>
          <p:cNvPr id="6" name="组合 6"/>
          <p:cNvGrpSpPr/>
          <p:nvPr/>
        </p:nvGrpSpPr>
        <p:grpSpPr bwMode="auto">
          <a:xfrm>
            <a:off x="1876234" y="838358"/>
            <a:ext cx="5247977" cy="5982808"/>
            <a:chOff x="694895" y="85823"/>
            <a:chExt cx="4833397" cy="5156200"/>
          </a:xfrm>
        </p:grpSpPr>
        <p:sp>
          <p:nvSpPr>
            <p:cNvPr id="50" name="任意多边形 49"/>
            <p:cNvSpPr/>
            <p:nvPr/>
          </p:nvSpPr>
          <p:spPr>
            <a:xfrm>
              <a:off x="1049956" y="91121"/>
              <a:ext cx="4478336" cy="5023921"/>
            </a:xfrm>
            <a:custGeom>
              <a:avLst/>
              <a:gdLst>
                <a:gd name="connsiteX0" fmla="*/ 0 w 3810000"/>
                <a:gd name="connsiteY0" fmla="*/ 0 h 5181600"/>
                <a:gd name="connsiteX1" fmla="*/ 1079500 w 3810000"/>
                <a:gd name="connsiteY1" fmla="*/ 5181600 h 5181600"/>
                <a:gd name="connsiteX2" fmla="*/ 3810000 w 3810000"/>
                <a:gd name="connsiteY2" fmla="*/ 5181600 h 5181600"/>
                <a:gd name="connsiteX3" fmla="*/ 2514600 w 3810000"/>
                <a:gd name="connsiteY3" fmla="*/ 12700 h 5181600"/>
                <a:gd name="connsiteX4" fmla="*/ 0 w 3810000"/>
                <a:gd name="connsiteY4" fmla="*/ 0 h 5181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00" h="5181600">
                  <a:moveTo>
                    <a:pt x="0" y="0"/>
                  </a:moveTo>
                  <a:lnTo>
                    <a:pt x="1079500" y="5181600"/>
                  </a:lnTo>
                  <a:lnTo>
                    <a:pt x="3810000" y="5181600"/>
                  </a:lnTo>
                  <a:lnTo>
                    <a:pt x="2514600" y="127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1559C">
                <a:alpha val="68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0" hangingPunct="0">
                <a:lnSpc>
                  <a:spcPct val="150000"/>
                </a:lnSpc>
                <a:defRPr/>
              </a:pPr>
              <a:endParaRPr lang="zh-CN" altLang="en-US" sz="1600">
                <a:latin typeface="Arial" panose="020B0604020202020204" pitchFamily="34" charset="0"/>
                <a:ea typeface="微软雅黑" panose="020B0503020204020204" pitchFamily="34" charset="-122"/>
                <a:sym typeface="Arial" panose="020B0604020202020204" pitchFamily="34" charset="0"/>
              </a:endParaRPr>
            </a:p>
          </p:txBody>
        </p:sp>
        <p:sp>
          <p:nvSpPr>
            <p:cNvPr id="2" name="任意多边形 1"/>
            <p:cNvSpPr/>
            <p:nvPr/>
          </p:nvSpPr>
          <p:spPr>
            <a:xfrm>
              <a:off x="694895" y="85823"/>
              <a:ext cx="4478545" cy="5156200"/>
            </a:xfrm>
            <a:custGeom>
              <a:avLst/>
              <a:gdLst>
                <a:gd name="connsiteX0" fmla="*/ 0 w 3810000"/>
                <a:gd name="connsiteY0" fmla="*/ 0 h 5181600"/>
                <a:gd name="connsiteX1" fmla="*/ 1079500 w 3810000"/>
                <a:gd name="connsiteY1" fmla="*/ 5181600 h 5181600"/>
                <a:gd name="connsiteX2" fmla="*/ 3810000 w 3810000"/>
                <a:gd name="connsiteY2" fmla="*/ 5181600 h 5181600"/>
                <a:gd name="connsiteX3" fmla="*/ 2514600 w 3810000"/>
                <a:gd name="connsiteY3" fmla="*/ 12700 h 5181600"/>
                <a:gd name="connsiteX4" fmla="*/ 0 w 3810000"/>
                <a:gd name="connsiteY4" fmla="*/ 0 h 5181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00" h="5181600">
                  <a:moveTo>
                    <a:pt x="0" y="0"/>
                  </a:moveTo>
                  <a:lnTo>
                    <a:pt x="1079500" y="5181600"/>
                  </a:lnTo>
                  <a:lnTo>
                    <a:pt x="3810000" y="5181600"/>
                  </a:lnTo>
                  <a:lnTo>
                    <a:pt x="2514600" y="127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1559C">
                <a:alpha val="68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0" hangingPunct="0">
                <a:lnSpc>
                  <a:spcPct val="150000"/>
                </a:lnSpc>
                <a:defRPr/>
              </a:pPr>
              <a:endParaRPr lang="zh-CN" altLang="en-US" sz="1600">
                <a:latin typeface="Arial" panose="020B0604020202020204" pitchFamily="34" charset="0"/>
                <a:ea typeface="微软雅黑" panose="020B0503020204020204" pitchFamily="34" charset="-122"/>
                <a:sym typeface="Arial" panose="020B0604020202020204" pitchFamily="34" charset="0"/>
              </a:endParaRPr>
            </a:p>
          </p:txBody>
        </p:sp>
      </p:grpSp>
      <p:sp>
        <p:nvSpPr>
          <p:cNvPr id="15" name="矩形 14"/>
          <p:cNvSpPr/>
          <p:nvPr/>
        </p:nvSpPr>
        <p:spPr>
          <a:xfrm>
            <a:off x="9358242" y="1874573"/>
            <a:ext cx="2070100" cy="5835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>
              <a:spcBef>
                <a:spcPct val="20000"/>
              </a:spcBef>
            </a:pPr>
            <a:r>
              <a:rPr lang="zh-CN" altLang="en-US" sz="3200" b="1" spc="500" dirty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苹方-简" panose="020B0400000000000000" charset="-122"/>
                <a:ea typeface="苹方-简" panose="020B0400000000000000" charset="-122"/>
                <a:cs typeface="宋体" panose="02010600030101010101" pitchFamily="2" charset="-122"/>
                <a:sym typeface="Arial" panose="020B0604020202020204" pitchFamily="34" charset="0"/>
              </a:rPr>
              <a:t>库存预警</a:t>
            </a:r>
            <a:endParaRPr lang="zh-CN" altLang="en-US" sz="3200" b="1" spc="500" dirty="0">
              <a:solidFill>
                <a:schemeClr val="tx1">
                  <a:lumMod val="85000"/>
                  <a:lumOff val="15000"/>
                </a:schemeClr>
              </a:solidFill>
              <a:uFillTx/>
              <a:latin typeface="苹方-简" panose="020B0400000000000000" charset="-122"/>
              <a:ea typeface="苹方-简" panose="020B0400000000000000" charset="-122"/>
              <a:cs typeface="宋体" panose="02010600030101010101" pitchFamily="2" charset="-122"/>
              <a:sym typeface="Arial" panose="020B0604020202020204" pitchFamily="34" charset="0"/>
            </a:endParaRPr>
          </a:p>
        </p:txBody>
      </p:sp>
      <p:cxnSp>
        <p:nvCxnSpPr>
          <p:cNvPr id="16" name="直接连接符 15"/>
          <p:cNvCxnSpPr/>
          <p:nvPr/>
        </p:nvCxnSpPr>
        <p:spPr>
          <a:xfrm>
            <a:off x="7648862" y="2718303"/>
            <a:ext cx="3779585" cy="0"/>
          </a:xfrm>
          <a:prstGeom prst="line">
            <a:avLst/>
          </a:prstGeom>
          <a:ln w="38100">
            <a:solidFill>
              <a:srgbClr val="11559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/>
          <p:cNvSpPr txBox="1"/>
          <p:nvPr/>
        </p:nvSpPr>
        <p:spPr>
          <a:xfrm>
            <a:off x="7649210" y="2978785"/>
            <a:ext cx="3779520" cy="340995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>
              <a:lnSpc>
                <a:spcPct val="150000"/>
              </a:lnSpc>
            </a:pPr>
            <a:r>
              <a:rPr lang="zh-CN" altLang="en-US" sz="1400"/>
              <a:t>预警</a:t>
            </a:r>
            <a:r>
              <a:rPr lang="zh-CN" altLang="en-US" sz="1400"/>
              <a:t>包含三类：堆位库容占用达阈值；原料按报关单号统计库龄超过设定天数（演示 90 天）；报备矿备案用量达设定比例（默认 80%）。驾驶舱与本页同源，可跳转移库、台账或关务对账。</a:t>
            </a:r>
            <a:endParaRPr lang="zh-CN" altLang="en-US" sz="1400"/>
          </a:p>
        </p:txBody>
      </p:sp>
      <p:pic>
        <p:nvPicPr>
          <p:cNvPr id="8" name="图片 7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9075" y="1950085"/>
            <a:ext cx="7254240" cy="4114800"/>
          </a:xfrm>
          <a:prstGeom prst="rect">
            <a:avLst/>
          </a:prstGeom>
        </p:spPr>
      </p:pic>
      <p:pic>
        <p:nvPicPr>
          <p:cNvPr id="4" name="图片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075" y="1950085"/>
            <a:ext cx="7252970" cy="4114165"/>
          </a:xfrm>
          <a:prstGeom prst="rect">
            <a:avLst/>
          </a:prstGeom>
        </p:spPr>
      </p:pic>
    </p:spTree>
  </p:cSld>
  <p:clrMapOvr>
    <a:masterClrMapping/>
  </p:clrMapOvr>
  <p:transition spd="slow" advClick="0" advTm="2000"/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五边形 24"/>
          <p:cNvSpPr/>
          <p:nvPr/>
        </p:nvSpPr>
        <p:spPr>
          <a:xfrm>
            <a:off x="0" y="0"/>
            <a:ext cx="2247900" cy="838200"/>
          </a:xfrm>
          <a:custGeom>
            <a:avLst/>
            <a:gdLst>
              <a:gd name="connsiteX0" fmla="*/ 0 w 2641600"/>
              <a:gd name="connsiteY0" fmla="*/ 0 h 787400"/>
              <a:gd name="connsiteX1" fmla="*/ 2247900 w 2641600"/>
              <a:gd name="connsiteY1" fmla="*/ 0 h 787400"/>
              <a:gd name="connsiteX2" fmla="*/ 2641600 w 2641600"/>
              <a:gd name="connsiteY2" fmla="*/ 393700 h 787400"/>
              <a:gd name="connsiteX3" fmla="*/ 2247900 w 2641600"/>
              <a:gd name="connsiteY3" fmla="*/ 787400 h 787400"/>
              <a:gd name="connsiteX4" fmla="*/ 0 w 2641600"/>
              <a:gd name="connsiteY4" fmla="*/ 787400 h 787400"/>
              <a:gd name="connsiteX5" fmla="*/ 0 w 2641600"/>
              <a:gd name="connsiteY5" fmla="*/ 0 h 787400"/>
              <a:gd name="connsiteX0-1" fmla="*/ 0 w 2247900"/>
              <a:gd name="connsiteY0-2" fmla="*/ 0 h 787400"/>
              <a:gd name="connsiteX1-3" fmla="*/ 2247900 w 2247900"/>
              <a:gd name="connsiteY1-4" fmla="*/ 0 h 787400"/>
              <a:gd name="connsiteX2-5" fmla="*/ 2247900 w 2247900"/>
              <a:gd name="connsiteY2-6" fmla="*/ 787400 h 787400"/>
              <a:gd name="connsiteX3-7" fmla="*/ 0 w 2247900"/>
              <a:gd name="connsiteY3-8" fmla="*/ 787400 h 787400"/>
              <a:gd name="connsiteX4-9" fmla="*/ 0 w 2247900"/>
              <a:gd name="connsiteY4-10" fmla="*/ 0 h 787400"/>
              <a:gd name="connsiteX0-11" fmla="*/ 0 w 2247900"/>
              <a:gd name="connsiteY0-12" fmla="*/ 0 h 787400"/>
              <a:gd name="connsiteX1-13" fmla="*/ 2158690 w 2247900"/>
              <a:gd name="connsiteY1-14" fmla="*/ 0 h 787400"/>
              <a:gd name="connsiteX2-15" fmla="*/ 2247900 w 2247900"/>
              <a:gd name="connsiteY2-16" fmla="*/ 787400 h 787400"/>
              <a:gd name="connsiteX3-17" fmla="*/ 0 w 2247900"/>
              <a:gd name="connsiteY3-18" fmla="*/ 787400 h 787400"/>
              <a:gd name="connsiteX4-19" fmla="*/ 0 w 2247900"/>
              <a:gd name="connsiteY4-20" fmla="*/ 0 h 787400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</a:cxnLst>
            <a:rect l="l" t="t" r="r" b="b"/>
            <a:pathLst>
              <a:path w="2247900" h="787400">
                <a:moveTo>
                  <a:pt x="0" y="0"/>
                </a:moveTo>
                <a:lnTo>
                  <a:pt x="2158690" y="0"/>
                </a:lnTo>
                <a:lnTo>
                  <a:pt x="2247900" y="787400"/>
                </a:lnTo>
                <a:lnTo>
                  <a:pt x="0" y="787400"/>
                </a:lnTo>
                <a:lnTo>
                  <a:pt x="0" y="0"/>
                </a:lnTo>
                <a:close/>
              </a:path>
            </a:pathLst>
          </a:cu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2400" dirty="0">
                <a:latin typeface="苹方-简" panose="020B0400000000000000" charset="-122"/>
                <a:ea typeface="苹方-简" panose="020B0400000000000000" charset="-122"/>
                <a:cs typeface="+mn-ea"/>
                <a:sym typeface="+mn-lt"/>
              </a:rPr>
              <a:t>平台前端</a:t>
            </a:r>
            <a:endParaRPr lang="zh-CN" altLang="en-US" sz="2400" dirty="0">
              <a:latin typeface="苹方-简" panose="020B0400000000000000" charset="-122"/>
              <a:ea typeface="苹方-简" panose="020B0400000000000000" charset="-122"/>
              <a:cs typeface="+mn-ea"/>
              <a:sym typeface="+mn-lt"/>
            </a:endParaRPr>
          </a:p>
        </p:txBody>
      </p:sp>
      <p:grpSp>
        <p:nvGrpSpPr>
          <p:cNvPr id="6" name="组合 6"/>
          <p:cNvGrpSpPr/>
          <p:nvPr/>
        </p:nvGrpSpPr>
        <p:grpSpPr bwMode="auto">
          <a:xfrm>
            <a:off x="1876234" y="838358"/>
            <a:ext cx="5247977" cy="5982808"/>
            <a:chOff x="694895" y="85823"/>
            <a:chExt cx="4833397" cy="5156200"/>
          </a:xfrm>
        </p:grpSpPr>
        <p:sp>
          <p:nvSpPr>
            <p:cNvPr id="50" name="任意多边形 49"/>
            <p:cNvSpPr/>
            <p:nvPr/>
          </p:nvSpPr>
          <p:spPr>
            <a:xfrm>
              <a:off x="1049956" y="91121"/>
              <a:ext cx="4478336" cy="5023921"/>
            </a:xfrm>
            <a:custGeom>
              <a:avLst/>
              <a:gdLst>
                <a:gd name="connsiteX0" fmla="*/ 0 w 3810000"/>
                <a:gd name="connsiteY0" fmla="*/ 0 h 5181600"/>
                <a:gd name="connsiteX1" fmla="*/ 1079500 w 3810000"/>
                <a:gd name="connsiteY1" fmla="*/ 5181600 h 5181600"/>
                <a:gd name="connsiteX2" fmla="*/ 3810000 w 3810000"/>
                <a:gd name="connsiteY2" fmla="*/ 5181600 h 5181600"/>
                <a:gd name="connsiteX3" fmla="*/ 2514600 w 3810000"/>
                <a:gd name="connsiteY3" fmla="*/ 12700 h 5181600"/>
                <a:gd name="connsiteX4" fmla="*/ 0 w 3810000"/>
                <a:gd name="connsiteY4" fmla="*/ 0 h 5181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00" h="5181600">
                  <a:moveTo>
                    <a:pt x="0" y="0"/>
                  </a:moveTo>
                  <a:lnTo>
                    <a:pt x="1079500" y="5181600"/>
                  </a:lnTo>
                  <a:lnTo>
                    <a:pt x="3810000" y="5181600"/>
                  </a:lnTo>
                  <a:lnTo>
                    <a:pt x="2514600" y="127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1559C">
                <a:alpha val="68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0" hangingPunct="0">
                <a:lnSpc>
                  <a:spcPct val="150000"/>
                </a:lnSpc>
                <a:defRPr/>
              </a:pPr>
              <a:endParaRPr lang="zh-CN" altLang="en-US" sz="1600">
                <a:latin typeface="Arial" panose="020B0604020202020204" pitchFamily="34" charset="0"/>
                <a:ea typeface="微软雅黑" panose="020B0503020204020204" pitchFamily="34" charset="-122"/>
                <a:sym typeface="Arial" panose="020B0604020202020204" pitchFamily="34" charset="0"/>
              </a:endParaRPr>
            </a:p>
          </p:txBody>
        </p:sp>
        <p:sp>
          <p:nvSpPr>
            <p:cNvPr id="2" name="任意多边形 1"/>
            <p:cNvSpPr/>
            <p:nvPr/>
          </p:nvSpPr>
          <p:spPr>
            <a:xfrm>
              <a:off x="694895" y="85823"/>
              <a:ext cx="4478545" cy="5156200"/>
            </a:xfrm>
            <a:custGeom>
              <a:avLst/>
              <a:gdLst>
                <a:gd name="connsiteX0" fmla="*/ 0 w 3810000"/>
                <a:gd name="connsiteY0" fmla="*/ 0 h 5181600"/>
                <a:gd name="connsiteX1" fmla="*/ 1079500 w 3810000"/>
                <a:gd name="connsiteY1" fmla="*/ 5181600 h 5181600"/>
                <a:gd name="connsiteX2" fmla="*/ 3810000 w 3810000"/>
                <a:gd name="connsiteY2" fmla="*/ 5181600 h 5181600"/>
                <a:gd name="connsiteX3" fmla="*/ 2514600 w 3810000"/>
                <a:gd name="connsiteY3" fmla="*/ 12700 h 5181600"/>
                <a:gd name="connsiteX4" fmla="*/ 0 w 3810000"/>
                <a:gd name="connsiteY4" fmla="*/ 0 h 5181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00" h="5181600">
                  <a:moveTo>
                    <a:pt x="0" y="0"/>
                  </a:moveTo>
                  <a:lnTo>
                    <a:pt x="1079500" y="5181600"/>
                  </a:lnTo>
                  <a:lnTo>
                    <a:pt x="3810000" y="5181600"/>
                  </a:lnTo>
                  <a:lnTo>
                    <a:pt x="2514600" y="127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1559C">
                <a:alpha val="68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0" hangingPunct="0">
                <a:lnSpc>
                  <a:spcPct val="150000"/>
                </a:lnSpc>
                <a:defRPr/>
              </a:pPr>
              <a:endParaRPr lang="zh-CN" altLang="en-US" sz="1600">
                <a:latin typeface="Arial" panose="020B0604020202020204" pitchFamily="34" charset="0"/>
                <a:ea typeface="微软雅黑" panose="020B0503020204020204" pitchFamily="34" charset="-122"/>
                <a:sym typeface="Arial" panose="020B0604020202020204" pitchFamily="34" charset="0"/>
              </a:endParaRPr>
            </a:p>
          </p:txBody>
        </p:sp>
      </p:grpSp>
      <p:sp>
        <p:nvSpPr>
          <p:cNvPr id="15" name="矩形 14"/>
          <p:cNvSpPr/>
          <p:nvPr/>
        </p:nvSpPr>
        <p:spPr>
          <a:xfrm>
            <a:off x="9358242" y="1874573"/>
            <a:ext cx="2070100" cy="5835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>
              <a:spcBef>
                <a:spcPct val="20000"/>
              </a:spcBef>
            </a:pPr>
            <a:r>
              <a:rPr lang="zh-CN" altLang="en-US" sz="3200" b="1" spc="500" dirty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苹方-简" panose="020B0400000000000000" charset="-122"/>
                <a:ea typeface="苹方-简" panose="020B0400000000000000" charset="-122"/>
                <a:cs typeface="宋体" panose="02010600030101010101" pitchFamily="2" charset="-122"/>
                <a:sym typeface="Arial" panose="020B0604020202020204" pitchFamily="34" charset="0"/>
              </a:rPr>
              <a:t>出库</a:t>
            </a:r>
            <a:r>
              <a:rPr lang="zh-CN" altLang="en-US" sz="3200" b="1" spc="500" dirty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苹方-简" panose="020B0400000000000000" charset="-122"/>
                <a:ea typeface="苹方-简" panose="020B0400000000000000" charset="-122"/>
                <a:cs typeface="宋体" panose="02010600030101010101" pitchFamily="2" charset="-122"/>
                <a:sym typeface="Arial" panose="020B0604020202020204" pitchFamily="34" charset="0"/>
              </a:rPr>
              <a:t>管理</a:t>
            </a:r>
            <a:endParaRPr lang="zh-CN" altLang="en-US" sz="3200" b="1" spc="500" dirty="0">
              <a:solidFill>
                <a:schemeClr val="tx1">
                  <a:lumMod val="85000"/>
                  <a:lumOff val="15000"/>
                </a:schemeClr>
              </a:solidFill>
              <a:uFillTx/>
              <a:latin typeface="苹方-简" panose="020B0400000000000000" charset="-122"/>
              <a:ea typeface="苹方-简" panose="020B0400000000000000" charset="-122"/>
              <a:cs typeface="宋体" panose="02010600030101010101" pitchFamily="2" charset="-122"/>
              <a:sym typeface="Arial" panose="020B0604020202020204" pitchFamily="34" charset="0"/>
            </a:endParaRPr>
          </a:p>
        </p:txBody>
      </p:sp>
      <p:cxnSp>
        <p:nvCxnSpPr>
          <p:cNvPr id="16" name="直接连接符 15"/>
          <p:cNvCxnSpPr/>
          <p:nvPr/>
        </p:nvCxnSpPr>
        <p:spPr>
          <a:xfrm>
            <a:off x="7648862" y="2718303"/>
            <a:ext cx="3779585" cy="0"/>
          </a:xfrm>
          <a:prstGeom prst="line">
            <a:avLst/>
          </a:prstGeom>
          <a:ln w="38100">
            <a:solidFill>
              <a:srgbClr val="11559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/>
          <p:cNvSpPr txBox="1"/>
          <p:nvPr/>
        </p:nvSpPr>
        <p:spPr>
          <a:xfrm>
            <a:off x="7649210" y="2978785"/>
            <a:ext cx="3779520" cy="340995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>
              <a:lnSpc>
                <a:spcPct val="150000"/>
              </a:lnSpc>
            </a:pPr>
            <a:r>
              <a:rPr lang="zh-CN" altLang="en-US" sz="1400"/>
              <a:t>新建</a:t>
            </a:r>
            <a:r>
              <a:rPr lang="zh-CN" altLang="en-US" sz="1400"/>
              <a:t>出库须 上传出库报关单，</a:t>
            </a:r>
            <a:r>
              <a:rPr lang="en-US" altLang="zh-CN" sz="1400"/>
              <a:t>OCR </a:t>
            </a:r>
            <a:r>
              <a:rPr lang="zh-CN" altLang="en-US" sz="1400"/>
              <a:t>回填报关单号、核注清单号、流向企业与重量。审核通过后点 出库完成，记录出库与完成时间。</a:t>
            </a:r>
            <a:endParaRPr lang="zh-CN" altLang="en-US" sz="1400"/>
          </a:p>
        </p:txBody>
      </p:sp>
      <p:pic>
        <p:nvPicPr>
          <p:cNvPr id="8" name="图片 7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9075" y="1950085"/>
            <a:ext cx="7254240" cy="4114800"/>
          </a:xfrm>
          <a:prstGeom prst="rect">
            <a:avLst/>
          </a:prstGeom>
        </p:spPr>
      </p:pic>
      <p:pic>
        <p:nvPicPr>
          <p:cNvPr id="7" name="图片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075" y="1950085"/>
            <a:ext cx="7254240" cy="4115435"/>
          </a:xfrm>
          <a:prstGeom prst="rect">
            <a:avLst/>
          </a:prstGeom>
        </p:spPr>
      </p:pic>
    </p:spTree>
  </p:cSld>
  <p:clrMapOvr>
    <a:masterClrMapping/>
  </p:clrMapOvr>
  <p:transition spd="slow" advClick="0" advTm="2000"/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五边形 24"/>
          <p:cNvSpPr/>
          <p:nvPr/>
        </p:nvSpPr>
        <p:spPr>
          <a:xfrm>
            <a:off x="0" y="0"/>
            <a:ext cx="2247900" cy="838200"/>
          </a:xfrm>
          <a:custGeom>
            <a:avLst/>
            <a:gdLst>
              <a:gd name="connsiteX0" fmla="*/ 0 w 2641600"/>
              <a:gd name="connsiteY0" fmla="*/ 0 h 787400"/>
              <a:gd name="connsiteX1" fmla="*/ 2247900 w 2641600"/>
              <a:gd name="connsiteY1" fmla="*/ 0 h 787400"/>
              <a:gd name="connsiteX2" fmla="*/ 2641600 w 2641600"/>
              <a:gd name="connsiteY2" fmla="*/ 393700 h 787400"/>
              <a:gd name="connsiteX3" fmla="*/ 2247900 w 2641600"/>
              <a:gd name="connsiteY3" fmla="*/ 787400 h 787400"/>
              <a:gd name="connsiteX4" fmla="*/ 0 w 2641600"/>
              <a:gd name="connsiteY4" fmla="*/ 787400 h 787400"/>
              <a:gd name="connsiteX5" fmla="*/ 0 w 2641600"/>
              <a:gd name="connsiteY5" fmla="*/ 0 h 787400"/>
              <a:gd name="connsiteX0-1" fmla="*/ 0 w 2247900"/>
              <a:gd name="connsiteY0-2" fmla="*/ 0 h 787400"/>
              <a:gd name="connsiteX1-3" fmla="*/ 2247900 w 2247900"/>
              <a:gd name="connsiteY1-4" fmla="*/ 0 h 787400"/>
              <a:gd name="connsiteX2-5" fmla="*/ 2247900 w 2247900"/>
              <a:gd name="connsiteY2-6" fmla="*/ 787400 h 787400"/>
              <a:gd name="connsiteX3-7" fmla="*/ 0 w 2247900"/>
              <a:gd name="connsiteY3-8" fmla="*/ 787400 h 787400"/>
              <a:gd name="connsiteX4-9" fmla="*/ 0 w 2247900"/>
              <a:gd name="connsiteY4-10" fmla="*/ 0 h 787400"/>
              <a:gd name="connsiteX0-11" fmla="*/ 0 w 2247900"/>
              <a:gd name="connsiteY0-12" fmla="*/ 0 h 787400"/>
              <a:gd name="connsiteX1-13" fmla="*/ 2158690 w 2247900"/>
              <a:gd name="connsiteY1-14" fmla="*/ 0 h 787400"/>
              <a:gd name="connsiteX2-15" fmla="*/ 2247900 w 2247900"/>
              <a:gd name="connsiteY2-16" fmla="*/ 787400 h 787400"/>
              <a:gd name="connsiteX3-17" fmla="*/ 0 w 2247900"/>
              <a:gd name="connsiteY3-18" fmla="*/ 787400 h 787400"/>
              <a:gd name="connsiteX4-19" fmla="*/ 0 w 2247900"/>
              <a:gd name="connsiteY4-20" fmla="*/ 0 h 787400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</a:cxnLst>
            <a:rect l="l" t="t" r="r" b="b"/>
            <a:pathLst>
              <a:path w="2247900" h="787400">
                <a:moveTo>
                  <a:pt x="0" y="0"/>
                </a:moveTo>
                <a:lnTo>
                  <a:pt x="2158690" y="0"/>
                </a:lnTo>
                <a:lnTo>
                  <a:pt x="2247900" y="787400"/>
                </a:lnTo>
                <a:lnTo>
                  <a:pt x="0" y="787400"/>
                </a:lnTo>
                <a:lnTo>
                  <a:pt x="0" y="0"/>
                </a:lnTo>
                <a:close/>
              </a:path>
            </a:pathLst>
          </a:cu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2400" dirty="0">
                <a:latin typeface="苹方-简" panose="020B0400000000000000" charset="-122"/>
                <a:ea typeface="苹方-简" panose="020B0400000000000000" charset="-122"/>
                <a:cs typeface="+mn-ea"/>
                <a:sym typeface="+mn-lt"/>
              </a:rPr>
              <a:t>平台前端</a:t>
            </a:r>
            <a:endParaRPr lang="zh-CN" altLang="en-US" sz="2400" dirty="0">
              <a:latin typeface="苹方-简" panose="020B0400000000000000" charset="-122"/>
              <a:ea typeface="苹方-简" panose="020B0400000000000000" charset="-122"/>
              <a:cs typeface="+mn-ea"/>
              <a:sym typeface="+mn-lt"/>
            </a:endParaRPr>
          </a:p>
        </p:txBody>
      </p:sp>
      <p:grpSp>
        <p:nvGrpSpPr>
          <p:cNvPr id="6" name="组合 6"/>
          <p:cNvGrpSpPr/>
          <p:nvPr/>
        </p:nvGrpSpPr>
        <p:grpSpPr bwMode="auto">
          <a:xfrm>
            <a:off x="1876234" y="838358"/>
            <a:ext cx="5247977" cy="5982808"/>
            <a:chOff x="694895" y="85823"/>
            <a:chExt cx="4833397" cy="5156200"/>
          </a:xfrm>
        </p:grpSpPr>
        <p:sp>
          <p:nvSpPr>
            <p:cNvPr id="50" name="任意多边形 49"/>
            <p:cNvSpPr/>
            <p:nvPr/>
          </p:nvSpPr>
          <p:spPr>
            <a:xfrm>
              <a:off x="1049956" y="91121"/>
              <a:ext cx="4478336" cy="5023921"/>
            </a:xfrm>
            <a:custGeom>
              <a:avLst/>
              <a:gdLst>
                <a:gd name="connsiteX0" fmla="*/ 0 w 3810000"/>
                <a:gd name="connsiteY0" fmla="*/ 0 h 5181600"/>
                <a:gd name="connsiteX1" fmla="*/ 1079500 w 3810000"/>
                <a:gd name="connsiteY1" fmla="*/ 5181600 h 5181600"/>
                <a:gd name="connsiteX2" fmla="*/ 3810000 w 3810000"/>
                <a:gd name="connsiteY2" fmla="*/ 5181600 h 5181600"/>
                <a:gd name="connsiteX3" fmla="*/ 2514600 w 3810000"/>
                <a:gd name="connsiteY3" fmla="*/ 12700 h 5181600"/>
                <a:gd name="connsiteX4" fmla="*/ 0 w 3810000"/>
                <a:gd name="connsiteY4" fmla="*/ 0 h 5181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00" h="5181600">
                  <a:moveTo>
                    <a:pt x="0" y="0"/>
                  </a:moveTo>
                  <a:lnTo>
                    <a:pt x="1079500" y="5181600"/>
                  </a:lnTo>
                  <a:lnTo>
                    <a:pt x="3810000" y="5181600"/>
                  </a:lnTo>
                  <a:lnTo>
                    <a:pt x="2514600" y="127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1559C">
                <a:alpha val="68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0" hangingPunct="0">
                <a:lnSpc>
                  <a:spcPct val="150000"/>
                </a:lnSpc>
                <a:defRPr/>
              </a:pPr>
              <a:endParaRPr lang="zh-CN" altLang="en-US" sz="1600">
                <a:latin typeface="Arial" panose="020B0604020202020204" pitchFamily="34" charset="0"/>
                <a:ea typeface="微软雅黑" panose="020B0503020204020204" pitchFamily="34" charset="-122"/>
                <a:sym typeface="Arial" panose="020B0604020202020204" pitchFamily="34" charset="0"/>
              </a:endParaRPr>
            </a:p>
          </p:txBody>
        </p:sp>
        <p:sp>
          <p:nvSpPr>
            <p:cNvPr id="2" name="任意多边形 1"/>
            <p:cNvSpPr/>
            <p:nvPr/>
          </p:nvSpPr>
          <p:spPr>
            <a:xfrm>
              <a:off x="694895" y="85823"/>
              <a:ext cx="4478545" cy="5156200"/>
            </a:xfrm>
            <a:custGeom>
              <a:avLst/>
              <a:gdLst>
                <a:gd name="connsiteX0" fmla="*/ 0 w 3810000"/>
                <a:gd name="connsiteY0" fmla="*/ 0 h 5181600"/>
                <a:gd name="connsiteX1" fmla="*/ 1079500 w 3810000"/>
                <a:gd name="connsiteY1" fmla="*/ 5181600 h 5181600"/>
                <a:gd name="connsiteX2" fmla="*/ 3810000 w 3810000"/>
                <a:gd name="connsiteY2" fmla="*/ 5181600 h 5181600"/>
                <a:gd name="connsiteX3" fmla="*/ 2514600 w 3810000"/>
                <a:gd name="connsiteY3" fmla="*/ 12700 h 5181600"/>
                <a:gd name="connsiteX4" fmla="*/ 0 w 3810000"/>
                <a:gd name="connsiteY4" fmla="*/ 0 h 5181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00" h="5181600">
                  <a:moveTo>
                    <a:pt x="0" y="0"/>
                  </a:moveTo>
                  <a:lnTo>
                    <a:pt x="1079500" y="5181600"/>
                  </a:lnTo>
                  <a:lnTo>
                    <a:pt x="3810000" y="5181600"/>
                  </a:lnTo>
                  <a:lnTo>
                    <a:pt x="2514600" y="127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1559C">
                <a:alpha val="68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0" hangingPunct="0">
                <a:lnSpc>
                  <a:spcPct val="150000"/>
                </a:lnSpc>
                <a:defRPr/>
              </a:pPr>
              <a:endParaRPr lang="zh-CN" altLang="en-US" sz="1600">
                <a:latin typeface="Arial" panose="020B0604020202020204" pitchFamily="34" charset="0"/>
                <a:ea typeface="微软雅黑" panose="020B0503020204020204" pitchFamily="34" charset="-122"/>
                <a:sym typeface="Arial" panose="020B0604020202020204" pitchFamily="34" charset="0"/>
              </a:endParaRPr>
            </a:p>
          </p:txBody>
        </p:sp>
      </p:grpSp>
      <p:sp>
        <p:nvSpPr>
          <p:cNvPr id="15" name="矩形 14"/>
          <p:cNvSpPr/>
          <p:nvPr/>
        </p:nvSpPr>
        <p:spPr>
          <a:xfrm>
            <a:off x="7748517" y="1874573"/>
            <a:ext cx="3679825" cy="5835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>
              <a:spcBef>
                <a:spcPct val="20000"/>
              </a:spcBef>
            </a:pPr>
            <a:r>
              <a:rPr lang="zh-CN" altLang="en-US" sz="3200" b="1" spc="500" dirty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苹方-简" panose="020B0400000000000000" charset="-122"/>
                <a:ea typeface="苹方-简" panose="020B0400000000000000" charset="-122"/>
                <a:cs typeface="宋体" panose="02010600030101010101" pitchFamily="2" charset="-122"/>
                <a:sym typeface="Arial" panose="020B0604020202020204" pitchFamily="34" charset="0"/>
              </a:rPr>
              <a:t>生产 / 完工流转</a:t>
            </a:r>
            <a:endParaRPr lang="zh-CN" altLang="en-US" sz="3200" b="1" spc="500" dirty="0">
              <a:solidFill>
                <a:schemeClr val="tx1">
                  <a:lumMod val="85000"/>
                  <a:lumOff val="15000"/>
                </a:schemeClr>
              </a:solidFill>
              <a:uFillTx/>
              <a:latin typeface="苹方-简" panose="020B0400000000000000" charset="-122"/>
              <a:ea typeface="苹方-简" panose="020B0400000000000000" charset="-122"/>
              <a:cs typeface="宋体" panose="02010600030101010101" pitchFamily="2" charset="-122"/>
              <a:sym typeface="Arial" panose="020B0604020202020204" pitchFamily="34" charset="0"/>
            </a:endParaRPr>
          </a:p>
        </p:txBody>
      </p:sp>
      <p:cxnSp>
        <p:nvCxnSpPr>
          <p:cNvPr id="16" name="直接连接符 15"/>
          <p:cNvCxnSpPr/>
          <p:nvPr/>
        </p:nvCxnSpPr>
        <p:spPr>
          <a:xfrm>
            <a:off x="7648862" y="2718303"/>
            <a:ext cx="3779585" cy="0"/>
          </a:xfrm>
          <a:prstGeom prst="line">
            <a:avLst/>
          </a:prstGeom>
          <a:ln w="38100">
            <a:solidFill>
              <a:srgbClr val="11559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/>
          <p:cNvSpPr txBox="1"/>
          <p:nvPr/>
        </p:nvSpPr>
        <p:spPr>
          <a:xfrm>
            <a:off x="7649210" y="2978785"/>
            <a:ext cx="3779520" cy="340995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>
              <a:lnSpc>
                <a:spcPct val="150000"/>
              </a:lnSpc>
            </a:pPr>
            <a:r>
              <a:rPr lang="zh-CN" altLang="en-US" sz="1400"/>
              <a:t>投料按 生产批次号 出库，同一批次可勾选多票报关单矿物（可按报关单号、物料、来源国家、堆位筛选）。加工过程登记混矿原料及湿干重，谱系保留至各报关单。完工入库后，成品库存身份即为该生产批次号，先入待检堆位，查验完成后再改片区标识。消耗产出台账汇总原料消耗与成品产量。登记类操作统一在操作日志留痕。</a:t>
            </a:r>
            <a:endParaRPr lang="zh-CN" altLang="en-US" sz="1400"/>
          </a:p>
        </p:txBody>
      </p:sp>
      <p:pic>
        <p:nvPicPr>
          <p:cNvPr id="9" name="图片 8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9075" y="1950085"/>
            <a:ext cx="7254240" cy="4114800"/>
          </a:xfrm>
          <a:prstGeom prst="rect">
            <a:avLst/>
          </a:prstGeom>
        </p:spPr>
      </p:pic>
    </p:spTree>
  </p:cSld>
  <p:clrMapOvr>
    <a:masterClrMapping/>
  </p:clrMapOvr>
  <p:transition spd="slow" advClick="0" advTm="2000"/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五边形 24"/>
          <p:cNvSpPr/>
          <p:nvPr/>
        </p:nvSpPr>
        <p:spPr>
          <a:xfrm>
            <a:off x="0" y="0"/>
            <a:ext cx="2247900" cy="838200"/>
          </a:xfrm>
          <a:custGeom>
            <a:avLst/>
            <a:gdLst>
              <a:gd name="connsiteX0" fmla="*/ 0 w 2641600"/>
              <a:gd name="connsiteY0" fmla="*/ 0 h 787400"/>
              <a:gd name="connsiteX1" fmla="*/ 2247900 w 2641600"/>
              <a:gd name="connsiteY1" fmla="*/ 0 h 787400"/>
              <a:gd name="connsiteX2" fmla="*/ 2641600 w 2641600"/>
              <a:gd name="connsiteY2" fmla="*/ 393700 h 787400"/>
              <a:gd name="connsiteX3" fmla="*/ 2247900 w 2641600"/>
              <a:gd name="connsiteY3" fmla="*/ 787400 h 787400"/>
              <a:gd name="connsiteX4" fmla="*/ 0 w 2641600"/>
              <a:gd name="connsiteY4" fmla="*/ 787400 h 787400"/>
              <a:gd name="connsiteX5" fmla="*/ 0 w 2641600"/>
              <a:gd name="connsiteY5" fmla="*/ 0 h 787400"/>
              <a:gd name="connsiteX0-1" fmla="*/ 0 w 2247900"/>
              <a:gd name="connsiteY0-2" fmla="*/ 0 h 787400"/>
              <a:gd name="connsiteX1-3" fmla="*/ 2247900 w 2247900"/>
              <a:gd name="connsiteY1-4" fmla="*/ 0 h 787400"/>
              <a:gd name="connsiteX2-5" fmla="*/ 2247900 w 2247900"/>
              <a:gd name="connsiteY2-6" fmla="*/ 787400 h 787400"/>
              <a:gd name="connsiteX3-7" fmla="*/ 0 w 2247900"/>
              <a:gd name="connsiteY3-8" fmla="*/ 787400 h 787400"/>
              <a:gd name="connsiteX4-9" fmla="*/ 0 w 2247900"/>
              <a:gd name="connsiteY4-10" fmla="*/ 0 h 787400"/>
              <a:gd name="connsiteX0-11" fmla="*/ 0 w 2247900"/>
              <a:gd name="connsiteY0-12" fmla="*/ 0 h 787400"/>
              <a:gd name="connsiteX1-13" fmla="*/ 2158690 w 2247900"/>
              <a:gd name="connsiteY1-14" fmla="*/ 0 h 787400"/>
              <a:gd name="connsiteX2-15" fmla="*/ 2247900 w 2247900"/>
              <a:gd name="connsiteY2-16" fmla="*/ 787400 h 787400"/>
              <a:gd name="connsiteX3-17" fmla="*/ 0 w 2247900"/>
              <a:gd name="connsiteY3-18" fmla="*/ 787400 h 787400"/>
              <a:gd name="connsiteX4-19" fmla="*/ 0 w 2247900"/>
              <a:gd name="connsiteY4-20" fmla="*/ 0 h 787400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</a:cxnLst>
            <a:rect l="l" t="t" r="r" b="b"/>
            <a:pathLst>
              <a:path w="2247900" h="787400">
                <a:moveTo>
                  <a:pt x="0" y="0"/>
                </a:moveTo>
                <a:lnTo>
                  <a:pt x="2158690" y="0"/>
                </a:lnTo>
                <a:lnTo>
                  <a:pt x="2247900" y="787400"/>
                </a:lnTo>
                <a:lnTo>
                  <a:pt x="0" y="787400"/>
                </a:lnTo>
                <a:lnTo>
                  <a:pt x="0" y="0"/>
                </a:lnTo>
                <a:close/>
              </a:path>
            </a:pathLst>
          </a:cu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2400" dirty="0">
                <a:latin typeface="苹方-简" panose="020B0400000000000000" charset="-122"/>
                <a:ea typeface="苹方-简" panose="020B0400000000000000" charset="-122"/>
                <a:cs typeface="+mn-ea"/>
                <a:sym typeface="+mn-lt"/>
              </a:rPr>
              <a:t>平台前端</a:t>
            </a:r>
            <a:endParaRPr lang="zh-CN" altLang="en-US" sz="2400" dirty="0">
              <a:latin typeface="苹方-简" panose="020B0400000000000000" charset="-122"/>
              <a:ea typeface="苹方-简" panose="020B0400000000000000" charset="-122"/>
              <a:cs typeface="+mn-ea"/>
              <a:sym typeface="+mn-lt"/>
            </a:endParaRPr>
          </a:p>
        </p:txBody>
      </p:sp>
      <p:grpSp>
        <p:nvGrpSpPr>
          <p:cNvPr id="6" name="组合 6"/>
          <p:cNvGrpSpPr/>
          <p:nvPr/>
        </p:nvGrpSpPr>
        <p:grpSpPr bwMode="auto">
          <a:xfrm>
            <a:off x="1876234" y="838358"/>
            <a:ext cx="5247977" cy="5982808"/>
            <a:chOff x="694895" y="85823"/>
            <a:chExt cx="4833397" cy="5156200"/>
          </a:xfrm>
        </p:grpSpPr>
        <p:sp>
          <p:nvSpPr>
            <p:cNvPr id="50" name="任意多边形 49"/>
            <p:cNvSpPr/>
            <p:nvPr/>
          </p:nvSpPr>
          <p:spPr>
            <a:xfrm>
              <a:off x="1049956" y="91121"/>
              <a:ext cx="4478336" cy="5023921"/>
            </a:xfrm>
            <a:custGeom>
              <a:avLst/>
              <a:gdLst>
                <a:gd name="connsiteX0" fmla="*/ 0 w 3810000"/>
                <a:gd name="connsiteY0" fmla="*/ 0 h 5181600"/>
                <a:gd name="connsiteX1" fmla="*/ 1079500 w 3810000"/>
                <a:gd name="connsiteY1" fmla="*/ 5181600 h 5181600"/>
                <a:gd name="connsiteX2" fmla="*/ 3810000 w 3810000"/>
                <a:gd name="connsiteY2" fmla="*/ 5181600 h 5181600"/>
                <a:gd name="connsiteX3" fmla="*/ 2514600 w 3810000"/>
                <a:gd name="connsiteY3" fmla="*/ 12700 h 5181600"/>
                <a:gd name="connsiteX4" fmla="*/ 0 w 3810000"/>
                <a:gd name="connsiteY4" fmla="*/ 0 h 5181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00" h="5181600">
                  <a:moveTo>
                    <a:pt x="0" y="0"/>
                  </a:moveTo>
                  <a:lnTo>
                    <a:pt x="1079500" y="5181600"/>
                  </a:lnTo>
                  <a:lnTo>
                    <a:pt x="3810000" y="5181600"/>
                  </a:lnTo>
                  <a:lnTo>
                    <a:pt x="2514600" y="127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1559C">
                <a:alpha val="68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0" hangingPunct="0">
                <a:lnSpc>
                  <a:spcPct val="150000"/>
                </a:lnSpc>
                <a:defRPr/>
              </a:pPr>
              <a:endParaRPr lang="zh-CN" altLang="en-US" sz="1600">
                <a:latin typeface="Arial" panose="020B0604020202020204" pitchFamily="34" charset="0"/>
                <a:ea typeface="微软雅黑" panose="020B0503020204020204" pitchFamily="34" charset="-122"/>
                <a:sym typeface="Arial" panose="020B0604020202020204" pitchFamily="34" charset="0"/>
              </a:endParaRPr>
            </a:p>
          </p:txBody>
        </p:sp>
        <p:sp>
          <p:nvSpPr>
            <p:cNvPr id="2" name="任意多边形 1"/>
            <p:cNvSpPr/>
            <p:nvPr/>
          </p:nvSpPr>
          <p:spPr>
            <a:xfrm>
              <a:off x="694895" y="85823"/>
              <a:ext cx="4478545" cy="5156200"/>
            </a:xfrm>
            <a:custGeom>
              <a:avLst/>
              <a:gdLst>
                <a:gd name="connsiteX0" fmla="*/ 0 w 3810000"/>
                <a:gd name="connsiteY0" fmla="*/ 0 h 5181600"/>
                <a:gd name="connsiteX1" fmla="*/ 1079500 w 3810000"/>
                <a:gd name="connsiteY1" fmla="*/ 5181600 h 5181600"/>
                <a:gd name="connsiteX2" fmla="*/ 3810000 w 3810000"/>
                <a:gd name="connsiteY2" fmla="*/ 5181600 h 5181600"/>
                <a:gd name="connsiteX3" fmla="*/ 2514600 w 3810000"/>
                <a:gd name="connsiteY3" fmla="*/ 12700 h 5181600"/>
                <a:gd name="connsiteX4" fmla="*/ 0 w 3810000"/>
                <a:gd name="connsiteY4" fmla="*/ 0 h 5181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00" h="5181600">
                  <a:moveTo>
                    <a:pt x="0" y="0"/>
                  </a:moveTo>
                  <a:lnTo>
                    <a:pt x="1079500" y="5181600"/>
                  </a:lnTo>
                  <a:lnTo>
                    <a:pt x="3810000" y="5181600"/>
                  </a:lnTo>
                  <a:lnTo>
                    <a:pt x="2514600" y="127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1559C">
                <a:alpha val="68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0" hangingPunct="0">
                <a:lnSpc>
                  <a:spcPct val="150000"/>
                </a:lnSpc>
                <a:defRPr/>
              </a:pPr>
              <a:endParaRPr lang="zh-CN" altLang="en-US" sz="1600">
                <a:latin typeface="Arial" panose="020B0604020202020204" pitchFamily="34" charset="0"/>
                <a:ea typeface="微软雅黑" panose="020B0503020204020204" pitchFamily="34" charset="-122"/>
                <a:sym typeface="Arial" panose="020B0604020202020204" pitchFamily="34" charset="0"/>
              </a:endParaRPr>
            </a:p>
          </p:txBody>
        </p:sp>
      </p:grpSp>
      <p:sp>
        <p:nvSpPr>
          <p:cNvPr id="15" name="矩形 14"/>
          <p:cNvSpPr/>
          <p:nvPr/>
        </p:nvSpPr>
        <p:spPr>
          <a:xfrm>
            <a:off x="9358242" y="1874573"/>
            <a:ext cx="2070100" cy="5835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>
              <a:spcBef>
                <a:spcPct val="20000"/>
              </a:spcBef>
            </a:pPr>
            <a:r>
              <a:rPr lang="zh-CN" altLang="en-US" sz="3200" b="1" spc="500" dirty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苹方-简" panose="020B0400000000000000" charset="-122"/>
                <a:ea typeface="苹方-简" panose="020B0400000000000000" charset="-122"/>
                <a:cs typeface="宋体" panose="02010600030101010101" pitchFamily="2" charset="-122"/>
                <a:sym typeface="Arial" panose="020B0604020202020204" pitchFamily="34" charset="0"/>
              </a:rPr>
              <a:t>关务保税</a:t>
            </a:r>
            <a:endParaRPr lang="zh-CN" altLang="en-US" sz="3200" b="1" spc="500" dirty="0">
              <a:solidFill>
                <a:schemeClr val="tx1">
                  <a:lumMod val="85000"/>
                  <a:lumOff val="15000"/>
                </a:schemeClr>
              </a:solidFill>
              <a:uFillTx/>
              <a:latin typeface="苹方-简" panose="020B0400000000000000" charset="-122"/>
              <a:ea typeface="苹方-简" panose="020B0400000000000000" charset="-122"/>
              <a:cs typeface="宋体" panose="02010600030101010101" pitchFamily="2" charset="-122"/>
              <a:sym typeface="Arial" panose="020B0604020202020204" pitchFamily="34" charset="0"/>
            </a:endParaRPr>
          </a:p>
        </p:txBody>
      </p:sp>
      <p:cxnSp>
        <p:nvCxnSpPr>
          <p:cNvPr id="16" name="直接连接符 15"/>
          <p:cNvCxnSpPr/>
          <p:nvPr/>
        </p:nvCxnSpPr>
        <p:spPr>
          <a:xfrm>
            <a:off x="7648862" y="2718303"/>
            <a:ext cx="3779585" cy="0"/>
          </a:xfrm>
          <a:prstGeom prst="line">
            <a:avLst/>
          </a:prstGeom>
          <a:ln w="38100">
            <a:solidFill>
              <a:srgbClr val="11559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/>
          <p:cNvSpPr txBox="1"/>
          <p:nvPr/>
        </p:nvSpPr>
        <p:spPr>
          <a:xfrm>
            <a:off x="7649210" y="2978785"/>
            <a:ext cx="3779520" cy="340995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>
              <a:lnSpc>
                <a:spcPct val="150000"/>
              </a:lnSpc>
            </a:pPr>
            <a:r>
              <a:rPr lang="zh-CN" altLang="en-US" sz="1400"/>
              <a:t>海关专用账号仅开放关务、账册与审计相关能力，与仓管、生产账号隔离。系统按账册物料比对账册库存与实物库存，展示一致项与差异吨数；差异可穿透到报关单号/生产批次与单据，支持导出差异报表。联网申报、核销接口在对外对接中预留，本页完成对账与监管查询。</a:t>
            </a:r>
            <a:endParaRPr lang="zh-CN" altLang="en-US" sz="1400"/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9075" y="1950085"/>
            <a:ext cx="7253605" cy="4114165"/>
          </a:xfrm>
          <a:prstGeom prst="rect">
            <a:avLst/>
          </a:prstGeom>
        </p:spPr>
      </p:pic>
    </p:spTree>
  </p:cSld>
  <p:clrMapOvr>
    <a:masterClrMapping/>
  </p:clrMapOvr>
  <p:transition spd="slow" advClick="0" advTm="2000"/>
  <p:timing>
    <p:tnLst>
      <p:par>
        <p:cTn id="1" dur="indefinite" restart="never" nodeType="tmRoot"/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五边形 24"/>
          <p:cNvSpPr/>
          <p:nvPr/>
        </p:nvSpPr>
        <p:spPr>
          <a:xfrm>
            <a:off x="0" y="0"/>
            <a:ext cx="2247900" cy="838200"/>
          </a:xfrm>
          <a:custGeom>
            <a:avLst/>
            <a:gdLst>
              <a:gd name="connsiteX0" fmla="*/ 0 w 2641600"/>
              <a:gd name="connsiteY0" fmla="*/ 0 h 787400"/>
              <a:gd name="connsiteX1" fmla="*/ 2247900 w 2641600"/>
              <a:gd name="connsiteY1" fmla="*/ 0 h 787400"/>
              <a:gd name="connsiteX2" fmla="*/ 2641600 w 2641600"/>
              <a:gd name="connsiteY2" fmla="*/ 393700 h 787400"/>
              <a:gd name="connsiteX3" fmla="*/ 2247900 w 2641600"/>
              <a:gd name="connsiteY3" fmla="*/ 787400 h 787400"/>
              <a:gd name="connsiteX4" fmla="*/ 0 w 2641600"/>
              <a:gd name="connsiteY4" fmla="*/ 787400 h 787400"/>
              <a:gd name="connsiteX5" fmla="*/ 0 w 2641600"/>
              <a:gd name="connsiteY5" fmla="*/ 0 h 787400"/>
              <a:gd name="connsiteX0-1" fmla="*/ 0 w 2247900"/>
              <a:gd name="connsiteY0-2" fmla="*/ 0 h 787400"/>
              <a:gd name="connsiteX1-3" fmla="*/ 2247900 w 2247900"/>
              <a:gd name="connsiteY1-4" fmla="*/ 0 h 787400"/>
              <a:gd name="connsiteX2-5" fmla="*/ 2247900 w 2247900"/>
              <a:gd name="connsiteY2-6" fmla="*/ 787400 h 787400"/>
              <a:gd name="connsiteX3-7" fmla="*/ 0 w 2247900"/>
              <a:gd name="connsiteY3-8" fmla="*/ 787400 h 787400"/>
              <a:gd name="connsiteX4-9" fmla="*/ 0 w 2247900"/>
              <a:gd name="connsiteY4-10" fmla="*/ 0 h 787400"/>
              <a:gd name="connsiteX0-11" fmla="*/ 0 w 2247900"/>
              <a:gd name="connsiteY0-12" fmla="*/ 0 h 787400"/>
              <a:gd name="connsiteX1-13" fmla="*/ 2158690 w 2247900"/>
              <a:gd name="connsiteY1-14" fmla="*/ 0 h 787400"/>
              <a:gd name="connsiteX2-15" fmla="*/ 2247900 w 2247900"/>
              <a:gd name="connsiteY2-16" fmla="*/ 787400 h 787400"/>
              <a:gd name="connsiteX3-17" fmla="*/ 0 w 2247900"/>
              <a:gd name="connsiteY3-18" fmla="*/ 787400 h 787400"/>
              <a:gd name="connsiteX4-19" fmla="*/ 0 w 2247900"/>
              <a:gd name="connsiteY4-20" fmla="*/ 0 h 787400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</a:cxnLst>
            <a:rect l="l" t="t" r="r" b="b"/>
            <a:pathLst>
              <a:path w="2247900" h="787400">
                <a:moveTo>
                  <a:pt x="0" y="0"/>
                </a:moveTo>
                <a:lnTo>
                  <a:pt x="2158690" y="0"/>
                </a:lnTo>
                <a:lnTo>
                  <a:pt x="2247900" y="787400"/>
                </a:lnTo>
                <a:lnTo>
                  <a:pt x="0" y="787400"/>
                </a:lnTo>
                <a:lnTo>
                  <a:pt x="0" y="0"/>
                </a:lnTo>
                <a:close/>
              </a:path>
            </a:pathLst>
          </a:cu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2400" dirty="0">
                <a:latin typeface="苹方-简" panose="020B0400000000000000" charset="-122"/>
                <a:ea typeface="苹方-简" panose="020B0400000000000000" charset="-122"/>
                <a:cs typeface="+mn-ea"/>
                <a:sym typeface="+mn-lt"/>
              </a:rPr>
              <a:t>平台前端</a:t>
            </a:r>
            <a:endParaRPr lang="zh-CN" altLang="en-US" sz="2400" dirty="0">
              <a:latin typeface="苹方-简" panose="020B0400000000000000" charset="-122"/>
              <a:ea typeface="苹方-简" panose="020B0400000000000000" charset="-122"/>
              <a:cs typeface="+mn-ea"/>
              <a:sym typeface="+mn-lt"/>
            </a:endParaRPr>
          </a:p>
        </p:txBody>
      </p:sp>
      <p:grpSp>
        <p:nvGrpSpPr>
          <p:cNvPr id="6" name="组合 6"/>
          <p:cNvGrpSpPr/>
          <p:nvPr/>
        </p:nvGrpSpPr>
        <p:grpSpPr bwMode="auto">
          <a:xfrm>
            <a:off x="1876234" y="838358"/>
            <a:ext cx="5247977" cy="5982808"/>
            <a:chOff x="694895" y="85823"/>
            <a:chExt cx="4833397" cy="5156200"/>
          </a:xfrm>
        </p:grpSpPr>
        <p:sp>
          <p:nvSpPr>
            <p:cNvPr id="50" name="任意多边形 49"/>
            <p:cNvSpPr/>
            <p:nvPr/>
          </p:nvSpPr>
          <p:spPr>
            <a:xfrm>
              <a:off x="1049956" y="91121"/>
              <a:ext cx="4478336" cy="5023921"/>
            </a:xfrm>
            <a:custGeom>
              <a:avLst/>
              <a:gdLst>
                <a:gd name="connsiteX0" fmla="*/ 0 w 3810000"/>
                <a:gd name="connsiteY0" fmla="*/ 0 h 5181600"/>
                <a:gd name="connsiteX1" fmla="*/ 1079500 w 3810000"/>
                <a:gd name="connsiteY1" fmla="*/ 5181600 h 5181600"/>
                <a:gd name="connsiteX2" fmla="*/ 3810000 w 3810000"/>
                <a:gd name="connsiteY2" fmla="*/ 5181600 h 5181600"/>
                <a:gd name="connsiteX3" fmla="*/ 2514600 w 3810000"/>
                <a:gd name="connsiteY3" fmla="*/ 12700 h 5181600"/>
                <a:gd name="connsiteX4" fmla="*/ 0 w 3810000"/>
                <a:gd name="connsiteY4" fmla="*/ 0 h 5181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00" h="5181600">
                  <a:moveTo>
                    <a:pt x="0" y="0"/>
                  </a:moveTo>
                  <a:lnTo>
                    <a:pt x="1079500" y="5181600"/>
                  </a:lnTo>
                  <a:lnTo>
                    <a:pt x="3810000" y="5181600"/>
                  </a:lnTo>
                  <a:lnTo>
                    <a:pt x="2514600" y="127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1559C">
                <a:alpha val="68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0" hangingPunct="0">
                <a:lnSpc>
                  <a:spcPct val="150000"/>
                </a:lnSpc>
                <a:defRPr/>
              </a:pPr>
              <a:endParaRPr lang="zh-CN" altLang="en-US" sz="1600">
                <a:latin typeface="Arial" panose="020B0604020202020204" pitchFamily="34" charset="0"/>
                <a:ea typeface="微软雅黑" panose="020B0503020204020204" pitchFamily="34" charset="-122"/>
                <a:sym typeface="Arial" panose="020B0604020202020204" pitchFamily="34" charset="0"/>
              </a:endParaRPr>
            </a:p>
          </p:txBody>
        </p:sp>
        <p:sp>
          <p:nvSpPr>
            <p:cNvPr id="2" name="任意多边形 1"/>
            <p:cNvSpPr/>
            <p:nvPr/>
          </p:nvSpPr>
          <p:spPr>
            <a:xfrm>
              <a:off x="694895" y="85823"/>
              <a:ext cx="4478545" cy="5156200"/>
            </a:xfrm>
            <a:custGeom>
              <a:avLst/>
              <a:gdLst>
                <a:gd name="connsiteX0" fmla="*/ 0 w 3810000"/>
                <a:gd name="connsiteY0" fmla="*/ 0 h 5181600"/>
                <a:gd name="connsiteX1" fmla="*/ 1079500 w 3810000"/>
                <a:gd name="connsiteY1" fmla="*/ 5181600 h 5181600"/>
                <a:gd name="connsiteX2" fmla="*/ 3810000 w 3810000"/>
                <a:gd name="connsiteY2" fmla="*/ 5181600 h 5181600"/>
                <a:gd name="connsiteX3" fmla="*/ 2514600 w 3810000"/>
                <a:gd name="connsiteY3" fmla="*/ 12700 h 5181600"/>
                <a:gd name="connsiteX4" fmla="*/ 0 w 3810000"/>
                <a:gd name="connsiteY4" fmla="*/ 0 h 5181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00" h="5181600">
                  <a:moveTo>
                    <a:pt x="0" y="0"/>
                  </a:moveTo>
                  <a:lnTo>
                    <a:pt x="1079500" y="5181600"/>
                  </a:lnTo>
                  <a:lnTo>
                    <a:pt x="3810000" y="5181600"/>
                  </a:lnTo>
                  <a:lnTo>
                    <a:pt x="2514600" y="127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1559C">
                <a:alpha val="68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0" hangingPunct="0">
                <a:lnSpc>
                  <a:spcPct val="150000"/>
                </a:lnSpc>
                <a:defRPr/>
              </a:pPr>
              <a:endParaRPr lang="zh-CN" altLang="en-US" sz="1600">
                <a:latin typeface="Arial" panose="020B0604020202020204" pitchFamily="34" charset="0"/>
                <a:ea typeface="微软雅黑" panose="020B0503020204020204" pitchFamily="34" charset="-122"/>
                <a:sym typeface="Arial" panose="020B0604020202020204" pitchFamily="34" charset="0"/>
              </a:endParaRPr>
            </a:p>
          </p:txBody>
        </p:sp>
      </p:grpSp>
      <p:sp>
        <p:nvSpPr>
          <p:cNvPr id="15" name="矩形 14"/>
          <p:cNvSpPr/>
          <p:nvPr/>
        </p:nvSpPr>
        <p:spPr>
          <a:xfrm>
            <a:off x="9027407" y="1874573"/>
            <a:ext cx="2400935" cy="5835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>
              <a:spcBef>
                <a:spcPct val="20000"/>
              </a:spcBef>
            </a:pPr>
            <a:r>
              <a:rPr lang="en-US" altLang="zh-CN" sz="3200" b="1" spc="500" dirty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苹方-简" panose="020B0400000000000000" charset="-122"/>
                <a:ea typeface="苹方-简" panose="020B0400000000000000" charset="-122"/>
                <a:cs typeface="宋体" panose="02010600030101010101" pitchFamily="2" charset="-122"/>
                <a:sym typeface="Arial" panose="020B0604020202020204" pitchFamily="34" charset="0"/>
              </a:rPr>
              <a:t>OCR </a:t>
            </a:r>
            <a:r>
              <a:rPr lang="zh-CN" altLang="en-US" sz="3200" b="1" spc="500" dirty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苹方-简" panose="020B0400000000000000" charset="-122"/>
                <a:ea typeface="苹方-简" panose="020B0400000000000000" charset="-122"/>
                <a:cs typeface="宋体" panose="02010600030101010101" pitchFamily="2" charset="-122"/>
                <a:sym typeface="Arial" panose="020B0604020202020204" pitchFamily="34" charset="0"/>
              </a:rPr>
              <a:t>识别</a:t>
            </a:r>
            <a:endParaRPr lang="zh-CN" altLang="en-US" sz="3200" b="1" spc="500" dirty="0">
              <a:solidFill>
                <a:schemeClr val="tx1">
                  <a:lumMod val="85000"/>
                  <a:lumOff val="15000"/>
                </a:schemeClr>
              </a:solidFill>
              <a:uFillTx/>
              <a:latin typeface="苹方-简" panose="020B0400000000000000" charset="-122"/>
              <a:ea typeface="苹方-简" panose="020B0400000000000000" charset="-122"/>
              <a:cs typeface="宋体" panose="02010600030101010101" pitchFamily="2" charset="-122"/>
              <a:sym typeface="Arial" panose="020B0604020202020204" pitchFamily="34" charset="0"/>
            </a:endParaRPr>
          </a:p>
        </p:txBody>
      </p:sp>
      <p:cxnSp>
        <p:nvCxnSpPr>
          <p:cNvPr id="16" name="直接连接符 15"/>
          <p:cNvCxnSpPr/>
          <p:nvPr/>
        </p:nvCxnSpPr>
        <p:spPr>
          <a:xfrm>
            <a:off x="7648862" y="2718303"/>
            <a:ext cx="3779585" cy="0"/>
          </a:xfrm>
          <a:prstGeom prst="line">
            <a:avLst/>
          </a:prstGeom>
          <a:ln w="38100">
            <a:solidFill>
              <a:srgbClr val="11559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/>
          <p:cNvSpPr txBox="1"/>
          <p:nvPr/>
        </p:nvSpPr>
        <p:spPr>
          <a:xfrm>
            <a:off x="7649210" y="2978785"/>
            <a:ext cx="3779520" cy="340995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>
              <a:lnSpc>
                <a:spcPct val="150000"/>
              </a:lnSpc>
            </a:pPr>
            <a:r>
              <a:rPr lang="zh-CN" altLang="en-US" sz="1400"/>
              <a:t>支持报关单（入库/出库）、提单、品质单据、重量单据。识别结果回填业务单，可人工修正后归档。入库预约、收货登记、出库开单均已内嵌上传入口，不必先到 </a:t>
            </a:r>
            <a:r>
              <a:rPr lang="en-US" altLang="zh-CN" sz="1400"/>
              <a:t>OCR </a:t>
            </a:r>
            <a:r>
              <a:rPr lang="zh-CN" altLang="en-US" sz="1400"/>
              <a:t>页再补录；本页用于集中查看任务状态（已回填 / 待修正 / 已归档）。字段范围随品质参数等系统配置同步。</a:t>
            </a:r>
            <a:endParaRPr lang="zh-CN" altLang="en-US" sz="1400"/>
          </a:p>
        </p:txBody>
      </p:sp>
      <p:pic>
        <p:nvPicPr>
          <p:cNvPr id="7" name="图片 6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9075" y="1950085"/>
            <a:ext cx="7254875" cy="4114800"/>
          </a:xfrm>
          <a:prstGeom prst="rect">
            <a:avLst/>
          </a:prstGeom>
        </p:spPr>
      </p:pic>
    </p:spTree>
  </p:cSld>
  <p:clrMapOvr>
    <a:masterClrMapping/>
  </p:clrMapOvr>
  <p:transition spd="slow" advClick="0" advTm="2000"/>
  <p:timing>
    <p:tnLst>
      <p:par>
        <p:cTn id="1" dur="indefinite" restart="never" nodeType="tmRoot"/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五边形 24"/>
          <p:cNvSpPr/>
          <p:nvPr/>
        </p:nvSpPr>
        <p:spPr>
          <a:xfrm>
            <a:off x="0" y="0"/>
            <a:ext cx="2247900" cy="838200"/>
          </a:xfrm>
          <a:custGeom>
            <a:avLst/>
            <a:gdLst>
              <a:gd name="connsiteX0" fmla="*/ 0 w 2641600"/>
              <a:gd name="connsiteY0" fmla="*/ 0 h 787400"/>
              <a:gd name="connsiteX1" fmla="*/ 2247900 w 2641600"/>
              <a:gd name="connsiteY1" fmla="*/ 0 h 787400"/>
              <a:gd name="connsiteX2" fmla="*/ 2641600 w 2641600"/>
              <a:gd name="connsiteY2" fmla="*/ 393700 h 787400"/>
              <a:gd name="connsiteX3" fmla="*/ 2247900 w 2641600"/>
              <a:gd name="connsiteY3" fmla="*/ 787400 h 787400"/>
              <a:gd name="connsiteX4" fmla="*/ 0 w 2641600"/>
              <a:gd name="connsiteY4" fmla="*/ 787400 h 787400"/>
              <a:gd name="connsiteX5" fmla="*/ 0 w 2641600"/>
              <a:gd name="connsiteY5" fmla="*/ 0 h 787400"/>
              <a:gd name="connsiteX0-1" fmla="*/ 0 w 2247900"/>
              <a:gd name="connsiteY0-2" fmla="*/ 0 h 787400"/>
              <a:gd name="connsiteX1-3" fmla="*/ 2247900 w 2247900"/>
              <a:gd name="connsiteY1-4" fmla="*/ 0 h 787400"/>
              <a:gd name="connsiteX2-5" fmla="*/ 2247900 w 2247900"/>
              <a:gd name="connsiteY2-6" fmla="*/ 787400 h 787400"/>
              <a:gd name="connsiteX3-7" fmla="*/ 0 w 2247900"/>
              <a:gd name="connsiteY3-8" fmla="*/ 787400 h 787400"/>
              <a:gd name="connsiteX4-9" fmla="*/ 0 w 2247900"/>
              <a:gd name="connsiteY4-10" fmla="*/ 0 h 787400"/>
              <a:gd name="connsiteX0-11" fmla="*/ 0 w 2247900"/>
              <a:gd name="connsiteY0-12" fmla="*/ 0 h 787400"/>
              <a:gd name="connsiteX1-13" fmla="*/ 2158690 w 2247900"/>
              <a:gd name="connsiteY1-14" fmla="*/ 0 h 787400"/>
              <a:gd name="connsiteX2-15" fmla="*/ 2247900 w 2247900"/>
              <a:gd name="connsiteY2-16" fmla="*/ 787400 h 787400"/>
              <a:gd name="connsiteX3-17" fmla="*/ 0 w 2247900"/>
              <a:gd name="connsiteY3-18" fmla="*/ 787400 h 787400"/>
              <a:gd name="connsiteX4-19" fmla="*/ 0 w 2247900"/>
              <a:gd name="connsiteY4-20" fmla="*/ 0 h 787400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</a:cxnLst>
            <a:rect l="l" t="t" r="r" b="b"/>
            <a:pathLst>
              <a:path w="2247900" h="787400">
                <a:moveTo>
                  <a:pt x="0" y="0"/>
                </a:moveTo>
                <a:lnTo>
                  <a:pt x="2158690" y="0"/>
                </a:lnTo>
                <a:lnTo>
                  <a:pt x="2247900" y="787400"/>
                </a:lnTo>
                <a:lnTo>
                  <a:pt x="0" y="787400"/>
                </a:lnTo>
                <a:lnTo>
                  <a:pt x="0" y="0"/>
                </a:lnTo>
                <a:close/>
              </a:path>
            </a:pathLst>
          </a:cu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2400" dirty="0">
                <a:latin typeface="苹方-简" panose="020B0400000000000000" charset="-122"/>
                <a:ea typeface="苹方-简" panose="020B0400000000000000" charset="-122"/>
                <a:cs typeface="+mn-ea"/>
                <a:sym typeface="+mn-lt"/>
              </a:rPr>
              <a:t>平台前端</a:t>
            </a:r>
            <a:endParaRPr lang="zh-CN" altLang="en-US" sz="2400" dirty="0">
              <a:latin typeface="苹方-简" panose="020B0400000000000000" charset="-122"/>
              <a:ea typeface="苹方-简" panose="020B0400000000000000" charset="-122"/>
              <a:cs typeface="+mn-ea"/>
              <a:sym typeface="+mn-lt"/>
            </a:endParaRPr>
          </a:p>
        </p:txBody>
      </p:sp>
      <p:grpSp>
        <p:nvGrpSpPr>
          <p:cNvPr id="6" name="组合 6"/>
          <p:cNvGrpSpPr/>
          <p:nvPr/>
        </p:nvGrpSpPr>
        <p:grpSpPr bwMode="auto">
          <a:xfrm>
            <a:off x="1876234" y="838358"/>
            <a:ext cx="5247977" cy="5982808"/>
            <a:chOff x="694895" y="85823"/>
            <a:chExt cx="4833397" cy="5156200"/>
          </a:xfrm>
        </p:grpSpPr>
        <p:sp>
          <p:nvSpPr>
            <p:cNvPr id="50" name="任意多边形 49"/>
            <p:cNvSpPr/>
            <p:nvPr/>
          </p:nvSpPr>
          <p:spPr>
            <a:xfrm>
              <a:off x="1049956" y="91121"/>
              <a:ext cx="4478336" cy="5023921"/>
            </a:xfrm>
            <a:custGeom>
              <a:avLst/>
              <a:gdLst>
                <a:gd name="connsiteX0" fmla="*/ 0 w 3810000"/>
                <a:gd name="connsiteY0" fmla="*/ 0 h 5181600"/>
                <a:gd name="connsiteX1" fmla="*/ 1079500 w 3810000"/>
                <a:gd name="connsiteY1" fmla="*/ 5181600 h 5181600"/>
                <a:gd name="connsiteX2" fmla="*/ 3810000 w 3810000"/>
                <a:gd name="connsiteY2" fmla="*/ 5181600 h 5181600"/>
                <a:gd name="connsiteX3" fmla="*/ 2514600 w 3810000"/>
                <a:gd name="connsiteY3" fmla="*/ 12700 h 5181600"/>
                <a:gd name="connsiteX4" fmla="*/ 0 w 3810000"/>
                <a:gd name="connsiteY4" fmla="*/ 0 h 5181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00" h="5181600">
                  <a:moveTo>
                    <a:pt x="0" y="0"/>
                  </a:moveTo>
                  <a:lnTo>
                    <a:pt x="1079500" y="5181600"/>
                  </a:lnTo>
                  <a:lnTo>
                    <a:pt x="3810000" y="5181600"/>
                  </a:lnTo>
                  <a:lnTo>
                    <a:pt x="2514600" y="127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1559C">
                <a:alpha val="68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0" hangingPunct="0">
                <a:lnSpc>
                  <a:spcPct val="150000"/>
                </a:lnSpc>
                <a:defRPr/>
              </a:pPr>
              <a:endParaRPr lang="zh-CN" altLang="en-US" sz="1600">
                <a:latin typeface="Arial" panose="020B0604020202020204" pitchFamily="34" charset="0"/>
                <a:ea typeface="微软雅黑" panose="020B0503020204020204" pitchFamily="34" charset="-122"/>
                <a:sym typeface="Arial" panose="020B0604020202020204" pitchFamily="34" charset="0"/>
              </a:endParaRPr>
            </a:p>
          </p:txBody>
        </p:sp>
        <p:sp>
          <p:nvSpPr>
            <p:cNvPr id="2" name="任意多边形 1"/>
            <p:cNvSpPr/>
            <p:nvPr/>
          </p:nvSpPr>
          <p:spPr>
            <a:xfrm>
              <a:off x="694895" y="85823"/>
              <a:ext cx="4478545" cy="5156200"/>
            </a:xfrm>
            <a:custGeom>
              <a:avLst/>
              <a:gdLst>
                <a:gd name="connsiteX0" fmla="*/ 0 w 3810000"/>
                <a:gd name="connsiteY0" fmla="*/ 0 h 5181600"/>
                <a:gd name="connsiteX1" fmla="*/ 1079500 w 3810000"/>
                <a:gd name="connsiteY1" fmla="*/ 5181600 h 5181600"/>
                <a:gd name="connsiteX2" fmla="*/ 3810000 w 3810000"/>
                <a:gd name="connsiteY2" fmla="*/ 5181600 h 5181600"/>
                <a:gd name="connsiteX3" fmla="*/ 2514600 w 3810000"/>
                <a:gd name="connsiteY3" fmla="*/ 12700 h 5181600"/>
                <a:gd name="connsiteX4" fmla="*/ 0 w 3810000"/>
                <a:gd name="connsiteY4" fmla="*/ 0 h 5181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00" h="5181600">
                  <a:moveTo>
                    <a:pt x="0" y="0"/>
                  </a:moveTo>
                  <a:lnTo>
                    <a:pt x="1079500" y="5181600"/>
                  </a:lnTo>
                  <a:lnTo>
                    <a:pt x="3810000" y="5181600"/>
                  </a:lnTo>
                  <a:lnTo>
                    <a:pt x="2514600" y="127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1559C">
                <a:alpha val="68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0" hangingPunct="0">
                <a:lnSpc>
                  <a:spcPct val="150000"/>
                </a:lnSpc>
                <a:defRPr/>
              </a:pPr>
              <a:endParaRPr lang="zh-CN" altLang="en-US" sz="1600">
                <a:latin typeface="Arial" panose="020B0604020202020204" pitchFamily="34" charset="0"/>
                <a:ea typeface="微软雅黑" panose="020B0503020204020204" pitchFamily="34" charset="-122"/>
                <a:sym typeface="Arial" panose="020B0604020202020204" pitchFamily="34" charset="0"/>
              </a:endParaRPr>
            </a:p>
          </p:txBody>
        </p:sp>
      </p:grpSp>
      <p:sp>
        <p:nvSpPr>
          <p:cNvPr id="15" name="矩形 14"/>
          <p:cNvSpPr/>
          <p:nvPr/>
        </p:nvSpPr>
        <p:spPr>
          <a:xfrm>
            <a:off x="9358242" y="1874573"/>
            <a:ext cx="2070100" cy="5835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>
              <a:spcBef>
                <a:spcPct val="20000"/>
              </a:spcBef>
            </a:pPr>
            <a:r>
              <a:rPr lang="zh-CN" altLang="en-US" sz="3200" b="1" spc="500" dirty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苹方-简" panose="020B0400000000000000" charset="-122"/>
                <a:ea typeface="苹方-简" panose="020B0400000000000000" charset="-122"/>
                <a:cs typeface="宋体" panose="02010600030101010101" pitchFamily="2" charset="-122"/>
                <a:sym typeface="Arial" panose="020B0604020202020204" pitchFamily="34" charset="0"/>
              </a:rPr>
              <a:t>操作日志</a:t>
            </a:r>
            <a:endParaRPr lang="zh-CN" altLang="en-US" sz="3200" b="1" spc="500" dirty="0">
              <a:solidFill>
                <a:schemeClr val="tx1">
                  <a:lumMod val="85000"/>
                  <a:lumOff val="15000"/>
                </a:schemeClr>
              </a:solidFill>
              <a:uFillTx/>
              <a:latin typeface="苹方-简" panose="020B0400000000000000" charset="-122"/>
              <a:ea typeface="苹方-简" panose="020B0400000000000000" charset="-122"/>
              <a:cs typeface="宋体" panose="02010600030101010101" pitchFamily="2" charset="-122"/>
              <a:sym typeface="Arial" panose="020B0604020202020204" pitchFamily="34" charset="0"/>
            </a:endParaRPr>
          </a:p>
        </p:txBody>
      </p:sp>
      <p:cxnSp>
        <p:nvCxnSpPr>
          <p:cNvPr id="16" name="直接连接符 15"/>
          <p:cNvCxnSpPr/>
          <p:nvPr/>
        </p:nvCxnSpPr>
        <p:spPr>
          <a:xfrm>
            <a:off x="7648862" y="2718303"/>
            <a:ext cx="3779585" cy="0"/>
          </a:xfrm>
          <a:prstGeom prst="line">
            <a:avLst/>
          </a:prstGeom>
          <a:ln w="38100">
            <a:solidFill>
              <a:srgbClr val="11559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/>
          <p:cNvSpPr txBox="1"/>
          <p:nvPr/>
        </p:nvSpPr>
        <p:spPr>
          <a:xfrm>
            <a:off x="7649210" y="2978785"/>
            <a:ext cx="3779520" cy="340995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>
              <a:lnSpc>
                <a:spcPct val="150000"/>
              </a:lnSpc>
            </a:pPr>
            <a:r>
              <a:rPr lang="zh-CN" altLang="en-US" sz="1400"/>
              <a:t>入出库、移库、生产、堆位片区变更、关务、基础数据等统一留存：操作人、时间、模块、业务单号、报关单号、生产批次、修改前后值。支持模块快捷筛选与时间段查询；关务操作可单独过滤。</a:t>
            </a:r>
            <a:endParaRPr lang="zh-CN" altLang="en-US" sz="1400"/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9075" y="1950085"/>
            <a:ext cx="7254240" cy="4114800"/>
          </a:xfrm>
          <a:prstGeom prst="rect">
            <a:avLst/>
          </a:prstGeom>
        </p:spPr>
      </p:pic>
    </p:spTree>
  </p:cSld>
  <p:clrMapOvr>
    <a:masterClrMapping/>
  </p:clrMapOvr>
  <p:transition spd="slow" advClick="0" advTm="2000"/>
  <p:timing>
    <p:tnLst>
      <p:par>
        <p:cTn id="1" dur="indefinite" restart="never" nodeType="tmRoot"/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/>
          <p:nvPr/>
        </p:nvSpPr>
        <p:spPr>
          <a:xfrm>
            <a:off x="-8778" y="2187526"/>
            <a:ext cx="3441344" cy="2467516"/>
          </a:xfrm>
          <a:custGeom>
            <a:avLst/>
            <a:gdLst>
              <a:gd name="connsiteX0" fmla="*/ 0 w 3441344"/>
              <a:gd name="connsiteY0" fmla="*/ 0 h 2467516"/>
              <a:gd name="connsiteX1" fmla="*/ 3441344 w 3441344"/>
              <a:gd name="connsiteY1" fmla="*/ 0 h 2467516"/>
              <a:gd name="connsiteX2" fmla="*/ 3441344 w 3441344"/>
              <a:gd name="connsiteY2" fmla="*/ 2467516 h 2467516"/>
              <a:gd name="connsiteX3" fmla="*/ 0 w 3441344"/>
              <a:gd name="connsiteY3" fmla="*/ 2467516 h 2467516"/>
              <a:gd name="connsiteX4" fmla="*/ 0 w 3441344"/>
              <a:gd name="connsiteY4" fmla="*/ 0 h 2467516"/>
              <a:gd name="connsiteX0-1" fmla="*/ 0 w 3441344"/>
              <a:gd name="connsiteY0-2" fmla="*/ 0 h 2467516"/>
              <a:gd name="connsiteX1-3" fmla="*/ 3441344 w 3441344"/>
              <a:gd name="connsiteY1-4" fmla="*/ 0 h 2467516"/>
              <a:gd name="connsiteX2-5" fmla="*/ 3441344 w 3441344"/>
              <a:gd name="connsiteY2-6" fmla="*/ 2467516 h 2467516"/>
              <a:gd name="connsiteX3-7" fmla="*/ 2822366 w 3441344"/>
              <a:gd name="connsiteY3-8" fmla="*/ 2461846 h 2467516"/>
              <a:gd name="connsiteX4-9" fmla="*/ 0 w 3441344"/>
              <a:gd name="connsiteY4-10" fmla="*/ 2467516 h 2467516"/>
              <a:gd name="connsiteX5" fmla="*/ 0 w 3441344"/>
              <a:gd name="connsiteY5" fmla="*/ 0 h 2467516"/>
              <a:gd name="connsiteX0-11" fmla="*/ 0 w 3441344"/>
              <a:gd name="connsiteY0-12" fmla="*/ 0 h 2467516"/>
              <a:gd name="connsiteX1-13" fmla="*/ 3441344 w 3441344"/>
              <a:gd name="connsiteY1-14" fmla="*/ 0 h 2467516"/>
              <a:gd name="connsiteX2-15" fmla="*/ 3441344 w 3441344"/>
              <a:gd name="connsiteY2-16" fmla="*/ 2467516 h 2467516"/>
              <a:gd name="connsiteX3-17" fmla="*/ 2822366 w 3441344"/>
              <a:gd name="connsiteY3-18" fmla="*/ 2461846 h 2467516"/>
              <a:gd name="connsiteX4-19" fmla="*/ 2822366 w 3441344"/>
              <a:gd name="connsiteY4-20" fmla="*/ 2461846 h 2467516"/>
              <a:gd name="connsiteX5-21" fmla="*/ 0 w 3441344"/>
              <a:gd name="connsiteY5-22" fmla="*/ 2467516 h 2467516"/>
              <a:gd name="connsiteX6" fmla="*/ 0 w 3441344"/>
              <a:gd name="connsiteY6" fmla="*/ 0 h 2467516"/>
              <a:gd name="connsiteX0-23" fmla="*/ 0 w 3441344"/>
              <a:gd name="connsiteY0-24" fmla="*/ 0 h 2467516"/>
              <a:gd name="connsiteX1-25" fmla="*/ 3441344 w 3441344"/>
              <a:gd name="connsiteY1-26" fmla="*/ 0 h 2467516"/>
              <a:gd name="connsiteX2-27" fmla="*/ 2822366 w 3441344"/>
              <a:gd name="connsiteY2-28" fmla="*/ 2461846 h 2467516"/>
              <a:gd name="connsiteX3-29" fmla="*/ 2822366 w 3441344"/>
              <a:gd name="connsiteY3-30" fmla="*/ 2461846 h 2467516"/>
              <a:gd name="connsiteX4-31" fmla="*/ 0 w 3441344"/>
              <a:gd name="connsiteY4-32" fmla="*/ 2467516 h 2467516"/>
              <a:gd name="connsiteX5-33" fmla="*/ 0 w 3441344"/>
              <a:gd name="connsiteY5-34" fmla="*/ 0 h 2467516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  <a:cxn ang="0">
                <a:pos x="connsiteX5-21" y="connsiteY5-22"/>
              </a:cxn>
            </a:cxnLst>
            <a:rect l="l" t="t" r="r" b="b"/>
            <a:pathLst>
              <a:path w="3441344" h="2467516">
                <a:moveTo>
                  <a:pt x="0" y="0"/>
                </a:moveTo>
                <a:lnTo>
                  <a:pt x="3441344" y="0"/>
                </a:lnTo>
                <a:lnTo>
                  <a:pt x="2822366" y="2461846"/>
                </a:lnTo>
                <a:lnTo>
                  <a:pt x="2822366" y="2461846"/>
                </a:lnTo>
                <a:lnTo>
                  <a:pt x="0" y="2467516"/>
                </a:lnTo>
                <a:lnTo>
                  <a:pt x="0" y="0"/>
                </a:lnTo>
                <a:close/>
              </a:path>
            </a:pathLst>
          </a:custGeom>
          <a:solidFill>
            <a:srgbClr val="11559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  <a:sym typeface="+mn-lt"/>
            </a:endParaRPr>
          </a:p>
        </p:txBody>
      </p:sp>
      <p:sp>
        <p:nvSpPr>
          <p:cNvPr id="4" name="矩形 3"/>
          <p:cNvSpPr/>
          <p:nvPr/>
        </p:nvSpPr>
        <p:spPr>
          <a:xfrm>
            <a:off x="0" y="2310063"/>
            <a:ext cx="12192000" cy="2229853"/>
          </a:xfrm>
          <a:prstGeom prst="rect">
            <a:avLst/>
          </a:prstGeom>
          <a:solidFill>
            <a:srgbClr val="404F6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  <a:sym typeface="+mn-lt"/>
            </a:endParaRPr>
          </a:p>
        </p:txBody>
      </p:sp>
      <p:sp>
        <p:nvSpPr>
          <p:cNvPr id="13" name="矩形 4"/>
          <p:cNvSpPr/>
          <p:nvPr/>
        </p:nvSpPr>
        <p:spPr>
          <a:xfrm>
            <a:off x="-8778" y="2315865"/>
            <a:ext cx="3371889" cy="2235067"/>
          </a:xfrm>
          <a:custGeom>
            <a:avLst/>
            <a:gdLst>
              <a:gd name="connsiteX0" fmla="*/ 0 w 3441344"/>
              <a:gd name="connsiteY0" fmla="*/ 0 h 2467516"/>
              <a:gd name="connsiteX1" fmla="*/ 3441344 w 3441344"/>
              <a:gd name="connsiteY1" fmla="*/ 0 h 2467516"/>
              <a:gd name="connsiteX2" fmla="*/ 3441344 w 3441344"/>
              <a:gd name="connsiteY2" fmla="*/ 2467516 h 2467516"/>
              <a:gd name="connsiteX3" fmla="*/ 0 w 3441344"/>
              <a:gd name="connsiteY3" fmla="*/ 2467516 h 2467516"/>
              <a:gd name="connsiteX4" fmla="*/ 0 w 3441344"/>
              <a:gd name="connsiteY4" fmla="*/ 0 h 2467516"/>
              <a:gd name="connsiteX0-1" fmla="*/ 0 w 3441344"/>
              <a:gd name="connsiteY0-2" fmla="*/ 0 h 2467516"/>
              <a:gd name="connsiteX1-3" fmla="*/ 3441344 w 3441344"/>
              <a:gd name="connsiteY1-4" fmla="*/ 0 h 2467516"/>
              <a:gd name="connsiteX2-5" fmla="*/ 3441344 w 3441344"/>
              <a:gd name="connsiteY2-6" fmla="*/ 2467516 h 2467516"/>
              <a:gd name="connsiteX3-7" fmla="*/ 2822366 w 3441344"/>
              <a:gd name="connsiteY3-8" fmla="*/ 2461846 h 2467516"/>
              <a:gd name="connsiteX4-9" fmla="*/ 0 w 3441344"/>
              <a:gd name="connsiteY4-10" fmla="*/ 2467516 h 2467516"/>
              <a:gd name="connsiteX5" fmla="*/ 0 w 3441344"/>
              <a:gd name="connsiteY5" fmla="*/ 0 h 2467516"/>
              <a:gd name="connsiteX0-11" fmla="*/ 0 w 3441344"/>
              <a:gd name="connsiteY0-12" fmla="*/ 0 h 2467516"/>
              <a:gd name="connsiteX1-13" fmla="*/ 3441344 w 3441344"/>
              <a:gd name="connsiteY1-14" fmla="*/ 0 h 2467516"/>
              <a:gd name="connsiteX2-15" fmla="*/ 3441344 w 3441344"/>
              <a:gd name="connsiteY2-16" fmla="*/ 2467516 h 2467516"/>
              <a:gd name="connsiteX3-17" fmla="*/ 2822366 w 3441344"/>
              <a:gd name="connsiteY3-18" fmla="*/ 2461846 h 2467516"/>
              <a:gd name="connsiteX4-19" fmla="*/ 2822366 w 3441344"/>
              <a:gd name="connsiteY4-20" fmla="*/ 2461846 h 2467516"/>
              <a:gd name="connsiteX5-21" fmla="*/ 0 w 3441344"/>
              <a:gd name="connsiteY5-22" fmla="*/ 2467516 h 2467516"/>
              <a:gd name="connsiteX6" fmla="*/ 0 w 3441344"/>
              <a:gd name="connsiteY6" fmla="*/ 0 h 2467516"/>
              <a:gd name="connsiteX0-23" fmla="*/ 0 w 3441344"/>
              <a:gd name="connsiteY0-24" fmla="*/ 0 h 2467516"/>
              <a:gd name="connsiteX1-25" fmla="*/ 3441344 w 3441344"/>
              <a:gd name="connsiteY1-26" fmla="*/ 0 h 2467516"/>
              <a:gd name="connsiteX2-27" fmla="*/ 2822366 w 3441344"/>
              <a:gd name="connsiteY2-28" fmla="*/ 2461846 h 2467516"/>
              <a:gd name="connsiteX3-29" fmla="*/ 2822366 w 3441344"/>
              <a:gd name="connsiteY3-30" fmla="*/ 2461846 h 2467516"/>
              <a:gd name="connsiteX4-31" fmla="*/ 0 w 3441344"/>
              <a:gd name="connsiteY4-32" fmla="*/ 2467516 h 2467516"/>
              <a:gd name="connsiteX5-33" fmla="*/ 0 w 3441344"/>
              <a:gd name="connsiteY5-34" fmla="*/ 0 h 2467516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  <a:cxn ang="0">
                <a:pos x="connsiteX5-21" y="connsiteY5-22"/>
              </a:cxn>
            </a:cxnLst>
            <a:rect l="l" t="t" r="r" b="b"/>
            <a:pathLst>
              <a:path w="3441344" h="2467516">
                <a:moveTo>
                  <a:pt x="0" y="0"/>
                </a:moveTo>
                <a:lnTo>
                  <a:pt x="3441344" y="0"/>
                </a:lnTo>
                <a:lnTo>
                  <a:pt x="2822366" y="2461846"/>
                </a:lnTo>
                <a:lnTo>
                  <a:pt x="2822366" y="2461846"/>
                </a:lnTo>
                <a:lnTo>
                  <a:pt x="0" y="2467516"/>
                </a:lnTo>
                <a:lnTo>
                  <a:pt x="0" y="0"/>
                </a:lnTo>
                <a:close/>
              </a:path>
            </a:pathLst>
          </a:custGeom>
          <a:solidFill>
            <a:srgbClr val="11559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  <a:sym typeface="+mn-lt"/>
            </a:endParaRPr>
          </a:p>
        </p:txBody>
      </p:sp>
      <p:sp>
        <p:nvSpPr>
          <p:cNvPr id="34" name="文本框 33"/>
          <p:cNvSpPr txBox="1"/>
          <p:nvPr/>
        </p:nvSpPr>
        <p:spPr>
          <a:xfrm>
            <a:off x="266700" y="2909115"/>
            <a:ext cx="6243320" cy="1107440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r>
              <a:rPr lang="en-US" altLang="zh-CN" sz="7200" dirty="0">
                <a:solidFill>
                  <a:schemeClr val="bg1"/>
                </a:solidFill>
                <a:cs typeface="+mn-ea"/>
                <a:sym typeface="+mn-lt"/>
              </a:rPr>
              <a:t>PART    03</a:t>
            </a:r>
            <a:endParaRPr lang="en-US" altLang="zh-CN" sz="7200" dirty="0">
              <a:solidFill>
                <a:schemeClr val="bg1"/>
              </a:solidFill>
              <a:cs typeface="+mn-ea"/>
              <a:sym typeface="+mn-lt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7786129" y="2921497"/>
            <a:ext cx="3571240" cy="1015365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r"/>
            <a:r>
              <a:rPr lang="zh-CN" altLang="en-US" sz="6600" b="1" spc="400" dirty="0">
                <a:solidFill>
                  <a:schemeClr val="bg1"/>
                </a:solidFill>
                <a:uFillTx/>
                <a:cs typeface="+mn-ea"/>
                <a:sym typeface="+mn-lt"/>
              </a:rPr>
              <a:t>开发</a:t>
            </a:r>
            <a:r>
              <a:rPr lang="zh-CN" altLang="en-US" sz="6600" b="1" spc="400" dirty="0">
                <a:solidFill>
                  <a:schemeClr val="bg1"/>
                </a:solidFill>
                <a:uFillTx/>
                <a:cs typeface="+mn-ea"/>
                <a:sym typeface="+mn-lt"/>
              </a:rPr>
              <a:t>排期</a:t>
            </a:r>
            <a:endParaRPr lang="zh-CN" altLang="en-US" sz="6600" b="1" spc="400" dirty="0">
              <a:solidFill>
                <a:schemeClr val="bg1"/>
              </a:solidFill>
              <a:uFillTx/>
              <a:cs typeface="+mn-ea"/>
              <a:sym typeface="+mn-lt"/>
            </a:endParaRPr>
          </a:p>
        </p:txBody>
      </p:sp>
    </p:spTree>
  </p:cSld>
  <p:clrMapOvr>
    <a:masterClrMapping/>
  </p:clrMapOvr>
  <p:transition spd="slow" advClick="0" advTm="2000"/>
  <p:timing>
    <p:tnLst>
      <p:par>
        <p:cTn id="1" dur="indefinite" restart="never" nodeType="tmRoot"/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五边形 24"/>
          <p:cNvSpPr/>
          <p:nvPr/>
        </p:nvSpPr>
        <p:spPr>
          <a:xfrm>
            <a:off x="0" y="0"/>
            <a:ext cx="2247900" cy="838200"/>
          </a:xfrm>
          <a:custGeom>
            <a:avLst/>
            <a:gdLst>
              <a:gd name="connsiteX0" fmla="*/ 0 w 2641600"/>
              <a:gd name="connsiteY0" fmla="*/ 0 h 787400"/>
              <a:gd name="connsiteX1" fmla="*/ 2247900 w 2641600"/>
              <a:gd name="connsiteY1" fmla="*/ 0 h 787400"/>
              <a:gd name="connsiteX2" fmla="*/ 2641600 w 2641600"/>
              <a:gd name="connsiteY2" fmla="*/ 393700 h 787400"/>
              <a:gd name="connsiteX3" fmla="*/ 2247900 w 2641600"/>
              <a:gd name="connsiteY3" fmla="*/ 787400 h 787400"/>
              <a:gd name="connsiteX4" fmla="*/ 0 w 2641600"/>
              <a:gd name="connsiteY4" fmla="*/ 787400 h 787400"/>
              <a:gd name="connsiteX5" fmla="*/ 0 w 2641600"/>
              <a:gd name="connsiteY5" fmla="*/ 0 h 787400"/>
              <a:gd name="connsiteX0-1" fmla="*/ 0 w 2247900"/>
              <a:gd name="connsiteY0-2" fmla="*/ 0 h 787400"/>
              <a:gd name="connsiteX1-3" fmla="*/ 2247900 w 2247900"/>
              <a:gd name="connsiteY1-4" fmla="*/ 0 h 787400"/>
              <a:gd name="connsiteX2-5" fmla="*/ 2247900 w 2247900"/>
              <a:gd name="connsiteY2-6" fmla="*/ 787400 h 787400"/>
              <a:gd name="connsiteX3-7" fmla="*/ 0 w 2247900"/>
              <a:gd name="connsiteY3-8" fmla="*/ 787400 h 787400"/>
              <a:gd name="connsiteX4-9" fmla="*/ 0 w 2247900"/>
              <a:gd name="connsiteY4-10" fmla="*/ 0 h 787400"/>
              <a:gd name="connsiteX0-11" fmla="*/ 0 w 2247900"/>
              <a:gd name="connsiteY0-12" fmla="*/ 0 h 787400"/>
              <a:gd name="connsiteX1-13" fmla="*/ 2158690 w 2247900"/>
              <a:gd name="connsiteY1-14" fmla="*/ 0 h 787400"/>
              <a:gd name="connsiteX2-15" fmla="*/ 2247900 w 2247900"/>
              <a:gd name="connsiteY2-16" fmla="*/ 787400 h 787400"/>
              <a:gd name="connsiteX3-17" fmla="*/ 0 w 2247900"/>
              <a:gd name="connsiteY3-18" fmla="*/ 787400 h 787400"/>
              <a:gd name="connsiteX4-19" fmla="*/ 0 w 2247900"/>
              <a:gd name="connsiteY4-20" fmla="*/ 0 h 787400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</a:cxnLst>
            <a:rect l="l" t="t" r="r" b="b"/>
            <a:pathLst>
              <a:path w="2247900" h="787400">
                <a:moveTo>
                  <a:pt x="0" y="0"/>
                </a:moveTo>
                <a:lnTo>
                  <a:pt x="2158690" y="0"/>
                </a:lnTo>
                <a:lnTo>
                  <a:pt x="2247900" y="787400"/>
                </a:lnTo>
                <a:lnTo>
                  <a:pt x="0" y="787400"/>
                </a:lnTo>
                <a:lnTo>
                  <a:pt x="0" y="0"/>
                </a:lnTo>
                <a:close/>
              </a:path>
            </a:pathLst>
          </a:cu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 sz="2400" dirty="0">
                <a:latin typeface="苹方-简" panose="020B0400000000000000" charset="-122"/>
                <a:ea typeface="苹方-简" panose="020B0400000000000000" charset="-122"/>
                <a:cs typeface="+mn-ea"/>
                <a:sym typeface="+mn-lt"/>
              </a:rPr>
              <a:t>研发进展</a:t>
            </a:r>
            <a:endParaRPr lang="zh-CN" altLang="en-US" sz="2400" dirty="0">
              <a:latin typeface="苹方-简" panose="020B0400000000000000" charset="-122"/>
              <a:ea typeface="苹方-简" panose="020B0400000000000000" charset="-122"/>
              <a:cs typeface="+mn-ea"/>
              <a:sym typeface="+mn-lt"/>
            </a:endParaRPr>
          </a:p>
        </p:txBody>
      </p:sp>
      <p:sp>
        <p:nvSpPr>
          <p:cNvPr id="3" name="矩形 2"/>
          <p:cNvSpPr/>
          <p:nvPr/>
        </p:nvSpPr>
        <p:spPr>
          <a:xfrm>
            <a:off x="2247900" y="188595"/>
            <a:ext cx="5273675" cy="429895"/>
          </a:xfrm>
          <a:prstGeom prst="rect">
            <a:avLst/>
          </a:prstGeom>
        </p:spPr>
        <p:txBody>
          <a:bodyPr wrap="square">
            <a:spAutoFit/>
          </a:bodyPr>
          <a:p>
            <a:pPr algn="l"/>
            <a:r>
              <a:rPr lang="zh-CN" altLang="en-US" sz="2200" spc="100" dirty="0">
                <a:solidFill>
                  <a:schemeClr val="bg1"/>
                </a:solidFill>
                <a:uFillTx/>
                <a:latin typeface="苹方-简" panose="020B0400000000000000" charset="-122"/>
                <a:ea typeface="苹方-简" panose="020B0400000000000000" charset="-122"/>
                <a:cs typeface="+mn-ea"/>
              </a:rPr>
              <a:t>研发进展</a:t>
            </a:r>
            <a:endParaRPr lang="zh-CN" altLang="en-US" sz="2200" spc="100" dirty="0">
              <a:solidFill>
                <a:schemeClr val="bg1"/>
              </a:solidFill>
              <a:uFillTx/>
              <a:latin typeface="苹方-简" panose="020B0400000000000000" charset="-122"/>
              <a:ea typeface="苹方-简" panose="020B0400000000000000" charset="-122"/>
              <a:cs typeface="+mn-ea"/>
            </a:endParaRPr>
          </a:p>
        </p:txBody>
      </p:sp>
      <p:sp>
        <p:nvSpPr>
          <p:cNvPr id="4" name="矩形 3"/>
          <p:cNvSpPr>
            <a:spLocks noChangeArrowheads="1"/>
          </p:cNvSpPr>
          <p:nvPr/>
        </p:nvSpPr>
        <p:spPr bwMode="auto">
          <a:xfrm>
            <a:off x="3927" y="5452485"/>
            <a:ext cx="1623813" cy="76214"/>
          </a:xfrm>
          <a:prstGeom prst="rect">
            <a:avLst/>
          </a:prstGeom>
          <a:solidFill>
            <a:srgbClr val="11559C"/>
          </a:solidFill>
          <a:ln w="15875" algn="ctr">
            <a:noFill/>
            <a:miter lim="800000"/>
          </a:ln>
        </p:spPr>
        <p:txBody>
          <a:bodyPr lIns="115172" tIns="57586" rIns="115172" bIns="57586" anchor="ctr"/>
          <a:p>
            <a:pPr algn="ctr" defTabSz="1216660">
              <a:defRPr/>
            </a:pPr>
            <a:endParaRPr lang="zh-CN" altLang="en-US" sz="2000" dirty="0">
              <a:solidFill>
                <a:schemeClr val="tx1">
                  <a:lumMod val="95000"/>
                  <a:lumOff val="5000"/>
                </a:schemeClr>
              </a:solidFill>
              <a:latin typeface="苹方-简" panose="020B0400000000000000" charset="-122"/>
              <a:ea typeface="苹方-简" panose="020B0400000000000000" charset="-122"/>
              <a:sym typeface="Source Han Serif SC" panose="02020400000000000000" pitchFamily="18" charset="-122"/>
            </a:endParaRPr>
          </a:p>
        </p:txBody>
      </p:sp>
      <p:sp>
        <p:nvSpPr>
          <p:cNvPr id="5" name="Freeform 9"/>
          <p:cNvSpPr>
            <a:spLocks noEditPoints="1"/>
          </p:cNvSpPr>
          <p:nvPr/>
        </p:nvSpPr>
        <p:spPr bwMode="auto">
          <a:xfrm>
            <a:off x="543612" y="1541750"/>
            <a:ext cx="3106355" cy="3193054"/>
          </a:xfrm>
          <a:custGeom>
            <a:avLst/>
            <a:gdLst>
              <a:gd name="T0" fmla="*/ 2147483647 w 2676"/>
              <a:gd name="T1" fmla="*/ 2147483647 h 2848"/>
              <a:gd name="T2" fmla="*/ 2147483647 w 2676"/>
              <a:gd name="T3" fmla="*/ 2147483647 h 2848"/>
              <a:gd name="T4" fmla="*/ 2147483647 w 2676"/>
              <a:gd name="T5" fmla="*/ 2147483647 h 2848"/>
              <a:gd name="T6" fmla="*/ 0 w 2676"/>
              <a:gd name="T7" fmla="*/ 2147483647 h 2848"/>
              <a:gd name="T8" fmla="*/ 2147483647 w 2676"/>
              <a:gd name="T9" fmla="*/ 2147483647 h 2848"/>
              <a:gd name="T10" fmla="*/ 2147483647 w 2676"/>
              <a:gd name="T11" fmla="*/ 2147483647 h 2848"/>
              <a:gd name="T12" fmla="*/ 2147483647 w 2676"/>
              <a:gd name="T13" fmla="*/ 2147483647 h 2848"/>
              <a:gd name="T14" fmla="*/ 2147483647 w 2676"/>
              <a:gd name="T15" fmla="*/ 0 h 2848"/>
              <a:gd name="T16" fmla="*/ 2147483647 w 2676"/>
              <a:gd name="T17" fmla="*/ 2147483647 h 2848"/>
              <a:gd name="T18" fmla="*/ 2147483647 w 2676"/>
              <a:gd name="T19" fmla="*/ 2147483647 h 2848"/>
              <a:gd name="T20" fmla="*/ 2147483647 w 2676"/>
              <a:gd name="T21" fmla="*/ 2147483647 h 2848"/>
              <a:gd name="T22" fmla="*/ 2147483647 w 2676"/>
              <a:gd name="T23" fmla="*/ 2147483647 h 2848"/>
              <a:gd name="T24" fmla="*/ 2147483647 w 2676"/>
              <a:gd name="T25" fmla="*/ 2147483647 h 2848"/>
              <a:gd name="T26" fmla="*/ 2147483647 w 2676"/>
              <a:gd name="T27" fmla="*/ 2147483647 h 2848"/>
              <a:gd name="T28" fmla="*/ 2147483647 w 2676"/>
              <a:gd name="T29" fmla="*/ 2147483647 h 2848"/>
              <a:gd name="T30" fmla="*/ 2147483647 w 2676"/>
              <a:gd name="T31" fmla="*/ 2147483647 h 2848"/>
              <a:gd name="T32" fmla="*/ 2147483647 w 2676"/>
              <a:gd name="T33" fmla="*/ 2147483647 h 2848"/>
              <a:gd name="T34" fmla="*/ 2147483647 w 2676"/>
              <a:gd name="T35" fmla="*/ 2147483647 h 2848"/>
              <a:gd name="T36" fmla="*/ 2147483647 w 2676"/>
              <a:gd name="T37" fmla="*/ 2147483647 h 2848"/>
              <a:gd name="T38" fmla="*/ 2147483647 w 2676"/>
              <a:gd name="T39" fmla="*/ 2147483647 h 2848"/>
              <a:gd name="T40" fmla="*/ 2147483647 w 2676"/>
              <a:gd name="T41" fmla="*/ 2147483647 h 2848"/>
              <a:gd name="T42" fmla="*/ 2147483647 w 2676"/>
              <a:gd name="T43" fmla="*/ 2147483647 h 2848"/>
              <a:gd name="T44" fmla="*/ 2147483647 w 2676"/>
              <a:gd name="T45" fmla="*/ 2147483647 h 2848"/>
              <a:gd name="T46" fmla="*/ 2147483647 w 2676"/>
              <a:gd name="T47" fmla="*/ 2147483647 h 2848"/>
              <a:gd name="T48" fmla="*/ 2147483647 w 2676"/>
              <a:gd name="T49" fmla="*/ 2147483647 h 2848"/>
              <a:gd name="T50" fmla="*/ 2147483647 w 2676"/>
              <a:gd name="T51" fmla="*/ 2147483647 h 2848"/>
              <a:gd name="T52" fmla="*/ 2147483647 w 2676"/>
              <a:gd name="T53" fmla="*/ 2147483647 h 2848"/>
              <a:gd name="T54" fmla="*/ 2147483647 w 2676"/>
              <a:gd name="T55" fmla="*/ 2147483647 h 2848"/>
              <a:gd name="T56" fmla="*/ 2147483647 w 2676"/>
              <a:gd name="T57" fmla="*/ 2147483647 h 2848"/>
              <a:gd name="T58" fmla="*/ 2147483647 w 2676"/>
              <a:gd name="T59" fmla="*/ 2147483647 h 2848"/>
              <a:gd name="T60" fmla="*/ 2147483647 w 2676"/>
              <a:gd name="T61" fmla="*/ 2147483647 h 2848"/>
              <a:gd name="T62" fmla="*/ 2147483647 w 2676"/>
              <a:gd name="T63" fmla="*/ 2147483647 h 2848"/>
              <a:gd name="T64" fmla="*/ 2147483647 w 2676"/>
              <a:gd name="T65" fmla="*/ 2147483647 h 2848"/>
              <a:gd name="T66" fmla="*/ 2147483647 w 2676"/>
              <a:gd name="T67" fmla="*/ 2147483647 h 2848"/>
              <a:gd name="T68" fmla="*/ 2147483647 w 2676"/>
              <a:gd name="T69" fmla="*/ 2147483647 h 2848"/>
              <a:gd name="T70" fmla="*/ 2147483647 w 2676"/>
              <a:gd name="T71" fmla="*/ 2147483647 h 2848"/>
              <a:gd name="T72" fmla="*/ 2147483647 w 2676"/>
              <a:gd name="T73" fmla="*/ 2147483647 h 2848"/>
              <a:gd name="T74" fmla="*/ 2147483647 w 2676"/>
              <a:gd name="T75" fmla="*/ 2147483647 h 2848"/>
              <a:gd name="T76" fmla="*/ 2147483647 w 2676"/>
              <a:gd name="T77" fmla="*/ 2147483647 h 2848"/>
              <a:gd name="T78" fmla="*/ 2147483647 w 2676"/>
              <a:gd name="T79" fmla="*/ 2147483647 h 2848"/>
              <a:gd name="T80" fmla="*/ 2147483647 w 2676"/>
              <a:gd name="T81" fmla="*/ 2147483647 h 2848"/>
              <a:gd name="T82" fmla="*/ 2147483647 w 2676"/>
              <a:gd name="T83" fmla="*/ 2147483647 h 2848"/>
              <a:gd name="T84" fmla="*/ 2147483647 w 2676"/>
              <a:gd name="T85" fmla="*/ 2147483647 h 2848"/>
              <a:gd name="T86" fmla="*/ 2147483647 w 2676"/>
              <a:gd name="T87" fmla="*/ 2147483647 h 2848"/>
              <a:gd name="T88" fmla="*/ 2147483647 w 2676"/>
              <a:gd name="T89" fmla="*/ 2147483647 h 2848"/>
              <a:gd name="T90" fmla="*/ 2147483647 w 2676"/>
              <a:gd name="T91" fmla="*/ 2147483647 h 2848"/>
              <a:gd name="T92" fmla="*/ 2147483647 w 2676"/>
              <a:gd name="T93" fmla="*/ 2147483647 h 2848"/>
              <a:gd name="T94" fmla="*/ 2147483647 w 2676"/>
              <a:gd name="T95" fmla="*/ 2147483647 h 2848"/>
              <a:gd name="T96" fmla="*/ 2147483647 w 2676"/>
              <a:gd name="T97" fmla="*/ 2147483647 h 2848"/>
              <a:gd name="T98" fmla="*/ 2147483647 w 2676"/>
              <a:gd name="T99" fmla="*/ 2147483647 h 2848"/>
              <a:gd name="T100" fmla="*/ 2147483647 w 2676"/>
              <a:gd name="T101" fmla="*/ 2147483647 h 2848"/>
              <a:gd name="T102" fmla="*/ 2147483647 w 2676"/>
              <a:gd name="T103" fmla="*/ 2147483647 h 2848"/>
              <a:gd name="T104" fmla="*/ 2147483647 w 2676"/>
              <a:gd name="T105" fmla="*/ 2147483647 h 2848"/>
              <a:gd name="T106" fmla="*/ 2147483647 w 2676"/>
              <a:gd name="T107" fmla="*/ 2147483647 h 2848"/>
              <a:gd name="T108" fmla="*/ 2147483647 w 2676"/>
              <a:gd name="T109" fmla="*/ 2147483647 h 2848"/>
              <a:gd name="T110" fmla="*/ 2147483647 w 2676"/>
              <a:gd name="T111" fmla="*/ 2147483647 h 2848"/>
              <a:gd name="T112" fmla="*/ 2147483647 w 2676"/>
              <a:gd name="T113" fmla="*/ 2147483647 h 2848"/>
              <a:gd name="T114" fmla="*/ 2147483647 w 2676"/>
              <a:gd name="T115" fmla="*/ 2147483647 h 2848"/>
              <a:gd name="T116" fmla="*/ 2147483647 w 2676"/>
              <a:gd name="T117" fmla="*/ 2147483647 h 2848"/>
              <a:gd name="T118" fmla="*/ 2147483647 w 2676"/>
              <a:gd name="T119" fmla="*/ 2147483647 h 2848"/>
              <a:gd name="T120" fmla="*/ 2147483647 w 2676"/>
              <a:gd name="T121" fmla="*/ 2147483647 h 2848"/>
              <a:gd name="T122" fmla="*/ 2147483647 w 2676"/>
              <a:gd name="T123" fmla="*/ 2147483647 h 2848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60000 65536"/>
              <a:gd name="T148" fmla="*/ 0 60000 65536"/>
              <a:gd name="T149" fmla="*/ 0 60000 65536"/>
              <a:gd name="T150" fmla="*/ 0 60000 65536"/>
              <a:gd name="T151" fmla="*/ 0 60000 65536"/>
              <a:gd name="T152" fmla="*/ 0 60000 65536"/>
              <a:gd name="T153" fmla="*/ 0 60000 65536"/>
              <a:gd name="T154" fmla="*/ 0 60000 65536"/>
              <a:gd name="T155" fmla="*/ 0 60000 65536"/>
              <a:gd name="T156" fmla="*/ 0 60000 65536"/>
              <a:gd name="T157" fmla="*/ 0 60000 65536"/>
              <a:gd name="T158" fmla="*/ 0 60000 65536"/>
              <a:gd name="T159" fmla="*/ 0 60000 65536"/>
              <a:gd name="T160" fmla="*/ 0 60000 65536"/>
              <a:gd name="T161" fmla="*/ 0 60000 65536"/>
              <a:gd name="T162" fmla="*/ 0 60000 65536"/>
              <a:gd name="T163" fmla="*/ 0 60000 65536"/>
              <a:gd name="T164" fmla="*/ 0 60000 65536"/>
              <a:gd name="T165" fmla="*/ 0 60000 65536"/>
              <a:gd name="T166" fmla="*/ 0 60000 65536"/>
              <a:gd name="T167" fmla="*/ 0 60000 65536"/>
              <a:gd name="T168" fmla="*/ 0 60000 65536"/>
              <a:gd name="T169" fmla="*/ 0 60000 65536"/>
              <a:gd name="T170" fmla="*/ 0 60000 65536"/>
              <a:gd name="T171" fmla="*/ 0 60000 65536"/>
              <a:gd name="T172" fmla="*/ 0 60000 65536"/>
              <a:gd name="T173" fmla="*/ 0 60000 65536"/>
              <a:gd name="T174" fmla="*/ 0 60000 65536"/>
              <a:gd name="T175" fmla="*/ 0 60000 65536"/>
              <a:gd name="T176" fmla="*/ 0 60000 65536"/>
              <a:gd name="T177" fmla="*/ 0 60000 65536"/>
              <a:gd name="T178" fmla="*/ 0 60000 65536"/>
              <a:gd name="T179" fmla="*/ 0 60000 65536"/>
              <a:gd name="T180" fmla="*/ 0 60000 65536"/>
              <a:gd name="T181" fmla="*/ 0 60000 65536"/>
              <a:gd name="T182" fmla="*/ 0 60000 65536"/>
              <a:gd name="T183" fmla="*/ 0 60000 65536"/>
              <a:gd name="T184" fmla="*/ 0 60000 65536"/>
              <a:gd name="T185" fmla="*/ 0 60000 65536"/>
              <a:gd name="T186" fmla="*/ 0 w 2676"/>
              <a:gd name="T187" fmla="*/ 0 h 2848"/>
              <a:gd name="T188" fmla="*/ 2676 w 2676"/>
              <a:gd name="T189" fmla="*/ 2848 h 2848"/>
            </a:gdLst>
            <a:ahLst/>
            <a:cxnLst>
              <a:cxn ang="T124">
                <a:pos x="T0" y="T1"/>
              </a:cxn>
              <a:cxn ang="T125">
                <a:pos x="T2" y="T3"/>
              </a:cxn>
              <a:cxn ang="T126">
                <a:pos x="T4" y="T5"/>
              </a:cxn>
              <a:cxn ang="T127">
                <a:pos x="T6" y="T7"/>
              </a:cxn>
              <a:cxn ang="T128">
                <a:pos x="T8" y="T9"/>
              </a:cxn>
              <a:cxn ang="T129">
                <a:pos x="T10" y="T11"/>
              </a:cxn>
              <a:cxn ang="T130">
                <a:pos x="T12" y="T13"/>
              </a:cxn>
              <a:cxn ang="T131">
                <a:pos x="T14" y="T15"/>
              </a:cxn>
              <a:cxn ang="T132">
                <a:pos x="T16" y="T17"/>
              </a:cxn>
              <a:cxn ang="T133">
                <a:pos x="T18" y="T19"/>
              </a:cxn>
              <a:cxn ang="T134">
                <a:pos x="T20" y="T21"/>
              </a:cxn>
              <a:cxn ang="T135">
                <a:pos x="T22" y="T23"/>
              </a:cxn>
              <a:cxn ang="T136">
                <a:pos x="T24" y="T25"/>
              </a:cxn>
              <a:cxn ang="T137">
                <a:pos x="T26" y="T27"/>
              </a:cxn>
              <a:cxn ang="T138">
                <a:pos x="T28" y="T29"/>
              </a:cxn>
              <a:cxn ang="T139">
                <a:pos x="T30" y="T31"/>
              </a:cxn>
              <a:cxn ang="T140">
                <a:pos x="T32" y="T33"/>
              </a:cxn>
              <a:cxn ang="T141">
                <a:pos x="T34" y="T35"/>
              </a:cxn>
              <a:cxn ang="T142">
                <a:pos x="T36" y="T37"/>
              </a:cxn>
              <a:cxn ang="T143">
                <a:pos x="T38" y="T39"/>
              </a:cxn>
              <a:cxn ang="T144">
                <a:pos x="T40" y="T41"/>
              </a:cxn>
              <a:cxn ang="T145">
                <a:pos x="T42" y="T43"/>
              </a:cxn>
              <a:cxn ang="T146">
                <a:pos x="T44" y="T45"/>
              </a:cxn>
              <a:cxn ang="T147">
                <a:pos x="T46" y="T47"/>
              </a:cxn>
              <a:cxn ang="T148">
                <a:pos x="T48" y="T49"/>
              </a:cxn>
              <a:cxn ang="T149">
                <a:pos x="T50" y="T51"/>
              </a:cxn>
              <a:cxn ang="T150">
                <a:pos x="T52" y="T53"/>
              </a:cxn>
              <a:cxn ang="T151">
                <a:pos x="T54" y="T55"/>
              </a:cxn>
              <a:cxn ang="T152">
                <a:pos x="T56" y="T57"/>
              </a:cxn>
              <a:cxn ang="T153">
                <a:pos x="T58" y="T59"/>
              </a:cxn>
              <a:cxn ang="T154">
                <a:pos x="T60" y="T61"/>
              </a:cxn>
              <a:cxn ang="T155">
                <a:pos x="T62" y="T63"/>
              </a:cxn>
              <a:cxn ang="T156">
                <a:pos x="T64" y="T65"/>
              </a:cxn>
              <a:cxn ang="T157">
                <a:pos x="T66" y="T67"/>
              </a:cxn>
              <a:cxn ang="T158">
                <a:pos x="T68" y="T69"/>
              </a:cxn>
              <a:cxn ang="T159">
                <a:pos x="T70" y="T71"/>
              </a:cxn>
              <a:cxn ang="T160">
                <a:pos x="T72" y="T73"/>
              </a:cxn>
              <a:cxn ang="T161">
                <a:pos x="T74" y="T75"/>
              </a:cxn>
              <a:cxn ang="T162">
                <a:pos x="T76" y="T77"/>
              </a:cxn>
              <a:cxn ang="T163">
                <a:pos x="T78" y="T79"/>
              </a:cxn>
              <a:cxn ang="T164">
                <a:pos x="T80" y="T81"/>
              </a:cxn>
              <a:cxn ang="T165">
                <a:pos x="T82" y="T83"/>
              </a:cxn>
              <a:cxn ang="T166">
                <a:pos x="T84" y="T85"/>
              </a:cxn>
              <a:cxn ang="T167">
                <a:pos x="T86" y="T87"/>
              </a:cxn>
              <a:cxn ang="T168">
                <a:pos x="T88" y="T89"/>
              </a:cxn>
              <a:cxn ang="T169">
                <a:pos x="T90" y="T91"/>
              </a:cxn>
              <a:cxn ang="T170">
                <a:pos x="T92" y="T93"/>
              </a:cxn>
              <a:cxn ang="T171">
                <a:pos x="T94" y="T95"/>
              </a:cxn>
              <a:cxn ang="T172">
                <a:pos x="T96" y="T97"/>
              </a:cxn>
              <a:cxn ang="T173">
                <a:pos x="T98" y="T99"/>
              </a:cxn>
              <a:cxn ang="T174">
                <a:pos x="T100" y="T101"/>
              </a:cxn>
              <a:cxn ang="T175">
                <a:pos x="T102" y="T103"/>
              </a:cxn>
              <a:cxn ang="T176">
                <a:pos x="T104" y="T105"/>
              </a:cxn>
              <a:cxn ang="T177">
                <a:pos x="T106" y="T107"/>
              </a:cxn>
              <a:cxn ang="T178">
                <a:pos x="T108" y="T109"/>
              </a:cxn>
              <a:cxn ang="T179">
                <a:pos x="T110" y="T111"/>
              </a:cxn>
              <a:cxn ang="T180">
                <a:pos x="T112" y="T113"/>
              </a:cxn>
              <a:cxn ang="T181">
                <a:pos x="T114" y="T115"/>
              </a:cxn>
              <a:cxn ang="T182">
                <a:pos x="T116" y="T117"/>
              </a:cxn>
              <a:cxn ang="T183">
                <a:pos x="T118" y="T119"/>
              </a:cxn>
              <a:cxn ang="T184">
                <a:pos x="T120" y="T121"/>
              </a:cxn>
              <a:cxn ang="T185">
                <a:pos x="T122" y="T123"/>
              </a:cxn>
            </a:cxnLst>
            <a:rect l="T186" t="T187" r="T188" b="T189"/>
            <a:pathLst>
              <a:path w="2676" h="2848">
                <a:moveTo>
                  <a:pt x="764" y="1468"/>
                </a:moveTo>
                <a:lnTo>
                  <a:pt x="132" y="1468"/>
                </a:lnTo>
                <a:cubicBezTo>
                  <a:pt x="91" y="1468"/>
                  <a:pt x="58" y="1452"/>
                  <a:pt x="36" y="1427"/>
                </a:cubicBezTo>
                <a:cubicBezTo>
                  <a:pt x="12" y="1401"/>
                  <a:pt x="0" y="1365"/>
                  <a:pt x="0" y="1325"/>
                </a:cubicBezTo>
                <a:cubicBezTo>
                  <a:pt x="0" y="1220"/>
                  <a:pt x="16" y="1037"/>
                  <a:pt x="83" y="843"/>
                </a:cubicBezTo>
                <a:cubicBezTo>
                  <a:pt x="128" y="710"/>
                  <a:pt x="198" y="572"/>
                  <a:pt x="302" y="448"/>
                </a:cubicBezTo>
                <a:cubicBezTo>
                  <a:pt x="463" y="257"/>
                  <a:pt x="645" y="145"/>
                  <a:pt x="830" y="80"/>
                </a:cubicBezTo>
                <a:cubicBezTo>
                  <a:pt x="1014" y="16"/>
                  <a:pt x="1200" y="0"/>
                  <a:pt x="1369" y="0"/>
                </a:cubicBezTo>
                <a:cubicBezTo>
                  <a:pt x="1521" y="0"/>
                  <a:pt x="1738" y="26"/>
                  <a:pt x="1955" y="115"/>
                </a:cubicBezTo>
                <a:cubicBezTo>
                  <a:pt x="2115" y="180"/>
                  <a:pt x="2276" y="279"/>
                  <a:pt x="2412" y="426"/>
                </a:cubicBezTo>
                <a:cubicBezTo>
                  <a:pt x="2517" y="540"/>
                  <a:pt x="2583" y="667"/>
                  <a:pt x="2623" y="798"/>
                </a:cubicBezTo>
                <a:cubicBezTo>
                  <a:pt x="2669" y="953"/>
                  <a:pt x="2676" y="1113"/>
                  <a:pt x="2663" y="1258"/>
                </a:cubicBezTo>
                <a:cubicBezTo>
                  <a:pt x="2645" y="1440"/>
                  <a:pt x="2572" y="1589"/>
                  <a:pt x="2470" y="1716"/>
                </a:cubicBezTo>
                <a:cubicBezTo>
                  <a:pt x="2370" y="1841"/>
                  <a:pt x="2243" y="1944"/>
                  <a:pt x="2115" y="2036"/>
                </a:cubicBezTo>
                <a:cubicBezTo>
                  <a:pt x="1973" y="2139"/>
                  <a:pt x="1882" y="2230"/>
                  <a:pt x="1826" y="2320"/>
                </a:cubicBezTo>
                <a:cubicBezTo>
                  <a:pt x="1773" y="2408"/>
                  <a:pt x="1753" y="2497"/>
                  <a:pt x="1753" y="2597"/>
                </a:cubicBezTo>
                <a:lnTo>
                  <a:pt x="1753" y="2808"/>
                </a:lnTo>
                <a:lnTo>
                  <a:pt x="1753" y="2848"/>
                </a:lnTo>
                <a:lnTo>
                  <a:pt x="1713" y="2848"/>
                </a:lnTo>
                <a:lnTo>
                  <a:pt x="904" y="2848"/>
                </a:lnTo>
                <a:lnTo>
                  <a:pt x="864" y="2848"/>
                </a:lnTo>
                <a:lnTo>
                  <a:pt x="864" y="2808"/>
                </a:lnTo>
                <a:lnTo>
                  <a:pt x="864" y="2501"/>
                </a:lnTo>
                <a:cubicBezTo>
                  <a:pt x="864" y="2304"/>
                  <a:pt x="896" y="2146"/>
                  <a:pt x="963" y="2008"/>
                </a:cubicBezTo>
                <a:cubicBezTo>
                  <a:pt x="1029" y="1870"/>
                  <a:pt x="1127" y="1754"/>
                  <a:pt x="1258" y="1640"/>
                </a:cubicBezTo>
                <a:cubicBezTo>
                  <a:pt x="1295" y="1608"/>
                  <a:pt x="1342" y="1576"/>
                  <a:pt x="1391" y="1542"/>
                </a:cubicBezTo>
                <a:cubicBezTo>
                  <a:pt x="1526" y="1449"/>
                  <a:pt x="1684" y="1340"/>
                  <a:pt x="1684" y="1195"/>
                </a:cubicBezTo>
                <a:cubicBezTo>
                  <a:pt x="1684" y="1109"/>
                  <a:pt x="1649" y="1032"/>
                  <a:pt x="1585" y="977"/>
                </a:cubicBezTo>
                <a:cubicBezTo>
                  <a:pt x="1523" y="924"/>
                  <a:pt x="1435" y="891"/>
                  <a:pt x="1325" y="891"/>
                </a:cubicBezTo>
                <a:cubicBezTo>
                  <a:pt x="1211" y="891"/>
                  <a:pt x="1103" y="939"/>
                  <a:pt x="1020" y="1022"/>
                </a:cubicBezTo>
                <a:cubicBezTo>
                  <a:pt x="939" y="1103"/>
                  <a:pt x="882" y="1218"/>
                  <a:pt x="867" y="1355"/>
                </a:cubicBezTo>
                <a:cubicBezTo>
                  <a:pt x="865" y="1381"/>
                  <a:pt x="861" y="1405"/>
                  <a:pt x="848" y="1426"/>
                </a:cubicBezTo>
                <a:cubicBezTo>
                  <a:pt x="832" y="1452"/>
                  <a:pt x="807" y="1468"/>
                  <a:pt x="764" y="1468"/>
                </a:cubicBezTo>
                <a:close/>
                <a:moveTo>
                  <a:pt x="132" y="1388"/>
                </a:moveTo>
                <a:lnTo>
                  <a:pt x="764" y="1388"/>
                </a:lnTo>
                <a:cubicBezTo>
                  <a:pt x="774" y="1388"/>
                  <a:pt x="779" y="1387"/>
                  <a:pt x="780" y="1384"/>
                </a:cubicBezTo>
                <a:cubicBezTo>
                  <a:pt x="784" y="1378"/>
                  <a:pt x="786" y="1363"/>
                  <a:pt x="788" y="1347"/>
                </a:cubicBezTo>
                <a:cubicBezTo>
                  <a:pt x="805" y="1191"/>
                  <a:pt x="870" y="1059"/>
                  <a:pt x="963" y="966"/>
                </a:cubicBezTo>
                <a:cubicBezTo>
                  <a:pt x="1061" y="867"/>
                  <a:pt x="1190" y="811"/>
                  <a:pt x="1325" y="811"/>
                </a:cubicBezTo>
                <a:cubicBezTo>
                  <a:pt x="1455" y="811"/>
                  <a:pt x="1561" y="851"/>
                  <a:pt x="1637" y="916"/>
                </a:cubicBezTo>
                <a:cubicBezTo>
                  <a:pt x="1719" y="987"/>
                  <a:pt x="1764" y="1086"/>
                  <a:pt x="1764" y="1195"/>
                </a:cubicBezTo>
                <a:cubicBezTo>
                  <a:pt x="1764" y="1382"/>
                  <a:pt x="1588" y="1504"/>
                  <a:pt x="1436" y="1608"/>
                </a:cubicBezTo>
                <a:cubicBezTo>
                  <a:pt x="1389" y="1640"/>
                  <a:pt x="1344" y="1671"/>
                  <a:pt x="1311" y="1700"/>
                </a:cubicBezTo>
                <a:cubicBezTo>
                  <a:pt x="1187" y="1808"/>
                  <a:pt x="1095" y="1916"/>
                  <a:pt x="1034" y="2042"/>
                </a:cubicBezTo>
                <a:cubicBezTo>
                  <a:pt x="974" y="2169"/>
                  <a:pt x="944" y="2316"/>
                  <a:pt x="944" y="2501"/>
                </a:cubicBezTo>
                <a:lnTo>
                  <a:pt x="944" y="2768"/>
                </a:lnTo>
                <a:lnTo>
                  <a:pt x="1673" y="2768"/>
                </a:lnTo>
                <a:lnTo>
                  <a:pt x="1673" y="2597"/>
                </a:lnTo>
                <a:cubicBezTo>
                  <a:pt x="1673" y="2483"/>
                  <a:pt x="1696" y="2381"/>
                  <a:pt x="1758" y="2279"/>
                </a:cubicBezTo>
                <a:cubicBezTo>
                  <a:pt x="1819" y="2179"/>
                  <a:pt x="1917" y="2081"/>
                  <a:pt x="2069" y="1971"/>
                </a:cubicBezTo>
                <a:cubicBezTo>
                  <a:pt x="2191" y="1883"/>
                  <a:pt x="2313" y="1784"/>
                  <a:pt x="2408" y="1666"/>
                </a:cubicBezTo>
                <a:cubicBezTo>
                  <a:pt x="2500" y="1550"/>
                  <a:pt x="2567" y="1415"/>
                  <a:pt x="2583" y="1250"/>
                </a:cubicBezTo>
                <a:cubicBezTo>
                  <a:pt x="2596" y="1115"/>
                  <a:pt x="2590" y="966"/>
                  <a:pt x="2546" y="820"/>
                </a:cubicBezTo>
                <a:cubicBezTo>
                  <a:pt x="2510" y="701"/>
                  <a:pt x="2449" y="584"/>
                  <a:pt x="2353" y="481"/>
                </a:cubicBezTo>
                <a:cubicBezTo>
                  <a:pt x="2226" y="343"/>
                  <a:pt x="2075" y="250"/>
                  <a:pt x="1925" y="189"/>
                </a:cubicBezTo>
                <a:cubicBezTo>
                  <a:pt x="1719" y="105"/>
                  <a:pt x="1514" y="80"/>
                  <a:pt x="1369" y="80"/>
                </a:cubicBezTo>
                <a:cubicBezTo>
                  <a:pt x="1207" y="80"/>
                  <a:pt x="1030" y="95"/>
                  <a:pt x="857" y="156"/>
                </a:cubicBezTo>
                <a:cubicBezTo>
                  <a:pt x="684" y="216"/>
                  <a:pt x="514" y="321"/>
                  <a:pt x="363" y="500"/>
                </a:cubicBezTo>
                <a:cubicBezTo>
                  <a:pt x="266" y="614"/>
                  <a:pt x="201" y="744"/>
                  <a:pt x="158" y="869"/>
                </a:cubicBezTo>
                <a:cubicBezTo>
                  <a:pt x="95" y="1053"/>
                  <a:pt x="80" y="1226"/>
                  <a:pt x="80" y="1325"/>
                </a:cubicBezTo>
                <a:cubicBezTo>
                  <a:pt x="80" y="1346"/>
                  <a:pt x="85" y="1363"/>
                  <a:pt x="95" y="1374"/>
                </a:cubicBezTo>
                <a:cubicBezTo>
                  <a:pt x="103" y="1383"/>
                  <a:pt x="115" y="1388"/>
                  <a:pt x="132" y="1388"/>
                </a:cubicBezTo>
                <a:close/>
              </a:path>
            </a:pathLst>
          </a:custGeom>
          <a:solidFill>
            <a:srgbClr val="11559C"/>
          </a:solidFill>
          <a:ln w="9525">
            <a:noFill/>
            <a:round/>
          </a:ln>
        </p:spPr>
        <p:txBody>
          <a:bodyPr lIns="91428" tIns="45713" rIns="91428" bIns="45713"/>
          <a:p>
            <a:pPr defTabSz="913765">
              <a:defRPr/>
            </a:pPr>
            <a:endParaRPr lang="zh-CN" altLang="en-US" sz="2000">
              <a:solidFill>
                <a:schemeClr val="tx1">
                  <a:lumMod val="95000"/>
                  <a:lumOff val="5000"/>
                </a:schemeClr>
              </a:solidFill>
              <a:latin typeface="苹方-简" panose="020B0400000000000000" charset="-122"/>
              <a:ea typeface="苹方-简" panose="020B0400000000000000" charset="-122"/>
              <a:sym typeface="Source Han Serif SC" panose="02020400000000000000" pitchFamily="18" charset="-122"/>
            </a:endParaRPr>
          </a:p>
        </p:txBody>
      </p:sp>
      <p:sp>
        <p:nvSpPr>
          <p:cNvPr id="6" name="矩形 5"/>
          <p:cNvSpPr>
            <a:spLocks noChangeArrowheads="1"/>
          </p:cNvSpPr>
          <p:nvPr/>
        </p:nvSpPr>
        <p:spPr bwMode="auto">
          <a:xfrm>
            <a:off x="2500757" y="5452485"/>
            <a:ext cx="9693667" cy="76214"/>
          </a:xfrm>
          <a:prstGeom prst="rect">
            <a:avLst/>
          </a:prstGeom>
          <a:solidFill>
            <a:srgbClr val="11559C"/>
          </a:solidFill>
          <a:ln w="15875" algn="ctr">
            <a:noFill/>
            <a:miter lim="800000"/>
          </a:ln>
        </p:spPr>
        <p:txBody>
          <a:bodyPr lIns="115172" tIns="57586" rIns="115172" bIns="57586" anchor="ctr"/>
          <a:p>
            <a:pPr algn="ctr" defTabSz="1216660">
              <a:defRPr/>
            </a:pPr>
            <a:endParaRPr lang="zh-CN" altLang="en-US" sz="2000" dirty="0">
              <a:solidFill>
                <a:schemeClr val="tx1">
                  <a:lumMod val="95000"/>
                  <a:lumOff val="5000"/>
                </a:schemeClr>
              </a:solidFill>
              <a:latin typeface="苹方-简" panose="020B0400000000000000" charset="-122"/>
              <a:ea typeface="苹方-简" panose="020B0400000000000000" charset="-122"/>
              <a:sym typeface="Source Han Serif SC" panose="02020400000000000000" pitchFamily="18" charset="-122"/>
            </a:endParaRPr>
          </a:p>
        </p:txBody>
      </p:sp>
      <p:sp>
        <p:nvSpPr>
          <p:cNvPr id="7" name="矩形 6"/>
          <p:cNvSpPr>
            <a:spLocks noChangeArrowheads="1"/>
          </p:cNvSpPr>
          <p:nvPr/>
        </p:nvSpPr>
        <p:spPr bwMode="auto">
          <a:xfrm>
            <a:off x="1540439" y="4918989"/>
            <a:ext cx="1046034" cy="77802"/>
          </a:xfrm>
          <a:prstGeom prst="rect">
            <a:avLst/>
          </a:prstGeom>
          <a:solidFill>
            <a:srgbClr val="11559C"/>
          </a:solidFill>
          <a:ln w="15875" algn="ctr">
            <a:noFill/>
            <a:miter lim="800000"/>
          </a:ln>
        </p:spPr>
        <p:txBody>
          <a:bodyPr lIns="115172" tIns="57586" rIns="115172" bIns="57586" anchor="ctr"/>
          <a:p>
            <a:pPr algn="ctr" defTabSz="1216660">
              <a:defRPr/>
            </a:pPr>
            <a:endParaRPr lang="zh-CN" altLang="en-US" sz="2000" dirty="0">
              <a:solidFill>
                <a:schemeClr val="tx1">
                  <a:lumMod val="95000"/>
                  <a:lumOff val="5000"/>
                </a:schemeClr>
              </a:solidFill>
              <a:latin typeface="苹方-简" panose="020B0400000000000000" charset="-122"/>
              <a:ea typeface="苹方-简" panose="020B0400000000000000" charset="-122"/>
              <a:sym typeface="Source Han Serif SC" panose="02020400000000000000" pitchFamily="18" charset="-122"/>
            </a:endParaRPr>
          </a:p>
        </p:txBody>
      </p:sp>
      <p:sp>
        <p:nvSpPr>
          <p:cNvPr id="8" name="矩形 7"/>
          <p:cNvSpPr>
            <a:spLocks noChangeArrowheads="1"/>
          </p:cNvSpPr>
          <p:nvPr/>
        </p:nvSpPr>
        <p:spPr bwMode="auto">
          <a:xfrm rot="5400000">
            <a:off x="1279234" y="5180193"/>
            <a:ext cx="609713" cy="87303"/>
          </a:xfrm>
          <a:prstGeom prst="rect">
            <a:avLst/>
          </a:prstGeom>
          <a:solidFill>
            <a:srgbClr val="11559C"/>
          </a:solidFill>
          <a:ln w="15875" algn="ctr">
            <a:noFill/>
            <a:miter lim="800000"/>
          </a:ln>
        </p:spPr>
        <p:txBody>
          <a:bodyPr rot="10800000" vert="eaVert" lIns="115172" tIns="57586" rIns="115172" bIns="57586" anchor="ctr"/>
          <a:p>
            <a:pPr algn="ctr" defTabSz="1216660">
              <a:defRPr/>
            </a:pPr>
            <a:endParaRPr lang="zh-CN" altLang="en-US" sz="2000" dirty="0">
              <a:solidFill>
                <a:schemeClr val="tx1">
                  <a:lumMod val="95000"/>
                  <a:lumOff val="5000"/>
                </a:schemeClr>
              </a:solidFill>
              <a:latin typeface="苹方-简" panose="020B0400000000000000" charset="-122"/>
              <a:ea typeface="苹方-简" panose="020B0400000000000000" charset="-122"/>
              <a:sym typeface="Source Han Serif SC" panose="02020400000000000000" pitchFamily="18" charset="-122"/>
            </a:endParaRPr>
          </a:p>
        </p:txBody>
      </p:sp>
      <p:sp>
        <p:nvSpPr>
          <p:cNvPr id="9" name="矩形 8"/>
          <p:cNvSpPr>
            <a:spLocks noChangeArrowheads="1"/>
          </p:cNvSpPr>
          <p:nvPr/>
        </p:nvSpPr>
        <p:spPr bwMode="auto">
          <a:xfrm rot="5400000">
            <a:off x="2238759" y="5180987"/>
            <a:ext cx="609713" cy="85715"/>
          </a:xfrm>
          <a:prstGeom prst="rect">
            <a:avLst/>
          </a:prstGeom>
          <a:solidFill>
            <a:srgbClr val="11559C"/>
          </a:solidFill>
          <a:ln w="15875" algn="ctr">
            <a:noFill/>
            <a:miter lim="800000"/>
          </a:ln>
        </p:spPr>
        <p:txBody>
          <a:bodyPr rot="10800000" vert="eaVert" lIns="115172" tIns="57586" rIns="115172" bIns="57586" anchor="ctr"/>
          <a:p>
            <a:pPr algn="ctr" defTabSz="1216660">
              <a:defRPr/>
            </a:pPr>
            <a:endParaRPr lang="zh-CN" altLang="en-US" sz="2000" dirty="0">
              <a:solidFill>
                <a:schemeClr val="tx1">
                  <a:lumMod val="95000"/>
                  <a:lumOff val="5000"/>
                </a:schemeClr>
              </a:solidFill>
              <a:latin typeface="苹方-简" panose="020B0400000000000000" charset="-122"/>
              <a:ea typeface="苹方-简" panose="020B0400000000000000" charset="-122"/>
              <a:sym typeface="Source Han Serif SC" panose="02020400000000000000" pitchFamily="18" charset="-122"/>
            </a:endParaRPr>
          </a:p>
        </p:txBody>
      </p:sp>
      <p:grpSp>
        <p:nvGrpSpPr>
          <p:cNvPr id="10" name="组合 54"/>
          <p:cNvGrpSpPr/>
          <p:nvPr/>
        </p:nvGrpSpPr>
        <p:grpSpPr bwMode="auto">
          <a:xfrm>
            <a:off x="3891238" y="5333403"/>
            <a:ext cx="350794" cy="314383"/>
            <a:chOff x="4971660" y="1569718"/>
            <a:chExt cx="144016" cy="144016"/>
          </a:xfrm>
        </p:grpSpPr>
        <p:sp>
          <p:nvSpPr>
            <p:cNvPr id="11" name="椭圆 55"/>
            <p:cNvSpPr>
              <a:spLocks noChangeArrowheads="1"/>
            </p:cNvSpPr>
            <p:nvPr/>
          </p:nvSpPr>
          <p:spPr bwMode="auto">
            <a:xfrm>
              <a:off x="4971660" y="1569718"/>
              <a:ext cx="144016" cy="144016"/>
            </a:xfrm>
            <a:prstGeom prst="ellipse">
              <a:avLst/>
            </a:prstGeom>
            <a:solidFill>
              <a:srgbClr val="11559C"/>
            </a:solidFill>
            <a:ln w="15875" algn="ctr">
              <a:noFill/>
              <a:round/>
            </a:ln>
          </p:spPr>
          <p:txBody>
            <a:bodyPr lIns="153563" tIns="76781" rIns="153563" bIns="76781" anchor="ctr"/>
            <a:p>
              <a:pPr algn="ctr" defTabSz="1216660">
                <a:defRPr/>
              </a:pPr>
              <a:endParaRPr lang="zh-CN" altLang="en-US" sz="2000" dirty="0">
                <a:solidFill>
                  <a:schemeClr val="tx1">
                    <a:lumMod val="95000"/>
                    <a:lumOff val="5000"/>
                  </a:schemeClr>
                </a:solidFill>
                <a:latin typeface="苹方-简" panose="020B0400000000000000" charset="-122"/>
                <a:ea typeface="苹方-简" panose="020B0400000000000000" charset="-122"/>
                <a:sym typeface="Source Han Serif SC" panose="02020400000000000000" pitchFamily="18" charset="-122"/>
              </a:endParaRPr>
            </a:p>
          </p:txBody>
        </p:sp>
        <p:sp>
          <p:nvSpPr>
            <p:cNvPr id="12" name="椭圆 56"/>
            <p:cNvSpPr>
              <a:spLocks noChangeArrowheads="1"/>
            </p:cNvSpPr>
            <p:nvPr/>
          </p:nvSpPr>
          <p:spPr bwMode="auto">
            <a:xfrm>
              <a:off x="5006027" y="1603875"/>
              <a:ext cx="75281" cy="75701"/>
            </a:xfrm>
            <a:prstGeom prst="ellipse">
              <a:avLst/>
            </a:prstGeom>
            <a:solidFill>
              <a:schemeClr val="bg1"/>
            </a:solidFill>
            <a:ln w="15875" algn="ctr">
              <a:noFill/>
              <a:round/>
            </a:ln>
          </p:spPr>
          <p:txBody>
            <a:bodyPr lIns="153563" tIns="76781" rIns="153563" bIns="76781" anchor="ctr"/>
            <a:p>
              <a:pPr algn="ctr" defTabSz="1216660">
                <a:defRPr/>
              </a:pPr>
              <a:endParaRPr lang="zh-CN" altLang="en-US" sz="2000" dirty="0">
                <a:solidFill>
                  <a:schemeClr val="tx1">
                    <a:lumMod val="95000"/>
                    <a:lumOff val="5000"/>
                  </a:schemeClr>
                </a:solidFill>
                <a:latin typeface="苹方-简" panose="020B0400000000000000" charset="-122"/>
                <a:ea typeface="苹方-简" panose="020B0400000000000000" charset="-122"/>
                <a:sym typeface="Source Han Serif SC" panose="02020400000000000000" pitchFamily="18" charset="-122"/>
              </a:endParaRPr>
            </a:p>
          </p:txBody>
        </p:sp>
      </p:grpSp>
      <p:cxnSp>
        <p:nvCxnSpPr>
          <p:cNvPr id="13" name="直接连接符 12"/>
          <p:cNvCxnSpPr>
            <a:cxnSpLocks noChangeShapeType="1"/>
          </p:cNvCxnSpPr>
          <p:nvPr/>
        </p:nvCxnSpPr>
        <p:spPr bwMode="auto">
          <a:xfrm>
            <a:off x="4053141" y="2156226"/>
            <a:ext cx="12698" cy="3000931"/>
          </a:xfrm>
          <a:prstGeom prst="line">
            <a:avLst/>
          </a:prstGeom>
          <a:noFill/>
          <a:ln w="9525" algn="ctr">
            <a:solidFill>
              <a:srgbClr val="11559C"/>
            </a:solidFill>
            <a:prstDash val="dash"/>
            <a:round/>
            <a:headEnd type="oval" w="med" len="med"/>
          </a:ln>
        </p:spPr>
      </p:cxnSp>
      <p:sp>
        <p:nvSpPr>
          <p:cNvPr id="14" name="TextBox 72"/>
          <p:cNvSpPr txBox="1">
            <a:spLocks noChangeArrowheads="1"/>
          </p:cNvSpPr>
          <p:nvPr/>
        </p:nvSpPr>
        <p:spPr bwMode="auto">
          <a:xfrm>
            <a:off x="4250055" y="2415540"/>
            <a:ext cx="1982804" cy="276860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wrap="square" lIns="0" tIns="0" rIns="0" bIns="0">
            <a:spAutoFit/>
          </a:bodyPr>
          <a:p>
            <a:pPr defTabSz="1216660">
              <a:defRPr/>
            </a:pPr>
            <a:r>
              <a:rPr lang="en-US" altLang="zh-CN" dirty="0">
                <a:solidFill>
                  <a:schemeClr val="tx1">
                    <a:lumMod val="95000"/>
                    <a:lumOff val="5000"/>
                  </a:schemeClr>
                </a:solidFill>
                <a:latin typeface="苹方-简" panose="020B0400000000000000" charset="-122"/>
                <a:ea typeface="苹方-简" panose="020B0400000000000000" charset="-122"/>
                <a:sym typeface="Source Han Serif SC" panose="02020400000000000000" pitchFamily="18" charset="-122"/>
              </a:rPr>
              <a:t>-</a:t>
            </a:r>
            <a:r>
              <a:rPr lang="zh-CN" altLang="en-US" dirty="0">
                <a:solidFill>
                  <a:schemeClr val="tx1">
                    <a:lumMod val="95000"/>
                    <a:lumOff val="5000"/>
                  </a:schemeClr>
                </a:solidFill>
                <a:latin typeface="苹方-简" panose="020B0400000000000000" charset="-122"/>
                <a:ea typeface="苹方-简" panose="020B0400000000000000" charset="-122"/>
                <a:sym typeface="Source Han Serif SC" panose="02020400000000000000" pitchFamily="18" charset="-122"/>
              </a:rPr>
              <a:t>20</a:t>
            </a:r>
            <a:r>
              <a:rPr lang="en-US" dirty="0">
                <a:solidFill>
                  <a:schemeClr val="tx1">
                    <a:lumMod val="95000"/>
                    <a:lumOff val="5000"/>
                  </a:schemeClr>
                </a:solidFill>
                <a:latin typeface="苹方-简" panose="020B0400000000000000" charset="-122"/>
                <a:ea typeface="苹方-简" panose="020B0400000000000000" charset="-122"/>
                <a:sym typeface="Source Han Serif SC" panose="02020400000000000000" pitchFamily="18" charset="-122"/>
              </a:rPr>
              <a:t>26</a:t>
            </a:r>
            <a:r>
              <a:rPr lang="zh-CN" altLang="en-US" dirty="0">
                <a:solidFill>
                  <a:schemeClr val="tx1">
                    <a:lumMod val="95000"/>
                    <a:lumOff val="5000"/>
                  </a:schemeClr>
                </a:solidFill>
                <a:latin typeface="苹方-简" panose="020B0400000000000000" charset="-122"/>
                <a:ea typeface="苹方-简" panose="020B0400000000000000" charset="-122"/>
                <a:sym typeface="Source Han Serif SC" panose="02020400000000000000" pitchFamily="18" charset="-122"/>
              </a:rPr>
              <a:t>年</a:t>
            </a:r>
            <a:r>
              <a:rPr lang="en-US" altLang="zh-CN" dirty="0">
                <a:solidFill>
                  <a:schemeClr val="tx1">
                    <a:lumMod val="95000"/>
                    <a:lumOff val="5000"/>
                  </a:schemeClr>
                </a:solidFill>
                <a:latin typeface="苹方-简" panose="020B0400000000000000" charset="-122"/>
                <a:ea typeface="苹方-简" panose="020B0400000000000000" charset="-122"/>
                <a:sym typeface="Source Han Serif SC" panose="02020400000000000000" pitchFamily="18" charset="-122"/>
              </a:rPr>
              <a:t>9</a:t>
            </a:r>
            <a:r>
              <a:rPr lang="zh-CN" altLang="en-US" dirty="0">
                <a:solidFill>
                  <a:schemeClr val="tx1">
                    <a:lumMod val="95000"/>
                    <a:lumOff val="5000"/>
                  </a:schemeClr>
                </a:solidFill>
                <a:latin typeface="苹方-简" panose="020B0400000000000000" charset="-122"/>
                <a:ea typeface="苹方-简" panose="020B0400000000000000" charset="-122"/>
                <a:sym typeface="Source Han Serif SC" panose="02020400000000000000" pitchFamily="18" charset="-122"/>
              </a:rPr>
              <a:t>月</a:t>
            </a:r>
            <a:r>
              <a:rPr lang="en-US" altLang="zh-CN" dirty="0">
                <a:solidFill>
                  <a:schemeClr val="tx1">
                    <a:lumMod val="95000"/>
                    <a:lumOff val="5000"/>
                  </a:schemeClr>
                </a:solidFill>
                <a:latin typeface="苹方-简" panose="020B0400000000000000" charset="-122"/>
                <a:ea typeface="苹方-简" panose="020B0400000000000000" charset="-122"/>
                <a:sym typeface="Source Han Serif SC" panose="02020400000000000000" pitchFamily="18" charset="-122"/>
              </a:rPr>
              <a:t>5</a:t>
            </a:r>
            <a:r>
              <a:rPr lang="zh-CN" altLang="en-US" dirty="0">
                <a:solidFill>
                  <a:schemeClr val="tx1">
                    <a:lumMod val="95000"/>
                    <a:lumOff val="5000"/>
                  </a:schemeClr>
                </a:solidFill>
                <a:latin typeface="苹方-简" panose="020B0400000000000000" charset="-122"/>
                <a:ea typeface="苹方-简" panose="020B0400000000000000" charset="-122"/>
                <a:sym typeface="Source Han Serif SC" panose="02020400000000000000" pitchFamily="18" charset="-122"/>
              </a:rPr>
              <a:t>日</a:t>
            </a:r>
            <a:endParaRPr lang="zh-CN" altLang="en-US" dirty="0">
              <a:solidFill>
                <a:schemeClr val="tx1">
                  <a:lumMod val="95000"/>
                  <a:lumOff val="5000"/>
                </a:schemeClr>
              </a:solidFill>
              <a:latin typeface="苹方-简" panose="020B0400000000000000" charset="-122"/>
              <a:ea typeface="苹方-简" panose="020B0400000000000000" charset="-122"/>
              <a:sym typeface="Source Han Serif SC" panose="02020400000000000000" pitchFamily="18" charset="-122"/>
            </a:endParaRPr>
          </a:p>
        </p:txBody>
      </p:sp>
      <p:sp>
        <p:nvSpPr>
          <p:cNvPr id="15" name="TextBox 73"/>
          <p:cNvSpPr txBox="1">
            <a:spLocks noChangeArrowheads="1"/>
          </p:cNvSpPr>
          <p:nvPr/>
        </p:nvSpPr>
        <p:spPr bwMode="auto">
          <a:xfrm>
            <a:off x="4158615" y="2692400"/>
            <a:ext cx="2313305" cy="1800225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wrap="square" lIns="0" tIns="0" rIns="0" bIns="0">
            <a:spAutoFit/>
          </a:bodyPr>
          <a:p>
            <a:pPr marL="342900" indent="-342900" algn="just" defTabSz="1216660">
              <a:lnSpc>
                <a:spcPct val="150000"/>
              </a:lnSpc>
              <a:buFont typeface="+mj-lt"/>
              <a:buAutoNum type="arabicPeriod"/>
              <a:defRPr/>
            </a:pPr>
            <a:r>
              <a:rPr lang="zh-CN" sz="1300" dirty="0">
                <a:solidFill>
                  <a:schemeClr val="tx1">
                    <a:lumMod val="95000"/>
                    <a:lumOff val="5000"/>
                  </a:schemeClr>
                </a:solidFill>
                <a:latin typeface="苹方-简" panose="020B0400000000000000" charset="-122"/>
                <a:ea typeface="苹方-简" panose="020B0400000000000000" charset="-122"/>
                <a:sym typeface="Source Han Serif SC" panose="02020400000000000000" pitchFamily="18" charset="-122"/>
              </a:rPr>
              <a:t>需求分析</a:t>
            </a:r>
            <a:r>
              <a:rPr lang="en-US" altLang="zh-CN" sz="1300" dirty="0">
                <a:solidFill>
                  <a:schemeClr val="tx1">
                    <a:lumMod val="95000"/>
                    <a:lumOff val="5000"/>
                  </a:schemeClr>
                </a:solidFill>
                <a:latin typeface="苹方-简" panose="020B0400000000000000" charset="-122"/>
                <a:ea typeface="苹方-简" panose="020B0400000000000000" charset="-122"/>
                <a:sym typeface="Source Han Serif SC" panose="02020400000000000000" pitchFamily="18" charset="-122"/>
              </a:rPr>
              <a:t>(</a:t>
            </a:r>
            <a:r>
              <a:rPr lang="zh-CN" altLang="en-US" sz="1300" dirty="0">
                <a:solidFill>
                  <a:schemeClr val="tx1">
                    <a:lumMod val="95000"/>
                    <a:lumOff val="5000"/>
                  </a:schemeClr>
                </a:solidFill>
                <a:latin typeface="苹方-简" panose="020B0400000000000000" charset="-122"/>
                <a:ea typeface="苹方-简" panose="020B0400000000000000" charset="-122"/>
                <a:sym typeface="Source Han Serif SC" panose="02020400000000000000" pitchFamily="18" charset="-122"/>
              </a:rPr>
              <a:t>完成</a:t>
            </a:r>
            <a:r>
              <a:rPr lang="en-US" altLang="zh-CN" sz="1300" dirty="0">
                <a:solidFill>
                  <a:schemeClr val="tx1">
                    <a:lumMod val="95000"/>
                    <a:lumOff val="5000"/>
                  </a:schemeClr>
                </a:solidFill>
                <a:latin typeface="苹方-简" panose="020B0400000000000000" charset="-122"/>
                <a:ea typeface="苹方-简" panose="020B0400000000000000" charset="-122"/>
                <a:sym typeface="Source Han Serif SC" panose="02020400000000000000" pitchFamily="18" charset="-122"/>
              </a:rPr>
              <a:t>)</a:t>
            </a:r>
            <a:endParaRPr lang="zh-CN" sz="1300" dirty="0">
              <a:solidFill>
                <a:schemeClr val="tx1">
                  <a:lumMod val="95000"/>
                  <a:lumOff val="5000"/>
                </a:schemeClr>
              </a:solidFill>
              <a:latin typeface="苹方-简" panose="020B0400000000000000" charset="-122"/>
              <a:ea typeface="苹方-简" panose="020B0400000000000000" charset="-122"/>
              <a:sym typeface="Source Han Serif SC" panose="02020400000000000000" pitchFamily="18" charset="-122"/>
            </a:endParaRPr>
          </a:p>
          <a:p>
            <a:pPr marL="342900" indent="-342900" algn="just" defTabSz="1216660">
              <a:lnSpc>
                <a:spcPct val="150000"/>
              </a:lnSpc>
              <a:buFont typeface="+mj-lt"/>
              <a:buAutoNum type="arabicPeriod"/>
              <a:defRPr/>
            </a:pPr>
            <a:r>
              <a:rPr lang="zh-CN" sz="1300" dirty="0">
                <a:solidFill>
                  <a:schemeClr val="tx1">
                    <a:lumMod val="95000"/>
                    <a:lumOff val="5000"/>
                  </a:schemeClr>
                </a:solidFill>
                <a:latin typeface="苹方-简" panose="020B0400000000000000" charset="-122"/>
                <a:ea typeface="苹方-简" panose="020B0400000000000000" charset="-122"/>
                <a:sym typeface="Source Han Serif SC" panose="02020400000000000000" pitchFamily="18" charset="-122"/>
              </a:rPr>
              <a:t>原型设计</a:t>
            </a:r>
            <a:endParaRPr lang="zh-CN" sz="1300" dirty="0">
              <a:solidFill>
                <a:schemeClr val="tx1">
                  <a:lumMod val="95000"/>
                  <a:lumOff val="5000"/>
                </a:schemeClr>
              </a:solidFill>
              <a:latin typeface="苹方-简" panose="020B0400000000000000" charset="-122"/>
              <a:ea typeface="苹方-简" panose="020B0400000000000000" charset="-122"/>
              <a:sym typeface="Source Han Serif SC" panose="02020400000000000000" pitchFamily="18" charset="-122"/>
            </a:endParaRPr>
          </a:p>
          <a:p>
            <a:pPr marL="342900" indent="-342900" algn="just" defTabSz="1216660">
              <a:lnSpc>
                <a:spcPct val="150000"/>
              </a:lnSpc>
              <a:buFont typeface="+mj-lt"/>
              <a:buAutoNum type="arabicPeriod"/>
              <a:defRPr/>
            </a:pPr>
            <a:r>
              <a:rPr lang="zh-CN" sz="1300" dirty="0">
                <a:solidFill>
                  <a:schemeClr val="tx1">
                    <a:lumMod val="95000"/>
                    <a:lumOff val="5000"/>
                  </a:schemeClr>
                </a:solidFill>
                <a:latin typeface="苹方-简" panose="020B0400000000000000" charset="-122"/>
                <a:ea typeface="苹方-简" panose="020B0400000000000000" charset="-122"/>
                <a:sym typeface="Source Han Serif SC" panose="02020400000000000000" pitchFamily="18" charset="-122"/>
              </a:rPr>
              <a:t>功能详细设计</a:t>
            </a:r>
            <a:endParaRPr lang="zh-CN" sz="1300" dirty="0">
              <a:solidFill>
                <a:schemeClr val="tx1">
                  <a:lumMod val="95000"/>
                  <a:lumOff val="5000"/>
                </a:schemeClr>
              </a:solidFill>
              <a:latin typeface="苹方-简" panose="020B0400000000000000" charset="-122"/>
              <a:ea typeface="苹方-简" panose="020B0400000000000000" charset="-122"/>
              <a:sym typeface="Source Han Serif SC" panose="02020400000000000000" pitchFamily="18" charset="-122"/>
            </a:endParaRPr>
          </a:p>
          <a:p>
            <a:pPr marL="342900" indent="-342900" algn="just" defTabSz="1216660">
              <a:lnSpc>
                <a:spcPct val="150000"/>
              </a:lnSpc>
              <a:buFont typeface="+mj-lt"/>
              <a:buAutoNum type="arabicPeriod"/>
              <a:defRPr/>
            </a:pPr>
            <a:r>
              <a:rPr lang="zh-CN" sz="1300" dirty="0">
                <a:solidFill>
                  <a:schemeClr val="tx1">
                    <a:lumMod val="95000"/>
                    <a:lumOff val="5000"/>
                  </a:schemeClr>
                </a:solidFill>
                <a:latin typeface="苹方-简" panose="020B0400000000000000" charset="-122"/>
                <a:ea typeface="苹方-简" panose="020B0400000000000000" charset="-122"/>
                <a:sym typeface="Source Han Serif SC" panose="02020400000000000000" pitchFamily="18" charset="-122"/>
              </a:rPr>
              <a:t>数据库设计</a:t>
            </a:r>
            <a:endParaRPr lang="zh-CN" altLang="en-US" sz="1300" dirty="0">
              <a:solidFill>
                <a:schemeClr val="tx1">
                  <a:lumMod val="95000"/>
                  <a:lumOff val="5000"/>
                </a:schemeClr>
              </a:solidFill>
              <a:latin typeface="苹方-简" panose="020B0400000000000000" charset="-122"/>
              <a:ea typeface="苹方-简" panose="020B0400000000000000" charset="-122"/>
              <a:sym typeface="Source Han Serif SC" panose="02020400000000000000" pitchFamily="18" charset="-122"/>
            </a:endParaRPr>
          </a:p>
          <a:p>
            <a:pPr marL="342900" indent="-342900" algn="just" defTabSz="1216660">
              <a:lnSpc>
                <a:spcPct val="150000"/>
              </a:lnSpc>
              <a:buFont typeface="+mj-lt"/>
              <a:buAutoNum type="arabicPeriod"/>
              <a:defRPr/>
            </a:pPr>
            <a:endParaRPr lang="zh-CN" sz="1300" dirty="0">
              <a:solidFill>
                <a:schemeClr val="tx1">
                  <a:lumMod val="95000"/>
                  <a:lumOff val="5000"/>
                </a:schemeClr>
              </a:solidFill>
              <a:latin typeface="苹方-简" panose="020B0400000000000000" charset="-122"/>
              <a:ea typeface="苹方-简" panose="020B0400000000000000" charset="-122"/>
              <a:sym typeface="Source Han Serif SC" panose="02020400000000000000" pitchFamily="18" charset="-122"/>
            </a:endParaRPr>
          </a:p>
          <a:p>
            <a:pPr marL="342900" indent="-342900" algn="just" defTabSz="1216660">
              <a:lnSpc>
                <a:spcPct val="150000"/>
              </a:lnSpc>
              <a:defRPr/>
            </a:pPr>
            <a:endParaRPr lang="zh-CN" altLang="en-US" sz="1300" dirty="0">
              <a:solidFill>
                <a:schemeClr val="tx1">
                  <a:lumMod val="95000"/>
                  <a:lumOff val="5000"/>
                </a:schemeClr>
              </a:solidFill>
              <a:latin typeface="苹方-简" panose="020B0400000000000000" charset="-122"/>
              <a:ea typeface="苹方-简" panose="020B0400000000000000" charset="-122"/>
              <a:sym typeface="Source Han Serif SC" panose="02020400000000000000" pitchFamily="18" charset="-122"/>
            </a:endParaRPr>
          </a:p>
        </p:txBody>
      </p:sp>
      <p:grpSp>
        <p:nvGrpSpPr>
          <p:cNvPr id="17" name="组合 113"/>
          <p:cNvGrpSpPr/>
          <p:nvPr/>
        </p:nvGrpSpPr>
        <p:grpSpPr bwMode="auto">
          <a:xfrm>
            <a:off x="6471638" y="5333403"/>
            <a:ext cx="350794" cy="314383"/>
            <a:chOff x="4971660" y="1569718"/>
            <a:chExt cx="144016" cy="144016"/>
          </a:xfrm>
        </p:grpSpPr>
        <p:sp>
          <p:nvSpPr>
            <p:cNvPr id="18" name="椭圆 114"/>
            <p:cNvSpPr>
              <a:spLocks noChangeArrowheads="1"/>
            </p:cNvSpPr>
            <p:nvPr/>
          </p:nvSpPr>
          <p:spPr bwMode="auto">
            <a:xfrm>
              <a:off x="4971660" y="1569718"/>
              <a:ext cx="144016" cy="144016"/>
            </a:xfrm>
            <a:prstGeom prst="ellipse">
              <a:avLst/>
            </a:prstGeom>
            <a:solidFill>
              <a:srgbClr val="EE880B"/>
            </a:solidFill>
            <a:ln w="15875" algn="ctr">
              <a:noFill/>
              <a:round/>
            </a:ln>
          </p:spPr>
          <p:txBody>
            <a:bodyPr lIns="153563" tIns="76781" rIns="153563" bIns="76781" anchor="ctr"/>
            <a:p>
              <a:pPr algn="ctr" defTabSz="1216660">
                <a:defRPr/>
              </a:pPr>
              <a:endParaRPr lang="zh-CN" altLang="en-US" sz="2000" dirty="0">
                <a:solidFill>
                  <a:schemeClr val="tx1">
                    <a:lumMod val="95000"/>
                    <a:lumOff val="5000"/>
                  </a:schemeClr>
                </a:solidFill>
                <a:latin typeface="苹方-简" panose="020B0400000000000000" charset="-122"/>
                <a:ea typeface="苹方-简" panose="020B0400000000000000" charset="-122"/>
                <a:sym typeface="Source Han Serif SC" panose="02020400000000000000" pitchFamily="18" charset="-122"/>
              </a:endParaRPr>
            </a:p>
          </p:txBody>
        </p:sp>
        <p:sp>
          <p:nvSpPr>
            <p:cNvPr id="19" name="椭圆 115"/>
            <p:cNvSpPr>
              <a:spLocks noChangeArrowheads="1"/>
            </p:cNvSpPr>
            <p:nvPr/>
          </p:nvSpPr>
          <p:spPr bwMode="auto">
            <a:xfrm>
              <a:off x="5006027" y="1603875"/>
              <a:ext cx="75281" cy="75701"/>
            </a:xfrm>
            <a:prstGeom prst="ellipse">
              <a:avLst/>
            </a:prstGeom>
            <a:solidFill>
              <a:schemeClr val="bg1"/>
            </a:solidFill>
            <a:ln w="15875" algn="ctr">
              <a:noFill/>
              <a:round/>
            </a:ln>
          </p:spPr>
          <p:txBody>
            <a:bodyPr lIns="153563" tIns="76781" rIns="153563" bIns="76781" anchor="ctr"/>
            <a:p>
              <a:pPr algn="ctr" defTabSz="1216660">
                <a:defRPr/>
              </a:pPr>
              <a:endParaRPr lang="zh-CN" altLang="en-US" sz="2000" dirty="0">
                <a:solidFill>
                  <a:schemeClr val="tx1">
                    <a:lumMod val="95000"/>
                    <a:lumOff val="5000"/>
                  </a:schemeClr>
                </a:solidFill>
                <a:latin typeface="苹方-简" panose="020B0400000000000000" charset="-122"/>
                <a:ea typeface="苹方-简" panose="020B0400000000000000" charset="-122"/>
                <a:sym typeface="Source Han Serif SC" panose="02020400000000000000" pitchFamily="18" charset="-122"/>
              </a:endParaRPr>
            </a:p>
          </p:txBody>
        </p:sp>
      </p:grpSp>
      <p:cxnSp>
        <p:nvCxnSpPr>
          <p:cNvPr id="20" name="直接连接符 19"/>
          <p:cNvCxnSpPr>
            <a:cxnSpLocks noChangeShapeType="1"/>
          </p:cNvCxnSpPr>
          <p:nvPr/>
        </p:nvCxnSpPr>
        <p:spPr bwMode="auto">
          <a:xfrm>
            <a:off x="6624019" y="2156226"/>
            <a:ext cx="28570" cy="3000931"/>
          </a:xfrm>
          <a:prstGeom prst="line">
            <a:avLst/>
          </a:prstGeom>
          <a:noFill/>
          <a:ln w="9525" algn="ctr">
            <a:solidFill>
              <a:srgbClr val="EE880B"/>
            </a:solidFill>
            <a:prstDash val="dash"/>
            <a:round/>
            <a:headEnd type="oval" w="med" len="med"/>
          </a:ln>
        </p:spPr>
      </p:cxnSp>
      <p:sp>
        <p:nvSpPr>
          <p:cNvPr id="21" name="TextBox 117"/>
          <p:cNvSpPr txBox="1">
            <a:spLocks noChangeArrowheads="1"/>
          </p:cNvSpPr>
          <p:nvPr/>
        </p:nvSpPr>
        <p:spPr bwMode="auto">
          <a:xfrm>
            <a:off x="6830060" y="2415540"/>
            <a:ext cx="1951990" cy="276860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wrap="square" lIns="0" tIns="0" rIns="0" bIns="0">
            <a:spAutoFit/>
          </a:bodyPr>
          <a:p>
            <a:pPr defTabSz="1216660">
              <a:defRPr/>
            </a:pPr>
            <a:r>
              <a:rPr lang="zh-CN" altLang="en-US" dirty="0">
                <a:solidFill>
                  <a:schemeClr val="tx1">
                    <a:lumMod val="95000"/>
                    <a:lumOff val="5000"/>
                  </a:schemeClr>
                </a:solidFill>
                <a:latin typeface="苹方-简" panose="020B0400000000000000" charset="-122"/>
                <a:ea typeface="苹方-简" panose="020B0400000000000000" charset="-122"/>
                <a:sym typeface="Source Han Serif SC" panose="02020400000000000000" pitchFamily="18" charset="-122"/>
              </a:rPr>
              <a:t>20</a:t>
            </a:r>
            <a:r>
              <a:rPr lang="en-US" altLang="zh-CN" dirty="0">
                <a:solidFill>
                  <a:schemeClr val="tx1">
                    <a:lumMod val="95000"/>
                    <a:lumOff val="5000"/>
                  </a:schemeClr>
                </a:solidFill>
                <a:latin typeface="苹方-简" panose="020B0400000000000000" charset="-122"/>
                <a:ea typeface="苹方-简" panose="020B0400000000000000" charset="-122"/>
                <a:sym typeface="Source Han Serif SC" panose="02020400000000000000" pitchFamily="18" charset="-122"/>
              </a:rPr>
              <a:t>26</a:t>
            </a:r>
            <a:r>
              <a:rPr lang="zh-CN" altLang="en-US" dirty="0">
                <a:solidFill>
                  <a:schemeClr val="tx1">
                    <a:lumMod val="95000"/>
                    <a:lumOff val="5000"/>
                  </a:schemeClr>
                </a:solidFill>
                <a:latin typeface="苹方-简" panose="020B0400000000000000" charset="-122"/>
                <a:ea typeface="苹方-简" panose="020B0400000000000000" charset="-122"/>
                <a:sym typeface="Source Han Serif SC" panose="02020400000000000000" pitchFamily="18" charset="-122"/>
              </a:rPr>
              <a:t>年</a:t>
            </a:r>
            <a:r>
              <a:rPr lang="en-US" altLang="zh-CN" dirty="0">
                <a:solidFill>
                  <a:schemeClr val="tx1">
                    <a:lumMod val="95000"/>
                    <a:lumOff val="5000"/>
                  </a:schemeClr>
                </a:solidFill>
                <a:latin typeface="苹方-简" panose="020B0400000000000000" charset="-122"/>
                <a:ea typeface="苹方-简" panose="020B0400000000000000" charset="-122"/>
                <a:sym typeface="Source Han Serif SC" panose="02020400000000000000" pitchFamily="18" charset="-122"/>
              </a:rPr>
              <a:t>10</a:t>
            </a:r>
            <a:r>
              <a:rPr lang="zh-CN" altLang="en-US" dirty="0">
                <a:solidFill>
                  <a:schemeClr val="tx1">
                    <a:lumMod val="95000"/>
                    <a:lumOff val="5000"/>
                  </a:schemeClr>
                </a:solidFill>
                <a:latin typeface="苹方-简" panose="020B0400000000000000" charset="-122"/>
                <a:ea typeface="苹方-简" panose="020B0400000000000000" charset="-122"/>
                <a:sym typeface="Source Han Serif SC" panose="02020400000000000000" pitchFamily="18" charset="-122"/>
              </a:rPr>
              <a:t>月</a:t>
            </a:r>
            <a:r>
              <a:rPr lang="en-US" altLang="zh-CN" dirty="0">
                <a:solidFill>
                  <a:schemeClr val="tx1">
                    <a:lumMod val="95000"/>
                    <a:lumOff val="5000"/>
                  </a:schemeClr>
                </a:solidFill>
                <a:latin typeface="苹方-简" panose="020B0400000000000000" charset="-122"/>
                <a:ea typeface="苹方-简" panose="020B0400000000000000" charset="-122"/>
                <a:sym typeface="Source Han Serif SC" panose="02020400000000000000" pitchFamily="18" charset="-122"/>
              </a:rPr>
              <a:t>10</a:t>
            </a:r>
            <a:r>
              <a:rPr lang="zh-CN" altLang="en-US" dirty="0">
                <a:solidFill>
                  <a:schemeClr val="tx1">
                    <a:lumMod val="95000"/>
                    <a:lumOff val="5000"/>
                  </a:schemeClr>
                </a:solidFill>
                <a:latin typeface="苹方-简" panose="020B0400000000000000" charset="-122"/>
                <a:ea typeface="苹方-简" panose="020B0400000000000000" charset="-122"/>
                <a:sym typeface="Source Han Serif SC" panose="02020400000000000000" pitchFamily="18" charset="-122"/>
              </a:rPr>
              <a:t>日</a:t>
            </a:r>
            <a:endParaRPr lang="zh-CN" altLang="en-US" dirty="0">
              <a:solidFill>
                <a:schemeClr val="tx1">
                  <a:lumMod val="95000"/>
                  <a:lumOff val="5000"/>
                </a:schemeClr>
              </a:solidFill>
              <a:latin typeface="苹方-简" panose="020B0400000000000000" charset="-122"/>
              <a:ea typeface="苹方-简" panose="020B0400000000000000" charset="-122"/>
              <a:sym typeface="Source Han Serif SC" panose="02020400000000000000" pitchFamily="18" charset="-122"/>
            </a:endParaRPr>
          </a:p>
        </p:txBody>
      </p:sp>
      <p:sp>
        <p:nvSpPr>
          <p:cNvPr id="22" name="TextBox 118"/>
          <p:cNvSpPr txBox="1">
            <a:spLocks noChangeArrowheads="1"/>
          </p:cNvSpPr>
          <p:nvPr/>
        </p:nvSpPr>
        <p:spPr bwMode="auto">
          <a:xfrm>
            <a:off x="6738620" y="2705100"/>
            <a:ext cx="2434590" cy="1800225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wrap="square" lIns="0" tIns="0" rIns="0" bIns="0">
            <a:spAutoFit/>
          </a:bodyPr>
          <a:p>
            <a:pPr marL="342900" indent="-342900" algn="just" defTabSz="1216660">
              <a:lnSpc>
                <a:spcPct val="150000"/>
              </a:lnSpc>
              <a:buFont typeface="+mj-lt"/>
              <a:buAutoNum type="arabicPeriod"/>
              <a:defRPr/>
            </a:pPr>
            <a:r>
              <a:rPr lang="zh-CN" sz="1300" dirty="0">
                <a:solidFill>
                  <a:schemeClr val="tx1">
                    <a:lumMod val="95000"/>
                    <a:lumOff val="5000"/>
                  </a:schemeClr>
                </a:solidFill>
                <a:latin typeface="苹方-简" panose="020B0400000000000000" charset="-122"/>
                <a:ea typeface="苹方-简" panose="020B0400000000000000" charset="-122"/>
                <a:sym typeface="Source Han Serif SC" panose="02020400000000000000" pitchFamily="18" charset="-122"/>
              </a:rPr>
              <a:t>后台框架</a:t>
            </a:r>
            <a:endParaRPr lang="zh-CN" sz="1300" dirty="0">
              <a:solidFill>
                <a:schemeClr val="tx1">
                  <a:lumMod val="95000"/>
                  <a:lumOff val="5000"/>
                </a:schemeClr>
              </a:solidFill>
              <a:latin typeface="苹方-简" panose="020B0400000000000000" charset="-122"/>
              <a:ea typeface="苹方-简" panose="020B0400000000000000" charset="-122"/>
              <a:sym typeface="Source Han Serif SC" panose="02020400000000000000" pitchFamily="18" charset="-122"/>
            </a:endParaRPr>
          </a:p>
          <a:p>
            <a:pPr marL="342900" indent="-342900" algn="just" defTabSz="1216660">
              <a:lnSpc>
                <a:spcPct val="150000"/>
              </a:lnSpc>
              <a:buFont typeface="+mj-lt"/>
              <a:buAutoNum type="arabicPeriod"/>
              <a:defRPr/>
            </a:pPr>
            <a:r>
              <a:rPr lang="zh-CN" sz="1300" dirty="0">
                <a:solidFill>
                  <a:schemeClr val="tx1">
                    <a:lumMod val="95000"/>
                    <a:lumOff val="5000"/>
                  </a:schemeClr>
                </a:solidFill>
                <a:latin typeface="苹方-简" panose="020B0400000000000000" charset="-122"/>
                <a:ea typeface="苹方-简" panose="020B0400000000000000" charset="-122"/>
                <a:sym typeface="Source Han Serif SC" panose="02020400000000000000" pitchFamily="18" charset="-122"/>
              </a:rPr>
              <a:t>接口</a:t>
            </a:r>
            <a:r>
              <a:rPr lang="zh-CN" sz="1300" dirty="0">
                <a:solidFill>
                  <a:schemeClr val="tx1">
                    <a:lumMod val="95000"/>
                    <a:lumOff val="5000"/>
                  </a:schemeClr>
                </a:solidFill>
                <a:latin typeface="苹方-简" panose="020B0400000000000000" charset="-122"/>
                <a:ea typeface="苹方-简" panose="020B0400000000000000" charset="-122"/>
                <a:sym typeface="Source Han Serif SC" panose="02020400000000000000" pitchFamily="18" charset="-122"/>
              </a:rPr>
              <a:t>开发</a:t>
            </a:r>
            <a:endParaRPr lang="zh-CN" sz="1300" dirty="0">
              <a:solidFill>
                <a:schemeClr val="tx1">
                  <a:lumMod val="95000"/>
                  <a:lumOff val="5000"/>
                </a:schemeClr>
              </a:solidFill>
              <a:latin typeface="苹方-简" panose="020B0400000000000000" charset="-122"/>
              <a:ea typeface="苹方-简" panose="020B0400000000000000" charset="-122"/>
              <a:sym typeface="Source Han Serif SC" panose="02020400000000000000" pitchFamily="18" charset="-122"/>
            </a:endParaRPr>
          </a:p>
          <a:p>
            <a:pPr marL="342900" indent="-342900" algn="just" defTabSz="1216660">
              <a:lnSpc>
                <a:spcPct val="150000"/>
              </a:lnSpc>
              <a:buFont typeface="+mj-lt"/>
              <a:buAutoNum type="arabicPeriod"/>
              <a:defRPr/>
            </a:pPr>
            <a:r>
              <a:rPr lang="zh-CN" sz="1300" dirty="0">
                <a:solidFill>
                  <a:schemeClr val="tx1">
                    <a:lumMod val="95000"/>
                    <a:lumOff val="5000"/>
                  </a:schemeClr>
                </a:solidFill>
                <a:latin typeface="苹方-简" panose="020B0400000000000000" charset="-122"/>
                <a:ea typeface="苹方-简" panose="020B0400000000000000" charset="-122"/>
                <a:sym typeface="Source Han Serif SC" panose="02020400000000000000" pitchFamily="18" charset="-122"/>
              </a:rPr>
              <a:t>前端框架</a:t>
            </a:r>
            <a:r>
              <a:rPr lang="zh-CN" sz="1300" dirty="0">
                <a:solidFill>
                  <a:schemeClr val="tx1">
                    <a:lumMod val="95000"/>
                    <a:lumOff val="5000"/>
                  </a:schemeClr>
                </a:solidFill>
                <a:latin typeface="苹方-简" panose="020B0400000000000000" charset="-122"/>
                <a:ea typeface="苹方-简" panose="020B0400000000000000" charset="-122"/>
                <a:sym typeface="Source Han Serif SC" panose="02020400000000000000" pitchFamily="18" charset="-122"/>
              </a:rPr>
              <a:t>开发</a:t>
            </a:r>
            <a:endParaRPr lang="zh-CN" sz="1300" dirty="0">
              <a:solidFill>
                <a:schemeClr val="tx1">
                  <a:lumMod val="95000"/>
                  <a:lumOff val="5000"/>
                </a:schemeClr>
              </a:solidFill>
              <a:latin typeface="苹方-简" panose="020B0400000000000000" charset="-122"/>
              <a:ea typeface="苹方-简" panose="020B0400000000000000" charset="-122"/>
              <a:sym typeface="Source Han Serif SC" panose="02020400000000000000" pitchFamily="18" charset="-122"/>
            </a:endParaRPr>
          </a:p>
          <a:p>
            <a:pPr marL="342900" indent="-342900" algn="just" defTabSz="1216660">
              <a:lnSpc>
                <a:spcPct val="150000"/>
              </a:lnSpc>
              <a:buFont typeface="+mj-lt"/>
              <a:buAutoNum type="arabicPeriod"/>
              <a:defRPr/>
            </a:pPr>
            <a:r>
              <a:rPr lang="zh-CN" altLang="en-US" sz="1300" dirty="0">
                <a:solidFill>
                  <a:schemeClr val="tx1">
                    <a:lumMod val="95000"/>
                    <a:lumOff val="5000"/>
                  </a:schemeClr>
                </a:solidFill>
                <a:latin typeface="苹方-简" panose="020B0400000000000000" charset="-122"/>
                <a:ea typeface="苹方-简" panose="020B0400000000000000" charset="-122"/>
                <a:sym typeface="Source Han Serif SC" panose="02020400000000000000" pitchFamily="18" charset="-122"/>
              </a:rPr>
              <a:t>数据库</a:t>
            </a:r>
            <a:r>
              <a:rPr lang="zh-CN" altLang="en-US" sz="1300" dirty="0">
                <a:solidFill>
                  <a:schemeClr val="tx1">
                    <a:lumMod val="95000"/>
                    <a:lumOff val="5000"/>
                  </a:schemeClr>
                </a:solidFill>
                <a:latin typeface="苹方-简" panose="020B0400000000000000" charset="-122"/>
                <a:ea typeface="苹方-简" panose="020B0400000000000000" charset="-122"/>
                <a:sym typeface="Source Han Serif SC" panose="02020400000000000000" pitchFamily="18" charset="-122"/>
              </a:rPr>
              <a:t>开发</a:t>
            </a:r>
            <a:endParaRPr lang="zh-CN" altLang="en-US" sz="1300" dirty="0">
              <a:solidFill>
                <a:schemeClr val="tx1">
                  <a:lumMod val="95000"/>
                  <a:lumOff val="5000"/>
                </a:schemeClr>
              </a:solidFill>
              <a:latin typeface="苹方-简" panose="020B0400000000000000" charset="-122"/>
              <a:ea typeface="苹方-简" panose="020B0400000000000000" charset="-122"/>
              <a:sym typeface="Source Han Serif SC" panose="02020400000000000000" pitchFamily="18" charset="-122"/>
            </a:endParaRPr>
          </a:p>
          <a:p>
            <a:pPr marL="342900" indent="-342900" algn="just" defTabSz="1216660">
              <a:lnSpc>
                <a:spcPct val="150000"/>
              </a:lnSpc>
              <a:buFont typeface="+mj-lt"/>
              <a:buAutoNum type="arabicPeriod"/>
              <a:defRPr/>
            </a:pPr>
            <a:r>
              <a:rPr lang="en-US" altLang="zh-CN" sz="1300" dirty="0">
                <a:solidFill>
                  <a:schemeClr val="tx1">
                    <a:lumMod val="95000"/>
                    <a:lumOff val="5000"/>
                  </a:schemeClr>
                </a:solidFill>
                <a:latin typeface="苹方-简" panose="020B0400000000000000" charset="-122"/>
                <a:ea typeface="苹方-简" panose="020B0400000000000000" charset="-122"/>
                <a:sym typeface="Source Han Serif SC" panose="02020400000000000000" pitchFamily="18" charset="-122"/>
              </a:rPr>
              <a:t>OCR</a:t>
            </a:r>
            <a:r>
              <a:rPr lang="zh-CN" altLang="en-US" sz="1300" dirty="0">
                <a:solidFill>
                  <a:schemeClr val="tx1">
                    <a:lumMod val="95000"/>
                    <a:lumOff val="5000"/>
                  </a:schemeClr>
                </a:solidFill>
                <a:latin typeface="苹方-简" panose="020B0400000000000000" charset="-122"/>
                <a:ea typeface="苹方-简" panose="020B0400000000000000" charset="-122"/>
                <a:sym typeface="Source Han Serif SC" panose="02020400000000000000" pitchFamily="18" charset="-122"/>
              </a:rPr>
              <a:t>算法</a:t>
            </a:r>
            <a:r>
              <a:rPr lang="zh-CN" altLang="en-US" sz="1300" dirty="0">
                <a:solidFill>
                  <a:schemeClr val="tx1">
                    <a:lumMod val="95000"/>
                    <a:lumOff val="5000"/>
                  </a:schemeClr>
                </a:solidFill>
                <a:latin typeface="苹方-简" panose="020B0400000000000000" charset="-122"/>
                <a:ea typeface="苹方-简" panose="020B0400000000000000" charset="-122"/>
                <a:sym typeface="Source Han Serif SC" panose="02020400000000000000" pitchFamily="18" charset="-122"/>
              </a:rPr>
              <a:t>调优</a:t>
            </a:r>
            <a:endParaRPr lang="zh-CN" altLang="en-US" sz="1300" dirty="0">
              <a:solidFill>
                <a:schemeClr val="tx1">
                  <a:lumMod val="95000"/>
                  <a:lumOff val="5000"/>
                </a:schemeClr>
              </a:solidFill>
              <a:latin typeface="苹方-简" panose="020B0400000000000000" charset="-122"/>
              <a:ea typeface="苹方-简" panose="020B0400000000000000" charset="-122"/>
              <a:sym typeface="Source Han Serif SC" panose="02020400000000000000" pitchFamily="18" charset="-122"/>
            </a:endParaRPr>
          </a:p>
          <a:p>
            <a:pPr marL="342900" indent="-342900" algn="just" defTabSz="1216660">
              <a:lnSpc>
                <a:spcPct val="150000"/>
              </a:lnSpc>
              <a:buFont typeface="+mj-lt"/>
              <a:buAutoNum type="arabicPeriod"/>
              <a:defRPr/>
            </a:pPr>
            <a:r>
              <a:rPr lang="zh-CN" altLang="en-US" sz="1300" dirty="0">
                <a:solidFill>
                  <a:schemeClr val="tx1">
                    <a:lumMod val="95000"/>
                    <a:lumOff val="5000"/>
                  </a:schemeClr>
                </a:solidFill>
                <a:latin typeface="苹方-简" panose="020B0400000000000000" charset="-122"/>
                <a:ea typeface="苹方-简" panose="020B0400000000000000" charset="-122"/>
                <a:sym typeface="Source Han Serif SC" panose="02020400000000000000" pitchFamily="18" charset="-122"/>
              </a:rPr>
              <a:t>系统</a:t>
            </a:r>
            <a:r>
              <a:rPr lang="zh-CN" altLang="en-US" sz="1300" dirty="0">
                <a:solidFill>
                  <a:schemeClr val="tx1">
                    <a:lumMod val="95000"/>
                    <a:lumOff val="5000"/>
                  </a:schemeClr>
                </a:solidFill>
                <a:latin typeface="苹方-简" panose="020B0400000000000000" charset="-122"/>
                <a:ea typeface="苹方-简" panose="020B0400000000000000" charset="-122"/>
                <a:sym typeface="Source Han Serif SC" panose="02020400000000000000" pitchFamily="18" charset="-122"/>
              </a:rPr>
              <a:t>前后端联调</a:t>
            </a:r>
            <a:endParaRPr lang="zh-CN" altLang="en-US" sz="1300" dirty="0">
              <a:solidFill>
                <a:schemeClr val="tx1">
                  <a:lumMod val="95000"/>
                  <a:lumOff val="5000"/>
                </a:schemeClr>
              </a:solidFill>
              <a:latin typeface="苹方-简" panose="020B0400000000000000" charset="-122"/>
              <a:ea typeface="苹方-简" panose="020B0400000000000000" charset="-122"/>
              <a:sym typeface="Source Han Serif SC" panose="02020400000000000000" pitchFamily="18" charset="-122"/>
            </a:endParaRPr>
          </a:p>
        </p:txBody>
      </p:sp>
      <p:grpSp>
        <p:nvGrpSpPr>
          <p:cNvPr id="23" name="组合 125"/>
          <p:cNvGrpSpPr/>
          <p:nvPr/>
        </p:nvGrpSpPr>
        <p:grpSpPr bwMode="auto">
          <a:xfrm>
            <a:off x="9173405" y="5333403"/>
            <a:ext cx="350796" cy="314383"/>
            <a:chOff x="4971660" y="1569718"/>
            <a:chExt cx="144016" cy="144016"/>
          </a:xfrm>
        </p:grpSpPr>
        <p:sp>
          <p:nvSpPr>
            <p:cNvPr id="25" name="椭圆 126"/>
            <p:cNvSpPr>
              <a:spLocks noChangeArrowheads="1"/>
            </p:cNvSpPr>
            <p:nvPr/>
          </p:nvSpPr>
          <p:spPr bwMode="auto">
            <a:xfrm>
              <a:off x="4971660" y="1569718"/>
              <a:ext cx="144016" cy="144016"/>
            </a:xfrm>
            <a:prstGeom prst="ellipse">
              <a:avLst/>
            </a:prstGeom>
            <a:solidFill>
              <a:schemeClr val="accent2"/>
            </a:solidFill>
            <a:ln w="15875" algn="ctr">
              <a:noFill/>
              <a:round/>
            </a:ln>
          </p:spPr>
          <p:txBody>
            <a:bodyPr lIns="153563" tIns="76781" rIns="153563" bIns="76781" anchor="ctr"/>
            <a:p>
              <a:pPr algn="ctr" defTabSz="1216660">
                <a:defRPr/>
              </a:pPr>
              <a:endParaRPr lang="zh-CN" altLang="en-US" sz="2000" dirty="0">
                <a:solidFill>
                  <a:schemeClr val="tx1">
                    <a:lumMod val="95000"/>
                    <a:lumOff val="5000"/>
                  </a:schemeClr>
                </a:solidFill>
                <a:latin typeface="苹方-简" panose="020B0400000000000000" charset="-122"/>
                <a:ea typeface="苹方-简" panose="020B0400000000000000" charset="-122"/>
                <a:sym typeface="Source Han Serif SC" panose="02020400000000000000" pitchFamily="18" charset="-122"/>
              </a:endParaRPr>
            </a:p>
          </p:txBody>
        </p:sp>
        <p:sp>
          <p:nvSpPr>
            <p:cNvPr id="26" name="椭圆 127"/>
            <p:cNvSpPr>
              <a:spLocks noChangeArrowheads="1"/>
            </p:cNvSpPr>
            <p:nvPr/>
          </p:nvSpPr>
          <p:spPr bwMode="auto">
            <a:xfrm>
              <a:off x="5006027" y="1603875"/>
              <a:ext cx="75281" cy="75701"/>
            </a:xfrm>
            <a:prstGeom prst="ellipse">
              <a:avLst/>
            </a:prstGeom>
            <a:solidFill>
              <a:schemeClr val="bg1"/>
            </a:solidFill>
            <a:ln w="15875" algn="ctr">
              <a:noFill/>
              <a:round/>
            </a:ln>
          </p:spPr>
          <p:txBody>
            <a:bodyPr lIns="153563" tIns="76781" rIns="153563" bIns="76781" anchor="ctr"/>
            <a:p>
              <a:pPr algn="ctr" defTabSz="1216660">
                <a:defRPr/>
              </a:pPr>
              <a:endParaRPr lang="zh-CN" altLang="en-US" sz="2000" dirty="0">
                <a:solidFill>
                  <a:schemeClr val="tx1">
                    <a:lumMod val="95000"/>
                    <a:lumOff val="5000"/>
                  </a:schemeClr>
                </a:solidFill>
                <a:latin typeface="苹方-简" panose="020B0400000000000000" charset="-122"/>
                <a:ea typeface="苹方-简" panose="020B0400000000000000" charset="-122"/>
                <a:sym typeface="Source Han Serif SC" panose="02020400000000000000" pitchFamily="18" charset="-122"/>
              </a:endParaRPr>
            </a:p>
          </p:txBody>
        </p:sp>
      </p:grpSp>
      <p:cxnSp>
        <p:nvCxnSpPr>
          <p:cNvPr id="27" name="直接连接符 26"/>
          <p:cNvCxnSpPr>
            <a:cxnSpLocks noChangeShapeType="1"/>
          </p:cNvCxnSpPr>
          <p:nvPr/>
        </p:nvCxnSpPr>
        <p:spPr bwMode="auto">
          <a:xfrm>
            <a:off x="9354357" y="2172736"/>
            <a:ext cx="0" cy="2967588"/>
          </a:xfrm>
          <a:prstGeom prst="line">
            <a:avLst/>
          </a:prstGeom>
          <a:noFill/>
          <a:ln w="9525" algn="ctr">
            <a:solidFill>
              <a:schemeClr val="accent2"/>
            </a:solidFill>
            <a:prstDash val="dash"/>
            <a:round/>
            <a:headEnd type="oval" w="med" len="med"/>
          </a:ln>
        </p:spPr>
      </p:cxnSp>
      <p:sp>
        <p:nvSpPr>
          <p:cNvPr id="28" name="TextBox 129"/>
          <p:cNvSpPr txBox="1">
            <a:spLocks noChangeArrowheads="1"/>
          </p:cNvSpPr>
          <p:nvPr/>
        </p:nvSpPr>
        <p:spPr bwMode="auto">
          <a:xfrm>
            <a:off x="9523730" y="2415540"/>
            <a:ext cx="2668270" cy="276860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wrap="square" lIns="0" tIns="0" rIns="0" bIns="0">
            <a:spAutoFit/>
          </a:bodyPr>
          <a:p>
            <a:pPr defTabSz="1216660">
              <a:defRPr/>
            </a:pPr>
            <a:r>
              <a:rPr lang="en-US" altLang="zh-CN" dirty="0">
                <a:solidFill>
                  <a:schemeClr val="tx1">
                    <a:lumMod val="95000"/>
                    <a:lumOff val="5000"/>
                  </a:schemeClr>
                </a:solidFill>
                <a:latin typeface="苹方-简" panose="020B0400000000000000" charset="-122"/>
                <a:ea typeface="苹方-简" panose="020B0400000000000000" charset="-122"/>
                <a:sym typeface="Source Han Serif SC" panose="02020400000000000000" pitchFamily="18" charset="-122"/>
              </a:rPr>
              <a:t>2026</a:t>
            </a:r>
            <a:r>
              <a:rPr lang="zh-CN" altLang="en-US" dirty="0">
                <a:solidFill>
                  <a:schemeClr val="tx1">
                    <a:lumMod val="95000"/>
                    <a:lumOff val="5000"/>
                  </a:schemeClr>
                </a:solidFill>
                <a:latin typeface="苹方-简" panose="020B0400000000000000" charset="-122"/>
                <a:ea typeface="苹方-简" panose="020B0400000000000000" charset="-122"/>
                <a:sym typeface="Source Han Serif SC" panose="02020400000000000000" pitchFamily="18" charset="-122"/>
              </a:rPr>
              <a:t>年</a:t>
            </a:r>
            <a:r>
              <a:rPr lang="en-US" altLang="zh-CN" dirty="0">
                <a:solidFill>
                  <a:schemeClr val="tx1">
                    <a:lumMod val="95000"/>
                    <a:lumOff val="5000"/>
                  </a:schemeClr>
                </a:solidFill>
                <a:latin typeface="苹方-简" panose="020B0400000000000000" charset="-122"/>
                <a:ea typeface="苹方-简" panose="020B0400000000000000" charset="-122"/>
                <a:sym typeface="Source Han Serif SC" panose="02020400000000000000" pitchFamily="18" charset="-122"/>
              </a:rPr>
              <a:t>10</a:t>
            </a:r>
            <a:r>
              <a:rPr lang="zh-CN" altLang="en-US" dirty="0">
                <a:solidFill>
                  <a:schemeClr val="tx1">
                    <a:lumMod val="95000"/>
                    <a:lumOff val="5000"/>
                  </a:schemeClr>
                </a:solidFill>
                <a:latin typeface="苹方-简" panose="020B0400000000000000" charset="-122"/>
                <a:ea typeface="苹方-简" panose="020B0400000000000000" charset="-122"/>
                <a:sym typeface="Source Han Serif SC" panose="02020400000000000000" pitchFamily="18" charset="-122"/>
              </a:rPr>
              <a:t>月</a:t>
            </a:r>
            <a:r>
              <a:rPr lang="en-US" dirty="0">
                <a:solidFill>
                  <a:schemeClr val="tx1">
                    <a:lumMod val="95000"/>
                    <a:lumOff val="5000"/>
                  </a:schemeClr>
                </a:solidFill>
                <a:latin typeface="苹方-简" panose="020B0400000000000000" charset="-122"/>
                <a:ea typeface="苹方-简" panose="020B0400000000000000" charset="-122"/>
                <a:sym typeface="Source Han Serif SC" panose="02020400000000000000" pitchFamily="18" charset="-122"/>
              </a:rPr>
              <a:t>31</a:t>
            </a:r>
            <a:r>
              <a:rPr lang="zh-CN" altLang="en-US" dirty="0">
                <a:solidFill>
                  <a:schemeClr val="tx1">
                    <a:lumMod val="95000"/>
                    <a:lumOff val="5000"/>
                  </a:schemeClr>
                </a:solidFill>
                <a:latin typeface="苹方-简" panose="020B0400000000000000" charset="-122"/>
                <a:ea typeface="苹方-简" panose="020B0400000000000000" charset="-122"/>
                <a:sym typeface="Source Han Serif SC" panose="02020400000000000000" pitchFamily="18" charset="-122"/>
              </a:rPr>
              <a:t>日</a:t>
            </a:r>
            <a:endParaRPr lang="zh-CN" altLang="en-US" dirty="0">
              <a:solidFill>
                <a:schemeClr val="tx1">
                  <a:lumMod val="95000"/>
                  <a:lumOff val="5000"/>
                </a:schemeClr>
              </a:solidFill>
              <a:latin typeface="苹方-简" panose="020B0400000000000000" charset="-122"/>
              <a:ea typeface="苹方-简" panose="020B0400000000000000" charset="-122"/>
              <a:sym typeface="Source Han Serif SC" panose="02020400000000000000" pitchFamily="18" charset="-122"/>
            </a:endParaRPr>
          </a:p>
        </p:txBody>
      </p:sp>
      <p:sp>
        <p:nvSpPr>
          <p:cNvPr id="29" name="TextBox 130"/>
          <p:cNvSpPr txBox="1">
            <a:spLocks noChangeArrowheads="1"/>
          </p:cNvSpPr>
          <p:nvPr/>
        </p:nvSpPr>
        <p:spPr bwMode="auto">
          <a:xfrm>
            <a:off x="9440545" y="2734945"/>
            <a:ext cx="2203450" cy="1800225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wrap="square" lIns="0" tIns="0" rIns="0" bIns="0">
            <a:spAutoFit/>
          </a:bodyPr>
          <a:p>
            <a:pPr marL="342900" indent="-342900" algn="just" defTabSz="1216660">
              <a:lnSpc>
                <a:spcPct val="150000"/>
              </a:lnSpc>
              <a:buFont typeface="+mj-lt"/>
              <a:buAutoNum type="arabicPeriod"/>
              <a:defRPr/>
            </a:pPr>
            <a:r>
              <a:rPr lang="zh-CN" altLang="en-US" sz="1300" dirty="0">
                <a:solidFill>
                  <a:schemeClr val="tx1">
                    <a:lumMod val="95000"/>
                    <a:lumOff val="5000"/>
                  </a:schemeClr>
                </a:solidFill>
                <a:latin typeface="苹方-简" panose="020B0400000000000000" charset="-122"/>
                <a:ea typeface="苹方-简" panose="020B0400000000000000" charset="-122"/>
                <a:sym typeface="Source Han Serif SC" panose="02020400000000000000" pitchFamily="18" charset="-122"/>
              </a:rPr>
              <a:t>系统</a:t>
            </a:r>
            <a:r>
              <a:rPr lang="zh-CN" altLang="en-US" sz="1300" dirty="0">
                <a:solidFill>
                  <a:schemeClr val="tx1">
                    <a:lumMod val="95000"/>
                    <a:lumOff val="5000"/>
                  </a:schemeClr>
                </a:solidFill>
                <a:latin typeface="苹方-简" panose="020B0400000000000000" charset="-122"/>
                <a:ea typeface="苹方-简" panose="020B0400000000000000" charset="-122"/>
                <a:sym typeface="Source Han Serif SC" panose="02020400000000000000" pitchFamily="18" charset="-122"/>
              </a:rPr>
              <a:t>完整测试</a:t>
            </a:r>
            <a:endParaRPr lang="zh-CN" altLang="en-US" sz="1300" dirty="0">
              <a:solidFill>
                <a:schemeClr val="tx1">
                  <a:lumMod val="95000"/>
                  <a:lumOff val="5000"/>
                </a:schemeClr>
              </a:solidFill>
              <a:latin typeface="苹方-简" panose="020B0400000000000000" charset="-122"/>
              <a:ea typeface="苹方-简" panose="020B0400000000000000" charset="-122"/>
              <a:sym typeface="Source Han Serif SC" panose="02020400000000000000" pitchFamily="18" charset="-122"/>
            </a:endParaRPr>
          </a:p>
          <a:p>
            <a:pPr marL="342900" indent="-342900" algn="just" defTabSz="1216660">
              <a:lnSpc>
                <a:spcPct val="150000"/>
              </a:lnSpc>
              <a:buFont typeface="+mj-lt"/>
              <a:buAutoNum type="arabicPeriod"/>
              <a:defRPr/>
            </a:pPr>
            <a:r>
              <a:rPr lang="zh-CN" altLang="en-US" sz="1300" dirty="0">
                <a:solidFill>
                  <a:schemeClr val="tx1">
                    <a:lumMod val="95000"/>
                    <a:lumOff val="5000"/>
                  </a:schemeClr>
                </a:solidFill>
                <a:latin typeface="苹方-简" panose="020B0400000000000000" charset="-122"/>
                <a:ea typeface="苹方-简" panose="020B0400000000000000" charset="-122"/>
                <a:sym typeface="Source Han Serif SC" panose="02020400000000000000" pitchFamily="18" charset="-122"/>
              </a:rPr>
              <a:t>系统</a:t>
            </a:r>
            <a:r>
              <a:rPr lang="en-US" altLang="zh-CN" sz="1300" dirty="0">
                <a:solidFill>
                  <a:schemeClr val="tx1">
                    <a:lumMod val="95000"/>
                    <a:lumOff val="5000"/>
                  </a:schemeClr>
                </a:solidFill>
                <a:latin typeface="苹方-简" panose="020B0400000000000000" charset="-122"/>
                <a:ea typeface="苹方-简" panose="020B0400000000000000" charset="-122"/>
                <a:sym typeface="Source Han Serif SC" panose="02020400000000000000" pitchFamily="18" charset="-122"/>
              </a:rPr>
              <a:t>BUG</a:t>
            </a:r>
            <a:r>
              <a:rPr lang="zh-CN" altLang="en-US" sz="1300" dirty="0">
                <a:solidFill>
                  <a:schemeClr val="tx1">
                    <a:lumMod val="95000"/>
                    <a:lumOff val="5000"/>
                  </a:schemeClr>
                </a:solidFill>
                <a:latin typeface="苹方-简" panose="020B0400000000000000" charset="-122"/>
                <a:ea typeface="苹方-简" panose="020B0400000000000000" charset="-122"/>
                <a:sym typeface="Source Han Serif SC" panose="02020400000000000000" pitchFamily="18" charset="-122"/>
              </a:rPr>
              <a:t>修复</a:t>
            </a:r>
            <a:endParaRPr lang="zh-CN" altLang="en-US" sz="1300" dirty="0">
              <a:solidFill>
                <a:schemeClr val="tx1">
                  <a:lumMod val="95000"/>
                  <a:lumOff val="5000"/>
                </a:schemeClr>
              </a:solidFill>
              <a:latin typeface="苹方-简" panose="020B0400000000000000" charset="-122"/>
              <a:ea typeface="苹方-简" panose="020B0400000000000000" charset="-122"/>
              <a:sym typeface="Source Han Serif SC" panose="02020400000000000000" pitchFamily="18" charset="-122"/>
            </a:endParaRPr>
          </a:p>
          <a:p>
            <a:pPr marL="342900" indent="-342900" algn="just" defTabSz="1216660">
              <a:lnSpc>
                <a:spcPct val="150000"/>
              </a:lnSpc>
              <a:buFont typeface="+mj-lt"/>
              <a:buAutoNum type="arabicPeriod"/>
              <a:defRPr/>
            </a:pPr>
            <a:r>
              <a:rPr lang="zh-CN" altLang="en-US" sz="1300" dirty="0">
                <a:solidFill>
                  <a:schemeClr val="tx1">
                    <a:lumMod val="95000"/>
                    <a:lumOff val="5000"/>
                  </a:schemeClr>
                </a:solidFill>
                <a:latin typeface="苹方-简" panose="020B0400000000000000" charset="-122"/>
                <a:ea typeface="苹方-简" panose="020B0400000000000000" charset="-122"/>
                <a:sym typeface="Source Han Serif SC" panose="02020400000000000000" pitchFamily="18" charset="-122"/>
              </a:rPr>
              <a:t>后台管理平台功能优化</a:t>
            </a:r>
            <a:endParaRPr lang="zh-CN" altLang="en-US" sz="1300" dirty="0">
              <a:solidFill>
                <a:schemeClr val="tx1">
                  <a:lumMod val="95000"/>
                  <a:lumOff val="5000"/>
                </a:schemeClr>
              </a:solidFill>
              <a:latin typeface="苹方-简" panose="020B0400000000000000" charset="-122"/>
              <a:ea typeface="苹方-简" panose="020B0400000000000000" charset="-122"/>
              <a:sym typeface="Source Han Serif SC" panose="02020400000000000000" pitchFamily="18" charset="-122"/>
            </a:endParaRPr>
          </a:p>
          <a:p>
            <a:pPr marL="342900" indent="-342900" algn="just" defTabSz="1216660">
              <a:lnSpc>
                <a:spcPct val="150000"/>
              </a:lnSpc>
              <a:buFont typeface="+mj-lt"/>
              <a:buAutoNum type="arabicPeriod"/>
              <a:defRPr/>
            </a:pPr>
            <a:r>
              <a:rPr lang="zh-CN" altLang="en-US" sz="1300" dirty="0">
                <a:solidFill>
                  <a:schemeClr val="tx1">
                    <a:lumMod val="95000"/>
                    <a:lumOff val="5000"/>
                  </a:schemeClr>
                </a:solidFill>
                <a:latin typeface="苹方-简" panose="020B0400000000000000" charset="-122"/>
                <a:ea typeface="苹方-简" panose="020B0400000000000000" charset="-122"/>
                <a:sym typeface="Source Han Serif SC" panose="02020400000000000000" pitchFamily="18" charset="-122"/>
              </a:rPr>
              <a:t>平台功能完善</a:t>
            </a:r>
            <a:endParaRPr lang="zh-CN" altLang="en-US" sz="1300" dirty="0">
              <a:solidFill>
                <a:schemeClr val="tx1">
                  <a:lumMod val="95000"/>
                  <a:lumOff val="5000"/>
                </a:schemeClr>
              </a:solidFill>
              <a:latin typeface="苹方-简" panose="020B0400000000000000" charset="-122"/>
              <a:ea typeface="苹方-简" panose="020B0400000000000000" charset="-122"/>
              <a:sym typeface="Source Han Serif SC" panose="02020400000000000000" pitchFamily="18" charset="-122"/>
            </a:endParaRPr>
          </a:p>
          <a:p>
            <a:pPr marL="342900" indent="-342900" algn="just" defTabSz="1216660">
              <a:lnSpc>
                <a:spcPct val="150000"/>
              </a:lnSpc>
              <a:buFont typeface="+mj-lt"/>
              <a:buAutoNum type="arabicPeriod"/>
              <a:defRPr/>
            </a:pPr>
            <a:r>
              <a:rPr lang="zh-CN" altLang="en-US" sz="1300" dirty="0">
                <a:solidFill>
                  <a:schemeClr val="tx1">
                    <a:lumMod val="95000"/>
                    <a:lumOff val="5000"/>
                  </a:schemeClr>
                </a:solidFill>
                <a:latin typeface="苹方-简" panose="020B0400000000000000" charset="-122"/>
                <a:ea typeface="苹方-简" panose="020B0400000000000000" charset="-122"/>
                <a:sym typeface="Source Han Serif SC" panose="02020400000000000000" pitchFamily="18" charset="-122"/>
              </a:rPr>
              <a:t>使用手册编制</a:t>
            </a:r>
            <a:endParaRPr lang="zh-CN" altLang="en-US" sz="1300" dirty="0">
              <a:solidFill>
                <a:schemeClr val="tx1">
                  <a:lumMod val="95000"/>
                  <a:lumOff val="5000"/>
                </a:schemeClr>
              </a:solidFill>
              <a:latin typeface="苹方-简" panose="020B0400000000000000" charset="-122"/>
              <a:ea typeface="苹方-简" panose="020B0400000000000000" charset="-122"/>
              <a:sym typeface="Source Han Serif SC" panose="02020400000000000000" pitchFamily="18" charset="-122"/>
            </a:endParaRPr>
          </a:p>
          <a:p>
            <a:pPr marL="342900" indent="-342900" algn="just" defTabSz="1216660">
              <a:lnSpc>
                <a:spcPct val="150000"/>
              </a:lnSpc>
              <a:defRPr/>
            </a:pPr>
            <a:endParaRPr lang="zh-CN" altLang="en-US" sz="1300" dirty="0">
              <a:solidFill>
                <a:schemeClr val="tx1">
                  <a:lumMod val="95000"/>
                  <a:lumOff val="5000"/>
                </a:schemeClr>
              </a:solidFill>
              <a:latin typeface="苹方-简" panose="020B0400000000000000" charset="-122"/>
              <a:ea typeface="苹方-简" panose="020B0400000000000000" charset="-122"/>
              <a:sym typeface="Source Han Serif SC" panose="02020400000000000000" pitchFamily="18" charset="-122"/>
            </a:endParaRPr>
          </a:p>
        </p:txBody>
      </p:sp>
    </p:spTree>
  </p:cSld>
  <p:clrMapOvr>
    <a:masterClrMapping/>
  </p:clrMapOvr>
  <p:transition spd="slow" advClick="0" advTm="2000"/>
  <p:timing>
    <p:tnLst>
      <p:par>
        <p:cTn id="1" dur="indefinite" restart="never" nodeType="tmRoot"/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 descr="C:\Users\jszx\Desktop\SUCAI\500523489.jpg500523489"/>
          <p:cNvPicPr>
            <a:picLocks noChangeAspect="1" noChangeArrowheads="1"/>
          </p:cNvPicPr>
          <p:nvPr/>
        </p:nvPicPr>
        <p:blipFill>
          <a:blip r:embed="rId1"/>
          <a:srcRect t="14040"/>
          <a:stretch>
            <a:fillRect/>
          </a:stretch>
        </p:blipFill>
        <p:spPr bwMode="auto">
          <a:xfrm>
            <a:off x="-10160" y="-27940"/>
            <a:ext cx="12202795" cy="69938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081" name="椭圆 26"/>
          <p:cNvSpPr/>
          <p:nvPr/>
        </p:nvSpPr>
        <p:spPr>
          <a:xfrm>
            <a:off x="2676525" y="0"/>
            <a:ext cx="6837363" cy="6837363"/>
          </a:xfrm>
          <a:prstGeom prst="ellipse">
            <a:avLst/>
          </a:prstGeom>
          <a:noFill/>
          <a:ln w="6350" cap="flat" cmpd="sng">
            <a:solidFill>
              <a:srgbClr val="FFFFFF">
                <a:alpha val="39000"/>
              </a:srgbClr>
            </a:solidFill>
            <a:prstDash val="solid"/>
            <a:miter/>
            <a:headEnd type="none" w="med" len="med"/>
            <a:tailEnd type="none" w="med" len="med"/>
          </a:ln>
        </p:spPr>
        <p:txBody>
          <a:bodyPr anchor="ctr"/>
          <a:lstStyle/>
          <a:p>
            <a:pPr algn="ctr"/>
            <a:endParaRPr>
              <a:solidFill>
                <a:srgbClr val="FFFFFF"/>
              </a:solidFill>
              <a:latin typeface="宋体" panose="02010600030101010101" pitchFamily="2" charset="-122"/>
              <a:ea typeface="宋体" panose="02010600030101010101" pitchFamily="2" charset="-122"/>
              <a:sym typeface="宋体" panose="02010600030101010101" pitchFamily="2" charset="-122"/>
            </a:endParaRPr>
          </a:p>
        </p:txBody>
      </p:sp>
      <p:sp>
        <p:nvSpPr>
          <p:cNvPr id="6" name="椭圆 5"/>
          <p:cNvSpPr/>
          <p:nvPr/>
        </p:nvSpPr>
        <p:spPr>
          <a:xfrm>
            <a:off x="3221038" y="590550"/>
            <a:ext cx="5726112" cy="5726113"/>
          </a:xfrm>
          <a:prstGeom prst="ellipse">
            <a:avLst/>
          </a:prstGeom>
          <a:solidFill>
            <a:srgbClr val="263346">
              <a:alpha val="68999"/>
            </a:srgbClr>
          </a:solidFill>
          <a:ln w="9525">
            <a:noFill/>
          </a:ln>
        </p:spPr>
        <p:txBody>
          <a:bodyPr anchor="ctr"/>
          <a:lstStyle/>
          <a:p>
            <a:pPr algn="ctr"/>
            <a:endParaRPr>
              <a:solidFill>
                <a:srgbClr val="FFFFFF"/>
              </a:solidFill>
              <a:latin typeface="苹方-简" panose="020B0400000000000000" charset="-122"/>
              <a:ea typeface="苹方-简" panose="020B0400000000000000" charset="-122"/>
              <a:sym typeface="宋体" panose="02010600030101010101" pitchFamily="2" charset="-122"/>
            </a:endParaRPr>
          </a:p>
        </p:txBody>
      </p:sp>
      <p:sp>
        <p:nvSpPr>
          <p:cNvPr id="8" name="椭圆 10"/>
          <p:cNvSpPr/>
          <p:nvPr/>
        </p:nvSpPr>
        <p:spPr>
          <a:xfrm>
            <a:off x="3360738" y="730250"/>
            <a:ext cx="5446712" cy="5446713"/>
          </a:xfrm>
          <a:prstGeom prst="ellipse">
            <a:avLst/>
          </a:prstGeom>
          <a:noFill/>
          <a:ln w="88900" cap="flat" cmpd="sng">
            <a:solidFill>
              <a:srgbClr val="D0EAEB"/>
            </a:solidFill>
            <a:prstDash val="solid"/>
            <a:miter/>
            <a:headEnd type="none" w="med" len="med"/>
            <a:tailEnd type="none" w="med" len="med"/>
          </a:ln>
        </p:spPr>
        <p:txBody>
          <a:bodyPr anchor="ctr"/>
          <a:lstStyle/>
          <a:p>
            <a:pPr algn="ctr"/>
            <a:endParaRPr>
              <a:solidFill>
                <a:srgbClr val="FFFFFF"/>
              </a:solidFill>
              <a:latin typeface="苹方-简" panose="020B0400000000000000" charset="-122"/>
              <a:ea typeface="苹方-简" panose="020B0400000000000000" charset="-122"/>
              <a:sym typeface="宋体" panose="02010600030101010101" pitchFamily="2" charset="-122"/>
            </a:endParaRPr>
          </a:p>
        </p:txBody>
      </p:sp>
      <p:sp>
        <p:nvSpPr>
          <p:cNvPr id="9" name="文本框 12"/>
          <p:cNvSpPr/>
          <p:nvPr/>
        </p:nvSpPr>
        <p:spPr>
          <a:xfrm>
            <a:off x="3690303" y="3619183"/>
            <a:ext cx="4823460" cy="460375"/>
          </a:xfrm>
          <a:prstGeom prst="rect">
            <a:avLst/>
          </a:prstGeom>
          <a:noFill/>
          <a:ln w="9525">
            <a:noFill/>
          </a:ln>
        </p:spPr>
        <p:txBody>
          <a:bodyPr wrap="none">
            <a:spAutoFit/>
          </a:bodyPr>
          <a:lstStyle/>
          <a:p>
            <a:pPr algn="ctr"/>
            <a:r>
              <a:rPr lang="zh-CN" altLang="en-US" sz="2400" b="1" spc="200" dirty="0">
                <a:solidFill>
                  <a:schemeClr val="bg1"/>
                </a:solidFill>
                <a:uFillTx/>
                <a:latin typeface="苹方-简" panose="020B0400000000000000" charset="-122"/>
                <a:ea typeface="苹方-简" panose="020B0400000000000000" charset="-122"/>
                <a:sym typeface="华文宋体" panose="02010600040101010101" pitchFamily="2" charset="-122"/>
              </a:rPr>
              <a:t>账实一致·监管可溯·作业可视</a:t>
            </a:r>
            <a:endParaRPr lang="zh-CN" altLang="en-US" sz="2400" b="1" spc="200" dirty="0">
              <a:solidFill>
                <a:schemeClr val="bg1"/>
              </a:solidFill>
              <a:uFillTx/>
              <a:latin typeface="苹方-简" panose="020B0400000000000000" charset="-122"/>
              <a:ea typeface="苹方-简" panose="020B0400000000000000" charset="-122"/>
              <a:sym typeface="华文宋体" panose="02010600040101010101" pitchFamily="2" charset="-122"/>
            </a:endParaRPr>
          </a:p>
        </p:txBody>
      </p:sp>
      <p:sp>
        <p:nvSpPr>
          <p:cNvPr id="11" name="文本框 23"/>
          <p:cNvSpPr/>
          <p:nvPr/>
        </p:nvSpPr>
        <p:spPr>
          <a:xfrm>
            <a:off x="4414838" y="1514475"/>
            <a:ext cx="3522980" cy="1938020"/>
          </a:xfrm>
          <a:prstGeom prst="rect">
            <a:avLst/>
          </a:prstGeom>
          <a:noFill/>
          <a:ln w="9525">
            <a:noFill/>
          </a:ln>
        </p:spPr>
        <p:txBody>
          <a:bodyPr wrap="none">
            <a:spAutoFit/>
          </a:bodyPr>
          <a:lstStyle/>
          <a:p>
            <a:pPr algn="l"/>
            <a:r>
              <a:rPr lang="zh-CN" altLang="en-US" sz="12000" b="1" spc="1100" dirty="0">
                <a:solidFill>
                  <a:schemeClr val="bg1"/>
                </a:solidFill>
                <a:uFillTx/>
                <a:latin typeface="苹方-简" panose="020B0400000000000000" charset="-122"/>
                <a:ea typeface="苹方-简" panose="020B0400000000000000" charset="-122"/>
                <a:sym typeface="华文宋体" panose="02010600040101010101" pitchFamily="2" charset="-122"/>
              </a:rPr>
              <a:t>谢谢</a:t>
            </a:r>
            <a:endParaRPr lang="zh-CN" altLang="en-US" sz="12000" b="1" spc="1100" dirty="0">
              <a:solidFill>
                <a:schemeClr val="bg1"/>
              </a:solidFill>
              <a:uFillTx/>
              <a:latin typeface="苹方-简" panose="020B0400000000000000" charset="-122"/>
              <a:ea typeface="苹方-简" panose="020B0400000000000000" charset="-122"/>
              <a:sym typeface="华文宋体" panose="02010600040101010101" pitchFamily="2" charset="-122"/>
            </a:endParaRPr>
          </a:p>
        </p:txBody>
      </p:sp>
      <p:sp>
        <p:nvSpPr>
          <p:cNvPr id="12" name="文本框 24"/>
          <p:cNvSpPr/>
          <p:nvPr/>
        </p:nvSpPr>
        <p:spPr>
          <a:xfrm>
            <a:off x="3696336" y="4218305"/>
            <a:ext cx="4776470" cy="1706880"/>
          </a:xfrm>
          <a:prstGeom prst="rect">
            <a:avLst/>
          </a:prstGeom>
          <a:noFill/>
          <a:ln w="9525">
            <a:noFill/>
          </a:ln>
        </p:spPr>
        <p:txBody>
          <a:bodyPr wrap="non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CN" altLang="en-US" sz="1400" dirty="0">
                <a:solidFill>
                  <a:schemeClr val="bg1"/>
                </a:solidFill>
                <a:latin typeface="苹方-简" panose="020B0400000000000000" charset="-122"/>
                <a:ea typeface="苹方-简" panose="020B0400000000000000" charset="-122"/>
                <a:sym typeface="华文宋体" panose="02010600040101010101" pitchFamily="2" charset="-122"/>
              </a:rPr>
              <a:t>以报关单号与生产批次贯通库存与关务，以 </a:t>
            </a:r>
            <a:r>
              <a:rPr lang="en-US" altLang="zh-CN" sz="1400" dirty="0">
                <a:solidFill>
                  <a:schemeClr val="bg1"/>
                </a:solidFill>
                <a:latin typeface="苹方-简" panose="020B0400000000000000" charset="-122"/>
                <a:ea typeface="苹方-简" panose="020B0400000000000000" charset="-122"/>
                <a:sym typeface="华文宋体" panose="02010600040101010101" pitchFamily="2" charset="-122"/>
              </a:rPr>
              <a:t>OCR </a:t>
            </a:r>
            <a:r>
              <a:rPr lang="zh-CN" altLang="en-US" sz="1400" dirty="0">
                <a:solidFill>
                  <a:schemeClr val="bg1"/>
                </a:solidFill>
                <a:latin typeface="苹方-简" panose="020B0400000000000000" charset="-122"/>
                <a:ea typeface="苹方-简" panose="020B0400000000000000" charset="-122"/>
                <a:sym typeface="华文宋体" panose="02010600040101010101" pitchFamily="2" charset="-122"/>
              </a:rPr>
              <a:t>与驾驶舱</a:t>
            </a:r>
            <a:endParaRPr lang="zh-CN" altLang="en-US" sz="1400" dirty="0">
              <a:solidFill>
                <a:schemeClr val="bg1"/>
              </a:solidFill>
              <a:latin typeface="苹方-简" panose="020B0400000000000000" charset="-122"/>
              <a:ea typeface="苹方-简" panose="020B0400000000000000" charset="-122"/>
              <a:sym typeface="华文宋体" panose="02010600040101010101" pitchFamily="2" charset="-122"/>
            </a:endParaRPr>
          </a:p>
          <a:p>
            <a:pPr algn="ctr">
              <a:lnSpc>
                <a:spcPct val="150000"/>
              </a:lnSpc>
            </a:pPr>
            <a:r>
              <a:rPr lang="zh-CN" altLang="en-US" sz="1400" dirty="0">
                <a:solidFill>
                  <a:schemeClr val="bg1"/>
                </a:solidFill>
                <a:latin typeface="苹方-简" panose="020B0400000000000000" charset="-122"/>
                <a:ea typeface="苹方-简" panose="020B0400000000000000" charset="-122"/>
                <a:sym typeface="华文宋体" panose="02010600040101010101" pitchFamily="2" charset="-122"/>
              </a:rPr>
              <a:t>降低现场录入和监管成本，以堆位平面图把仓内布局</a:t>
            </a:r>
            <a:endParaRPr lang="zh-CN" altLang="en-US" sz="1400" dirty="0">
              <a:solidFill>
                <a:schemeClr val="bg1"/>
              </a:solidFill>
              <a:latin typeface="苹方-简" panose="020B0400000000000000" charset="-122"/>
              <a:ea typeface="苹方-简" panose="020B0400000000000000" charset="-122"/>
              <a:sym typeface="华文宋体" panose="02010600040101010101" pitchFamily="2" charset="-122"/>
            </a:endParaRPr>
          </a:p>
          <a:p>
            <a:pPr algn="ctr">
              <a:lnSpc>
                <a:spcPct val="150000"/>
              </a:lnSpc>
            </a:pPr>
            <a:r>
              <a:rPr lang="zh-CN" altLang="en-US" sz="1400" dirty="0">
                <a:solidFill>
                  <a:schemeClr val="bg1"/>
                </a:solidFill>
                <a:latin typeface="苹方-简" panose="020B0400000000000000" charset="-122"/>
                <a:ea typeface="苹方-简" panose="020B0400000000000000" charset="-122"/>
                <a:sym typeface="华文宋体" panose="02010600040101010101" pitchFamily="2" charset="-122"/>
              </a:rPr>
              <a:t>与在库实物放到同一张图上。推动仓储管理由经验</a:t>
            </a:r>
            <a:endParaRPr lang="zh-CN" altLang="en-US" sz="1400" dirty="0">
              <a:solidFill>
                <a:schemeClr val="bg1"/>
              </a:solidFill>
              <a:latin typeface="苹方-简" panose="020B0400000000000000" charset="-122"/>
              <a:ea typeface="苹方-简" panose="020B0400000000000000" charset="-122"/>
              <a:sym typeface="华文宋体" panose="02010600040101010101" pitchFamily="2" charset="-122"/>
            </a:endParaRPr>
          </a:p>
          <a:p>
            <a:pPr algn="ctr">
              <a:lnSpc>
                <a:spcPct val="150000"/>
              </a:lnSpc>
            </a:pPr>
            <a:r>
              <a:rPr lang="zh-CN" altLang="en-US" sz="1400" dirty="0">
                <a:solidFill>
                  <a:schemeClr val="bg1"/>
                </a:solidFill>
                <a:latin typeface="苹方-简" panose="020B0400000000000000" charset="-122"/>
                <a:ea typeface="苹方-简" panose="020B0400000000000000" charset="-122"/>
                <a:sym typeface="华文宋体" panose="02010600040101010101" pitchFamily="2" charset="-122"/>
              </a:rPr>
              <a:t>驱动转向单据和数据驱动，服务广西丰联</a:t>
            </a:r>
            <a:endParaRPr lang="zh-CN" altLang="en-US" sz="1400" dirty="0">
              <a:solidFill>
                <a:schemeClr val="bg1"/>
              </a:solidFill>
              <a:latin typeface="苹方-简" panose="020B0400000000000000" charset="-122"/>
              <a:ea typeface="苹方-简" panose="020B0400000000000000" charset="-122"/>
              <a:sym typeface="华文宋体" panose="02010600040101010101" pitchFamily="2" charset="-122"/>
            </a:endParaRPr>
          </a:p>
          <a:p>
            <a:pPr algn="ctr">
              <a:lnSpc>
                <a:spcPct val="150000"/>
              </a:lnSpc>
            </a:pPr>
            <a:r>
              <a:rPr lang="zh-CN" altLang="en-US" sz="1400" dirty="0">
                <a:solidFill>
                  <a:schemeClr val="bg1"/>
                </a:solidFill>
                <a:latin typeface="苹方-简" panose="020B0400000000000000" charset="-122"/>
                <a:ea typeface="苹方-简" panose="020B0400000000000000" charset="-122"/>
                <a:sym typeface="华文宋体" panose="02010600040101010101" pitchFamily="2" charset="-122"/>
              </a:rPr>
              <a:t>铜业保税物流数字化升级。</a:t>
            </a:r>
            <a:endParaRPr lang="zh-CN" altLang="en-US" sz="1400" dirty="0">
              <a:solidFill>
                <a:schemeClr val="bg1"/>
              </a:solidFill>
              <a:latin typeface="苹方-简" panose="020B0400000000000000" charset="-122"/>
              <a:ea typeface="苹方-简" panose="020B0400000000000000" charset="-122"/>
              <a:sym typeface="华文宋体" panose="02010600040101010101" pitchFamily="2" charset="-122"/>
            </a:endParaRPr>
          </a:p>
        </p:txBody>
      </p:sp>
      <p:sp>
        <p:nvSpPr>
          <p:cNvPr id="13" name="椭圆 25"/>
          <p:cNvSpPr/>
          <p:nvPr/>
        </p:nvSpPr>
        <p:spPr>
          <a:xfrm>
            <a:off x="2946400" y="298450"/>
            <a:ext cx="6311900" cy="6310313"/>
          </a:xfrm>
          <a:prstGeom prst="ellipse">
            <a:avLst/>
          </a:prstGeom>
          <a:noFill/>
          <a:ln w="6350" cap="flat" cmpd="sng">
            <a:solidFill>
              <a:srgbClr val="FFFFFF">
                <a:alpha val="50000"/>
              </a:srgbClr>
            </a:solidFill>
            <a:prstDash val="solid"/>
            <a:miter/>
            <a:headEnd type="none" w="med" len="med"/>
            <a:tailEnd type="none" w="med" len="med"/>
          </a:ln>
        </p:spPr>
        <p:txBody>
          <a:bodyPr anchor="ctr"/>
          <a:lstStyle/>
          <a:p>
            <a:pPr algn="ctr"/>
            <a:endParaRPr>
              <a:solidFill>
                <a:srgbClr val="FFFFFF"/>
              </a:solidFill>
              <a:latin typeface="苹方-简" panose="020B0400000000000000" charset="-122"/>
              <a:ea typeface="苹方-简" panose="020B0400000000000000" charset="-122"/>
              <a:sym typeface="宋体" panose="02010600030101010101" pitchFamily="2" charset="-122"/>
            </a:endParaRPr>
          </a:p>
        </p:txBody>
      </p:sp>
      <p:sp>
        <p:nvSpPr>
          <p:cNvPr id="14" name="椭圆 27"/>
          <p:cNvSpPr/>
          <p:nvPr/>
        </p:nvSpPr>
        <p:spPr>
          <a:xfrm>
            <a:off x="1773238" y="-906462"/>
            <a:ext cx="8637587" cy="8637587"/>
          </a:xfrm>
          <a:prstGeom prst="ellipse">
            <a:avLst/>
          </a:prstGeom>
          <a:noFill/>
          <a:ln w="6350" cap="flat" cmpd="sng">
            <a:solidFill>
              <a:srgbClr val="FFFFFF">
                <a:alpha val="28999"/>
              </a:srgbClr>
            </a:solidFill>
            <a:prstDash val="solid"/>
            <a:miter/>
            <a:headEnd type="none" w="med" len="med"/>
            <a:tailEnd type="none" w="med" len="med"/>
          </a:ln>
        </p:spPr>
        <p:txBody>
          <a:bodyPr anchor="ctr"/>
          <a:lstStyle/>
          <a:p>
            <a:pPr algn="ctr"/>
            <a:endParaRPr>
              <a:solidFill>
                <a:srgbClr val="FFFFFF"/>
              </a:solidFill>
              <a:latin typeface="宋体" panose="02010600030101010101" pitchFamily="2" charset="-122"/>
              <a:ea typeface="宋体" panose="02010600030101010101" pitchFamily="2" charset="-122"/>
              <a:sym typeface="宋体" panose="02010600030101010101" pitchFamily="2" charset="-122"/>
            </a:endParaRPr>
          </a:p>
        </p:txBody>
      </p:sp>
      <p:sp>
        <p:nvSpPr>
          <p:cNvPr id="3" name="矩形 2"/>
          <p:cNvSpPr/>
          <p:nvPr/>
        </p:nvSpPr>
        <p:spPr>
          <a:xfrm>
            <a:off x="3557271" y="3380740"/>
            <a:ext cx="5054600" cy="36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/>
    </mc:Choice>
    <mc:Fallback>
      <p:transition spd="med"/>
    </mc:Fallback>
  </mc:AlternateContent>
  <p:timing>
    <p:tnLst>
      <p:par>
        <p:cTn id="1" dur="indefinite" restart="never" nodeType="tmRoot"/>
      </p:par>
    </p:tnLst>
  </p:timing>
</p:sld>
</file>

<file path=ppt/tags/tag1.xml><?xml version="1.0" encoding="utf-8"?>
<p:tagLst xmlns:p="http://schemas.openxmlformats.org/presentationml/2006/main">
  <p:tag name="KSO_DOCER_RESOURCE_TRACE_INFO" val="{&quot;id&quot;:&quot;20703999&quot;,&quot;origin&quot;:0,&quot;type&quot;:&quot;pictures&quot;,&quot;user&quot;:&quot;461024061&quot;}"/>
</p:tagLst>
</file>

<file path=ppt/tags/tag2.xml><?xml version="1.0" encoding="utf-8"?>
<p:tagLst xmlns:p="http://schemas.openxmlformats.org/presentationml/2006/main">
  <p:tag name="KSO_WM_DIAGRAM_VIRTUALLY_FRAME" val="{&quot;height&quot;:244.45,&quot;left&quot;:502.6,&quot;top&quot;:116.1,&quot;width&quot;:311.15}"/>
</p:tagLst>
</file>

<file path=ppt/tags/tag3.xml><?xml version="1.0" encoding="utf-8"?>
<p:tagLst xmlns:p="http://schemas.openxmlformats.org/presentationml/2006/main">
  <p:tag name="KSO_WM_DIAGRAM_VIRTUALLY_FRAME" val="{&quot;height&quot;:244.45,&quot;left&quot;:502.6,&quot;top&quot;:116.1,&quot;width&quot;:311.15}"/>
</p:tagLst>
</file>

<file path=ppt/tags/tag4.xml><?xml version="1.0" encoding="utf-8"?>
<p:tagLst xmlns:p="http://schemas.openxmlformats.org/presentationml/2006/main">
  <p:tag name="KSO_WM_DIAGRAM_VIRTUALLY_FRAME" val="{&quot;height&quot;:244.45,&quot;left&quot;:502.6,&quot;top&quot;:116.1,&quot;width&quot;:311.15}"/>
</p:tagLst>
</file>

<file path=ppt/tags/tag5.xml><?xml version="1.0" encoding="utf-8"?>
<p:tagLst xmlns:p="http://schemas.openxmlformats.org/presentationml/2006/main">
  <p:tag name="KSO_WM_DIAGRAM_VIRTUALLY_FRAME" val="{&quot;height&quot;:244.45,&quot;left&quot;:502.6,&quot;top&quot;:116.1,&quot;width&quot;:311.15}"/>
</p:tagLst>
</file>

<file path=ppt/tags/tag6.xml><?xml version="1.0" encoding="utf-8"?>
<p:tagLst xmlns:p="http://schemas.openxmlformats.org/presentationml/2006/main">
  <p:tag name="KSO_WM_DIAGRAM_VIRTUALLY_FRAME" val="{&quot;height&quot;:244.45,&quot;left&quot;:502.6,&quot;top&quot;:116.1,&quot;width&quot;:311.15}"/>
</p:tagLst>
</file>

<file path=ppt/tags/tag7.xml><?xml version="1.0" encoding="utf-8"?>
<p:tagLst xmlns:p="http://schemas.openxmlformats.org/presentationml/2006/main">
  <p:tag name="KSO_WM_DIAGRAM_VIRTUALLY_FRAME" val="{&quot;height&quot;:244.45,&quot;left&quot;:502.6,&quot;top&quot;:116.1,&quot;width&quot;:311.15}"/>
</p:tagLst>
</file>

<file path=ppt/tags/tag8.xml><?xml version="1.0" encoding="utf-8"?>
<p:tagLst xmlns:p="http://schemas.openxmlformats.org/presentationml/2006/main">
  <p:tag name="KSO_WM_DIAGRAM_VIRTUALLY_FRAME" val="{&quot;height&quot;:244.45,&quot;left&quot;:502.6,&quot;top&quot;:116.1,&quot;width&quot;:311.15}"/>
</p:tagLst>
</file>

<file path=ppt/tags/tag9.xml><?xml version="1.0" encoding="utf-8"?>
<p:tagLst xmlns:p="http://schemas.openxmlformats.org/presentationml/2006/main">
  <p:tag name="KSO_WM_DIAGRAM_VIRTUALLY_FRAME" val="{&quot;height&quot;:244.45,&quot;left&quot;:502.6,&quot;top&quot;:116.1,&quot;width&quot;:311.15}"/>
</p:tagLst>
</file>

<file path=ppt/tags/tag10.xml><?xml version="1.0" encoding="utf-8"?>
<p:tagLst xmlns:p="http://schemas.openxmlformats.org/presentationml/2006/main">
  <p:tag name="KSO_WM_DIAGRAM_VIRTUALLY_FRAME" val="{&quot;height&quot;:244.45,&quot;left&quot;:502.6,&quot;top&quot;:116.1,&quot;width&quot;:311.15}"/>
</p:tagLst>
</file>

<file path=ppt/tags/tag11.xml><?xml version="1.0" encoding="utf-8"?>
<p:tagLst xmlns:p="http://schemas.openxmlformats.org/presentationml/2006/main">
  <p:tag name="KSO_WM_DIAGRAM_VIRTUALLY_FRAME" val="{&quot;height&quot;:244.45,&quot;left&quot;:502.6,&quot;top&quot;:116.1,&quot;width&quot;:311.15}"/>
</p:tagLst>
</file>

<file path=ppt/tags/tag12.xml><?xml version="1.0" encoding="utf-8"?>
<p:tagLst xmlns:p="http://schemas.openxmlformats.org/presentationml/2006/main">
  <p:tag name="KSO_WM_DIAGRAM_VIRTUALLY_FRAME" val="{&quot;height&quot;:244.45,&quot;left&quot;:502.6,&quot;top&quot;:116.1,&quot;width&quot;:311.15}"/>
</p:tagLst>
</file>

<file path=ppt/tags/tag13.xml><?xml version="1.0" encoding="utf-8"?>
<p:tagLst xmlns:p="http://schemas.openxmlformats.org/presentationml/2006/main">
  <p:tag name="KSO_WM_DIAGRAM_VIRTUALLY_FRAME" val="{&quot;height&quot;:244.45,&quot;left&quot;:502.6,&quot;top&quot;:116.1,&quot;width&quot;:311.15}"/>
</p:tagLst>
</file>

<file path=ppt/tags/tag14.xml><?xml version="1.0" encoding="utf-8"?>
<p:tagLst xmlns:p="http://schemas.openxmlformats.org/presentationml/2006/main">
  <p:tag name="KSO_WM_DIAGRAM_VIRTUALLY_FRAME" val="{&quot;height&quot;:135.9726790450928,&quot;left&quot;:82.95,&quot;top&quot;:335,&quot;width&quot;:774.25}"/>
</p:tagLst>
</file>

<file path=ppt/tags/tag15.xml><?xml version="1.0" encoding="utf-8"?>
<p:tagLst xmlns:p="http://schemas.openxmlformats.org/presentationml/2006/main">
  <p:tag name="KSO_WM_DIAGRAM_VIRTUALLY_FRAME" val="{&quot;height&quot;:135.9726790450928,&quot;left&quot;:82.95,&quot;top&quot;:335,&quot;width&quot;:774.25}"/>
</p:tagLst>
</file>

<file path=ppt/tags/tag16.xml><?xml version="1.0" encoding="utf-8"?>
<p:tagLst xmlns:p="http://schemas.openxmlformats.org/presentationml/2006/main">
  <p:tag name="KSO_WM_DIAGRAM_VIRTUALLY_FRAME" val="{&quot;height&quot;:135.9726790450928,&quot;left&quot;:82.95,&quot;top&quot;:335,&quot;width&quot;:774.25}"/>
</p:tagLst>
</file>

<file path=ppt/tags/tag17.xml><?xml version="1.0" encoding="utf-8"?>
<p:tagLst xmlns:p="http://schemas.openxmlformats.org/presentationml/2006/main">
  <p:tag name="KSO_WM_DIAGRAM_VIRTUALLY_FRAME" val="{&quot;height&quot;:135.9726790450928,&quot;left&quot;:82.95,&quot;top&quot;:335,&quot;width&quot;:774.25}"/>
</p:tagLst>
</file>

<file path=ppt/tags/tag18.xml><?xml version="1.0" encoding="utf-8"?>
<p:tagLst xmlns:p="http://schemas.openxmlformats.org/presentationml/2006/main">
  <p:tag name="KSO_WM_DIAGRAM_VIRTUALLY_FRAME" val="{&quot;height&quot;:135.9726790450928,&quot;left&quot;:82.95,&quot;top&quot;:335,&quot;width&quot;:774.25}"/>
</p:tagLst>
</file>

<file path=ppt/tags/tag19.xml><?xml version="1.0" encoding="utf-8"?>
<p:tagLst xmlns:p="http://schemas.openxmlformats.org/presentationml/2006/main">
  <p:tag name="KSO_WM_DIAGRAM_VIRTUALLY_FRAME" val="{&quot;height&quot;:135.9726790450928,&quot;left&quot;:82.95,&quot;top&quot;:335,&quot;width&quot;:774.25}"/>
</p:tagLst>
</file>

<file path=ppt/tags/tag20.xml><?xml version="1.0" encoding="utf-8"?>
<p:tagLst xmlns:p="http://schemas.openxmlformats.org/presentationml/2006/main">
  <p:tag name="KSO_WM_DIAGRAM_VIRTUALLY_FRAME" val="{&quot;height&quot;:135.9726790450928,&quot;left&quot;:82.95,&quot;top&quot;:335,&quot;width&quot;:774.25}"/>
</p:tagLst>
</file>

<file path=ppt/tags/tag21.xml><?xml version="1.0" encoding="utf-8"?>
<p:tagLst xmlns:p="http://schemas.openxmlformats.org/presentationml/2006/main">
  <p:tag name="KSO_WM_DIAGRAM_VIRTUALLY_FRAME" val="{&quot;height&quot;:135.9726790450928,&quot;left&quot;:82.95,&quot;top&quot;:335,&quot;width&quot;:774.25}"/>
</p:tagLst>
</file>

<file path=ppt/tags/tag22.xml><?xml version="1.0" encoding="utf-8"?>
<p:tagLst xmlns:p="http://schemas.openxmlformats.org/presentationml/2006/main">
  <p:tag name="KSO_WM_DIAGRAM_VIRTUALLY_FRAME" val="{&quot;height&quot;:135.9726790450928,&quot;left&quot;:82.95,&quot;top&quot;:335,&quot;width&quot;:774.25}"/>
</p:tagLst>
</file>

<file path=ppt/tags/tag23.xml><?xml version="1.0" encoding="utf-8"?>
<p:tagLst xmlns:p="http://schemas.openxmlformats.org/presentationml/2006/main">
  <p:tag name="KSO_WM_DIAGRAM_VIRTUALLY_FRAME" val="{&quot;height&quot;:351.21677165354333,&quot;left&quot;:68.71133858267716,&quot;top&quot;:132.37692913385825,&quot;width&quot;:823.8500787401575}"/>
</p:tagLst>
</file>

<file path=ppt/tags/tag24.xml><?xml version="1.0" encoding="utf-8"?>
<p:tagLst xmlns:p="http://schemas.openxmlformats.org/presentationml/2006/main">
  <p:tag name="KSO_WM_DIAGRAM_VIRTUALLY_FRAME" val="{&quot;height&quot;:351.21677165354333,&quot;left&quot;:68.71133858267716,&quot;top&quot;:132.37692913385825,&quot;width&quot;:823.8500787401575}"/>
</p:tagLst>
</file>

<file path=ppt/tags/tag25.xml><?xml version="1.0" encoding="utf-8"?>
<p:tagLst xmlns:p="http://schemas.openxmlformats.org/presentationml/2006/main">
  <p:tag name="KSO_WM_DIAGRAM_VIRTUALLY_FRAME" val="{&quot;height&quot;:351.21677165354333,&quot;left&quot;:68.71133858267716,&quot;top&quot;:132.37692913385825,&quot;width&quot;:823.8500787401575}"/>
</p:tagLst>
</file>

<file path=ppt/tags/tag26.xml><?xml version="1.0" encoding="utf-8"?>
<p:tagLst xmlns:p="http://schemas.openxmlformats.org/presentationml/2006/main">
  <p:tag name="KSO_WM_DIAGRAM_VIRTUALLY_FRAME" val="{&quot;height&quot;:351.21677165354333,&quot;left&quot;:68.71133858267716,&quot;top&quot;:132.37692913385825,&quot;width&quot;:823.8500787401575}"/>
</p:tagLst>
</file>

<file path=ppt/tags/tag27.xml><?xml version="1.0" encoding="utf-8"?>
<p:tagLst xmlns:p="http://schemas.openxmlformats.org/presentationml/2006/main">
  <p:tag name="KSO_WM_DIAGRAM_VIRTUALLY_FRAME" val="{&quot;height&quot;:351.21677165354333,&quot;left&quot;:68.71133858267716,&quot;top&quot;:132.37692913385825,&quot;width&quot;:823.8500787401575}"/>
</p:tagLst>
</file>

<file path=ppt/tags/tag28.xml><?xml version="1.0" encoding="utf-8"?>
<p:tagLst xmlns:p="http://schemas.openxmlformats.org/presentationml/2006/main">
  <p:tag name="KSO_WM_DIAGRAM_VIRTUALLY_FRAME" val="{&quot;height&quot;:351.21677165354333,&quot;left&quot;:68.71133858267716,&quot;top&quot;:132.37692913385825,&quot;width&quot;:823.8500787401575}"/>
</p:tagLst>
</file>

<file path=ppt/tags/tag29.xml><?xml version="1.0" encoding="utf-8"?>
<p:tagLst xmlns:p="http://schemas.openxmlformats.org/presentationml/2006/main">
  <p:tag name="KSO_WM_DIAGRAM_VIRTUALLY_FRAME" val="{&quot;height&quot;:351.21677165354333,&quot;left&quot;:68.71133858267716,&quot;top&quot;:132.37692913385825,&quot;width&quot;:823.8500787401575}"/>
</p:tagLst>
</file>

<file path=ppt/tags/tag30.xml><?xml version="1.0" encoding="utf-8"?>
<p:tagLst xmlns:p="http://schemas.openxmlformats.org/presentationml/2006/main">
  <p:tag name="KSO_WM_DIAGRAM_VIRTUALLY_FRAME" val="{&quot;height&quot;:351.21677165354333,&quot;left&quot;:68.71133858267716,&quot;top&quot;:132.37692913385825,&quot;width&quot;:823.8500787401575}"/>
</p:tagLst>
</file>

<file path=ppt/tags/tag31.xml><?xml version="1.0" encoding="utf-8"?>
<p:tagLst xmlns:p="http://schemas.openxmlformats.org/presentationml/2006/main">
  <p:tag name="KSO_WM_DIAGRAM_VIRTUALLY_FRAME" val="{&quot;height&quot;:351.21677165354333,&quot;left&quot;:68.71133858267716,&quot;top&quot;:132.37692913385825,&quot;width&quot;:823.8500787401575}"/>
</p:tagLst>
</file>

<file path=ppt/tags/tag32.xml><?xml version="1.0" encoding="utf-8"?>
<p:tagLst xmlns:p="http://schemas.openxmlformats.org/presentationml/2006/main">
  <p:tag name="KSO_WM_DIAGRAM_VIRTUALLY_FRAME" val="{&quot;height&quot;:351.21677165354333,&quot;left&quot;:68.71133858267716,&quot;top&quot;:132.37692913385825,&quot;width&quot;:823.8500787401575}"/>
</p:tagLst>
</file>

<file path=ppt/tags/tag33.xml><?xml version="1.0" encoding="utf-8"?>
<p:tagLst xmlns:p="http://schemas.openxmlformats.org/presentationml/2006/main">
  <p:tag name="KSO_WM_DIAGRAM_VIRTUALLY_FRAME" val="{&quot;height&quot;:351.21677165354333,&quot;left&quot;:68.71133858267716,&quot;top&quot;:132.37692913385825,&quot;width&quot;:823.8500787401575}"/>
</p:tagLst>
</file>

<file path=ppt/tags/tag34.xml><?xml version="1.0" encoding="utf-8"?>
<p:tagLst xmlns:p="http://schemas.openxmlformats.org/presentationml/2006/main">
  <p:tag name="KSO_WM_DIAGRAM_VIRTUALLY_FRAME" val="{&quot;height&quot;:351.21677165354333,&quot;left&quot;:68.71133858267716,&quot;top&quot;:132.37692913385825,&quot;width&quot;:823.8500787401575}"/>
</p:tagLst>
</file>

<file path=ppt/tags/tag35.xml><?xml version="1.0" encoding="utf-8"?>
<p:tagLst xmlns:p="http://schemas.openxmlformats.org/presentationml/2006/main">
  <p:tag name="KSO_WM_DIAGRAM_VIRTUALLY_FRAME" val="{&quot;height&quot;:351.21677165354333,&quot;left&quot;:68.71133858267716,&quot;top&quot;:132.37692913385825,&quot;width&quot;:823.8500787401575}"/>
</p:tagLst>
</file>

<file path=ppt/tags/tag36.xml><?xml version="1.0" encoding="utf-8"?>
<p:tagLst xmlns:p="http://schemas.openxmlformats.org/presentationml/2006/main">
  <p:tag name="KSO_WM_DIAGRAM_VIRTUALLY_FRAME" val="{&quot;height&quot;:351.21677165354333,&quot;left&quot;:68.71133858267716,&quot;top&quot;:132.37692913385825,&quot;width&quot;:823.8500787401575}"/>
</p:tagLst>
</file>

<file path=ppt/tags/tag37.xml><?xml version="1.0" encoding="utf-8"?>
<p:tagLst xmlns:p="http://schemas.openxmlformats.org/presentationml/2006/main">
  <p:tag name="KSO_WM_DIAGRAM_VIRTUALLY_FRAME" val="{&quot;height&quot;:351.21677165354333,&quot;left&quot;:68.71133858267716,&quot;top&quot;:132.37692913385825,&quot;width&quot;:823.8500787401575}"/>
</p:tagLst>
</file>

<file path=ppt/tags/tag38.xml><?xml version="1.0" encoding="utf-8"?>
<p:tagLst xmlns:p="http://schemas.openxmlformats.org/presentationml/2006/main">
  <p:tag name="KSO_WM_DIAGRAM_VIRTUALLY_FRAME" val="{&quot;height&quot;:351.21677165354333,&quot;left&quot;:68.71133858267716,&quot;top&quot;:132.37692913385825,&quot;width&quot;:823.8500787401575}"/>
</p:tagLst>
</file>

<file path=ppt/tags/tag39.xml><?xml version="1.0" encoding="utf-8"?>
<p:tagLst xmlns:p="http://schemas.openxmlformats.org/presentationml/2006/main">
  <p:tag name="KSO_WM_DIAGRAM_VIRTUALLY_FRAME" val="{&quot;height&quot;:351.21677165354333,&quot;left&quot;:68.71133858267716,&quot;top&quot;:132.37692913385825,&quot;width&quot;:823.8500787401575}"/>
</p:tagLst>
</file>

<file path=ppt/tags/tag40.xml><?xml version="1.0" encoding="utf-8"?>
<p:tagLst xmlns:p="http://schemas.openxmlformats.org/presentationml/2006/main">
  <p:tag name="KSO_WM_DIAGRAM_VIRTUALLY_FRAME" val="{&quot;height&quot;:351.21677165354333,&quot;left&quot;:68.71133858267716,&quot;top&quot;:132.37692913385825,&quot;width&quot;:823.8500787401575}"/>
</p:tagLst>
</file>

<file path=ppt/tags/tag41.xml><?xml version="1.0" encoding="utf-8"?>
<p:tagLst xmlns:p="http://schemas.openxmlformats.org/presentationml/2006/main">
  <p:tag name="KSO_WM_DIAGRAM_VIRTUALLY_FRAME" val="{&quot;height&quot;:351.21677165354333,&quot;left&quot;:68.71133858267716,&quot;top&quot;:132.37692913385825,&quot;width&quot;:823.8500787401575}"/>
</p:tagLst>
</file>

<file path=ppt/tags/tag42.xml><?xml version="1.0" encoding="utf-8"?>
<p:tagLst xmlns:p="http://schemas.openxmlformats.org/presentationml/2006/main">
  <p:tag name="KSO_WM_DIAGRAM_VIRTUALLY_FRAME" val="{&quot;height&quot;:351.21677165354333,&quot;left&quot;:68.71133858267716,&quot;top&quot;:132.37692913385825,&quot;width&quot;:823.8500787401575}"/>
</p:tagLst>
</file>

<file path=ppt/tags/tag43.xml><?xml version="1.0" encoding="utf-8"?>
<p:tagLst xmlns:p="http://schemas.openxmlformats.org/presentationml/2006/main">
  <p:tag name="KSO_WM_DIAGRAM_VIRTUALLY_FRAME" val="{&quot;height&quot;:351.21677165354333,&quot;left&quot;:68.71133858267716,&quot;top&quot;:132.37692913385825,&quot;width&quot;:823.8500787401575}"/>
</p:tagLst>
</file>

<file path=ppt/tags/tag44.xml><?xml version="1.0" encoding="utf-8"?>
<p:tagLst xmlns:p="http://schemas.openxmlformats.org/presentationml/2006/main">
  <p:tag name="KSO_WM_DIAGRAM_VIRTUALLY_FRAME" val="{&quot;height&quot;:351.21677165354333,&quot;left&quot;:68.71133858267716,&quot;top&quot;:132.37692913385825,&quot;width&quot;:823.8500787401575}"/>
</p:tagLst>
</file>

<file path=ppt/tags/tag45.xml><?xml version="1.0" encoding="utf-8"?>
<p:tagLst xmlns:p="http://schemas.openxmlformats.org/presentationml/2006/main">
  <p:tag name="KSO_WM_DIAGRAM_VIRTUALLY_FRAME" val="{&quot;height&quot;:351.21677165354333,&quot;left&quot;:68.71133858267716,&quot;top&quot;:132.37692913385825,&quot;width&quot;:823.8500787401575}"/>
</p:tagLst>
</file>

<file path=ppt/tags/tag46.xml><?xml version="1.0" encoding="utf-8"?>
<p:tagLst xmlns:p="http://schemas.openxmlformats.org/presentationml/2006/main">
  <p:tag name="KSO_WM_DIAGRAM_VIRTUALLY_FRAME" val="{&quot;height&quot;:351.21677165354333,&quot;left&quot;:68.71133858267716,&quot;top&quot;:132.37692913385825,&quot;width&quot;:823.8500787401575}"/>
</p:tagLst>
</file>

<file path=ppt/tags/tag47.xml><?xml version="1.0" encoding="utf-8"?>
<p:tagLst xmlns:p="http://schemas.openxmlformats.org/presentationml/2006/main">
  <p:tag name="KSO_WM_DIAGRAM_VIRTUALLY_FRAME" val="{&quot;height&quot;:351.21677165354333,&quot;left&quot;:68.71133858267716,&quot;top&quot;:132.37692913385825,&quot;width&quot;:823.8500787401575}"/>
</p:tagLst>
</file>

<file path=ppt/tags/tag48.xml><?xml version="1.0" encoding="utf-8"?>
<p:tagLst xmlns:p="http://schemas.openxmlformats.org/presentationml/2006/main">
  <p:tag name="KSO_WM_DIAGRAM_VIRTUALLY_FRAME" val="{&quot;height&quot;:351.21677165354333,&quot;left&quot;:68.71133858267716,&quot;top&quot;:132.37692913385825,&quot;width&quot;:823.8500787401575}"/>
</p:tagLst>
</file>

<file path=ppt/tags/tag49.xml><?xml version="1.0" encoding="utf-8"?>
<p:tagLst xmlns:p="http://schemas.openxmlformats.org/presentationml/2006/main">
  <p:tag name="KSO_WM_DIAGRAM_VIRTUALLY_FRAME" val="{&quot;height&quot;:351.21677165354333,&quot;left&quot;:68.71133858267716,&quot;top&quot;:132.37692913385825,&quot;width&quot;:823.8500787401575}"/>
</p:tagLst>
</file>

<file path=ppt/tags/tag50.xml><?xml version="1.0" encoding="utf-8"?>
<p:tagLst xmlns:p="http://schemas.openxmlformats.org/presentationml/2006/main">
  <p:tag name="KSO_WM_DIAGRAM_VIRTUALLY_FRAME" val="{&quot;height&quot;:351.21677165354333,&quot;left&quot;:68.71133858267716,&quot;top&quot;:132.37692913385825,&quot;width&quot;:823.8500787401575}"/>
</p:tagLst>
</file>

<file path=ppt/tags/tag51.xml><?xml version="1.0" encoding="utf-8"?>
<p:tagLst xmlns:p="http://schemas.openxmlformats.org/presentationml/2006/main">
  <p:tag name="KSO_WM_DIAGRAM_VIRTUALLY_FRAME" val="{&quot;height&quot;:351.21677165354333,&quot;left&quot;:68.71133858267716,&quot;top&quot;:132.37692913385825,&quot;width&quot;:823.8500787401575}"/>
</p:tagLst>
</file>

<file path=ppt/theme/theme1.xml><?xml version="1.0" encoding="utf-8"?>
<a:theme xmlns:a="http://schemas.openxmlformats.org/drawingml/2006/main" name="1_Office 主题​​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ywql13qi">
      <a:majorFont>
        <a:latin typeface="字魂58号-创中黑"/>
        <a:ea typeface="字魂58号-创中黑"/>
        <a:cs typeface=""/>
      </a:majorFont>
      <a:minorFont>
        <a:latin typeface="字魂58号-创中黑"/>
        <a:ea typeface="字魂58号-创中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3218</Words>
  <Application>WPS 演示</Application>
  <PresentationFormat>宽屏</PresentationFormat>
  <Paragraphs>253</Paragraphs>
  <Slides>31</Slides>
  <Notes>20</Notes>
  <HiddenSlides>0</HiddenSlides>
  <MMClips>0</MMClips>
  <ScaleCrop>false</ScaleCrop>
  <HeadingPairs>
    <vt:vector size="6" baseType="variant">
      <vt:variant>
        <vt:lpstr>已用的字体</vt:lpstr>
      </vt:variant>
      <vt:variant>
        <vt:i4>34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31</vt:i4>
      </vt:variant>
    </vt:vector>
  </HeadingPairs>
  <TitlesOfParts>
    <vt:vector size="66" baseType="lpstr">
      <vt:lpstr>Arial</vt:lpstr>
      <vt:lpstr>宋体</vt:lpstr>
      <vt:lpstr>Wingdings</vt:lpstr>
      <vt:lpstr>Lato Regular</vt:lpstr>
      <vt:lpstr>AMGDT</vt:lpstr>
      <vt:lpstr>Lato Hairline</vt:lpstr>
      <vt:lpstr>Lato Light</vt:lpstr>
      <vt:lpstr>苹方-简</vt:lpstr>
      <vt:lpstr>微软雅黑</vt:lpstr>
      <vt:lpstr>华文宋体</vt:lpstr>
      <vt:lpstr>Hiragino Sans GB W3</vt:lpstr>
      <vt:lpstr>造字工房悦黑（非商用）常规体</vt:lpstr>
      <vt:lpstr>Calibri</vt:lpstr>
      <vt:lpstr>字魂58号-创中黑</vt:lpstr>
      <vt:lpstr>黑体</vt:lpstr>
      <vt:lpstr>KSOFECF1029F</vt:lpstr>
      <vt:lpstr>Arial Unicode MS</vt:lpstr>
      <vt:lpstr>等线</vt:lpstr>
      <vt:lpstr>Source Han Serif SC</vt:lpstr>
      <vt:lpstr>KSOFECF176FE</vt:lpstr>
      <vt:lpstr>Hiragino Sans GB W3</vt:lpstr>
      <vt:lpstr>Lato Hairline</vt:lpstr>
      <vt:lpstr>Lato Light</vt:lpstr>
      <vt:lpstr>Lato Regular</vt:lpstr>
      <vt:lpstr>Source Han Serif SC</vt:lpstr>
      <vt:lpstr>苹方-简</vt:lpstr>
      <vt:lpstr>造字工房悦黑（非商用）常规体</vt:lpstr>
      <vt:lpstr>Oxford Regular</vt:lpstr>
      <vt:lpstr>Windsor Std Light</vt:lpstr>
      <vt:lpstr>苹方护眼艺术黑体</vt:lpstr>
      <vt:lpstr>Comic Sans Pro</vt:lpstr>
      <vt:lpstr>造字工房悦黑体 常规体</vt:lpstr>
      <vt:lpstr>字魂创中黑</vt:lpstr>
      <vt:lpstr>Prima Serif Std Roman</vt:lpstr>
      <vt:lpstr>1_Office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小五 17612344325</cp:lastModifiedBy>
  <cp:revision>48</cp:revision>
  <dcterms:created xsi:type="dcterms:W3CDTF">2026-08-26T13:27:00Z</dcterms:created>
  <dcterms:modified xsi:type="dcterms:W3CDTF">2026-09-06T02:08:24Z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2052-12.1.0.28488</vt:lpwstr>
  </property>
  <property fmtid="{D5CDD505-2E9C-101B-9397-08002B2CF9AE}" pid="3" name="ICV">
    <vt:lpwstr>DDD7125CBB444E46937E4BE7D35B4885_13</vt:lpwstr>
  </property>
</Properties>
</file>