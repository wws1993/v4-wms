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903" r:id="rId2"/>
    <p:sldId id="673" r:id="rId3"/>
    <p:sldId id="723" r:id="rId4"/>
    <p:sldId id="842" r:id="rId5"/>
    <p:sldId id="825" r:id="rId6"/>
    <p:sldId id="1065" r:id="rId7"/>
    <p:sldId id="979" r:id="rId8"/>
    <p:sldId id="941" r:id="rId9"/>
    <p:sldId id="834" r:id="rId10"/>
    <p:sldId id="837" r:id="rId11"/>
    <p:sldId id="1131" r:id="rId12"/>
    <p:sldId id="1132" r:id="rId13"/>
    <p:sldId id="1133" r:id="rId14"/>
    <p:sldId id="1135" r:id="rId15"/>
    <p:sldId id="1136" r:id="rId16"/>
    <p:sldId id="1137" r:id="rId17"/>
    <p:sldId id="1138" r:id="rId18"/>
    <p:sldId id="1139" r:id="rId19"/>
    <p:sldId id="1140" r:id="rId20"/>
    <p:sldId id="1141" r:id="rId21"/>
    <p:sldId id="1142" r:id="rId22"/>
    <p:sldId id="1143" r:id="rId23"/>
    <p:sldId id="1144" r:id="rId24"/>
    <p:sldId id="1145" r:id="rId25"/>
    <p:sldId id="1146" r:id="rId26"/>
    <p:sldId id="1147" r:id="rId27"/>
    <p:sldId id="1148" r:id="rId28"/>
    <p:sldId id="1149" r:id="rId29"/>
    <p:sldId id="1129" r:id="rId30"/>
    <p:sldId id="1130" r:id="rId31"/>
    <p:sldId id="85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60" userDrawn="1">
          <p15:clr>
            <a:srgbClr val="A4A3A4"/>
          </p15:clr>
        </p15:guide>
        <p15:guide id="2" orient="horz" pos="2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E0E3"/>
    <a:srgbClr val="15B3EB"/>
    <a:srgbClr val="BFBFBF"/>
    <a:srgbClr val="00B0F0"/>
    <a:srgbClr val="13B6F1"/>
    <a:srgbClr val="000000"/>
    <a:srgbClr val="404040"/>
    <a:srgbClr val="404F64"/>
    <a:srgbClr val="3C87CF"/>
    <a:srgbClr val="1155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3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51" y="247"/>
      </p:cViewPr>
      <p:guideLst>
        <p:guide pos="3760"/>
        <p:guide orient="horz" pos="21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F1072-4486-4170-8B77-790875179B6E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FB31-D8C3-4D38-AD6C-8C13CBFE13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各位领导，大家上午好，我是中建技术中心的毕艳，这次验收会由我来为大家汇报《》开发与完成情况。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第一部分是总体概述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第二部分为平台详细介绍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首先咱们要做的第一个工作就是模型轻量化，将</a:t>
            </a:r>
            <a:r>
              <a:rPr lang="en-US" altLang="zh-CN"/>
              <a:t>BIM</a:t>
            </a:r>
            <a:r>
              <a:rPr lang="zh-CN" altLang="en-US"/>
              <a:t>模型通过插件在</a:t>
            </a:r>
            <a:r>
              <a:rPr lang="en-US" altLang="zh-CN"/>
              <a:t>revit</a:t>
            </a:r>
            <a:r>
              <a:rPr lang="zh-CN" altLang="en-US"/>
              <a:t>里面导出轻量化模型，将模型轻量化的目的就是为了让模型能够更快、更好的在平台上展示出来。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第二部分为平台详细介绍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zh-CN" altLang="en-US" sz="28700" b="0" i="0" kern="1200" baseline="0" dirty="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D5ECE6-943B-49D7-A8A9-CDF5665F1A48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-1" y="32647"/>
            <a:ext cx="12192001" cy="797348"/>
            <a:chOff x="-1" y="-5751"/>
            <a:chExt cx="12192001" cy="874143"/>
          </a:xfrm>
        </p:grpSpPr>
        <p:sp>
          <p:nvSpPr>
            <p:cNvPr id="10" name="五边形 24"/>
            <p:cNvSpPr/>
            <p:nvPr userDrawn="1"/>
          </p:nvSpPr>
          <p:spPr>
            <a:xfrm>
              <a:off x="-1" y="-5751"/>
              <a:ext cx="2271623" cy="874143"/>
            </a:xfrm>
            <a:custGeom>
              <a:avLst/>
              <a:gdLst>
                <a:gd name="connsiteX0" fmla="*/ 0 w 2641600"/>
                <a:gd name="connsiteY0" fmla="*/ 0 h 787400"/>
                <a:gd name="connsiteX1" fmla="*/ 2247900 w 2641600"/>
                <a:gd name="connsiteY1" fmla="*/ 0 h 787400"/>
                <a:gd name="connsiteX2" fmla="*/ 2641600 w 2641600"/>
                <a:gd name="connsiteY2" fmla="*/ 393700 h 787400"/>
                <a:gd name="connsiteX3" fmla="*/ 2247900 w 2641600"/>
                <a:gd name="connsiteY3" fmla="*/ 787400 h 787400"/>
                <a:gd name="connsiteX4" fmla="*/ 0 w 2641600"/>
                <a:gd name="connsiteY4" fmla="*/ 787400 h 787400"/>
                <a:gd name="connsiteX5" fmla="*/ 0 w 2641600"/>
                <a:gd name="connsiteY5" fmla="*/ 0 h 787400"/>
                <a:gd name="connsiteX0-1" fmla="*/ 0 w 2247900"/>
                <a:gd name="connsiteY0-2" fmla="*/ 0 h 787400"/>
                <a:gd name="connsiteX1-3" fmla="*/ 2247900 w 2247900"/>
                <a:gd name="connsiteY1-4" fmla="*/ 0 h 787400"/>
                <a:gd name="connsiteX2-5" fmla="*/ 2247900 w 2247900"/>
                <a:gd name="connsiteY2-6" fmla="*/ 787400 h 787400"/>
                <a:gd name="connsiteX3-7" fmla="*/ 0 w 2247900"/>
                <a:gd name="connsiteY3-8" fmla="*/ 787400 h 787400"/>
                <a:gd name="connsiteX4-9" fmla="*/ 0 w 2247900"/>
                <a:gd name="connsiteY4-10" fmla="*/ 0 h 787400"/>
                <a:gd name="connsiteX0-11" fmla="*/ 0 w 2247900"/>
                <a:gd name="connsiteY0-12" fmla="*/ 0 h 787400"/>
                <a:gd name="connsiteX1-13" fmla="*/ 2158690 w 2247900"/>
                <a:gd name="connsiteY1-14" fmla="*/ 0 h 787400"/>
                <a:gd name="connsiteX2-15" fmla="*/ 2247900 w 2247900"/>
                <a:gd name="connsiteY2-16" fmla="*/ 787400 h 787400"/>
                <a:gd name="connsiteX3-17" fmla="*/ 0 w 2247900"/>
                <a:gd name="connsiteY3-18" fmla="*/ 787400 h 787400"/>
                <a:gd name="connsiteX4-19" fmla="*/ 0 w 2247900"/>
                <a:gd name="connsiteY4-20" fmla="*/ 0 h 787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47900" h="787400">
                  <a:moveTo>
                    <a:pt x="0" y="0"/>
                  </a:moveTo>
                  <a:lnTo>
                    <a:pt x="2158690" y="0"/>
                  </a:lnTo>
                  <a:lnTo>
                    <a:pt x="2247900" y="787400"/>
                  </a:lnTo>
                  <a:lnTo>
                    <a:pt x="0" y="78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46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0" y="34507"/>
              <a:ext cx="12192000" cy="787400"/>
            </a:xfrm>
            <a:prstGeom prst="rect">
              <a:avLst/>
            </a:prstGeom>
            <a:solidFill>
              <a:srgbClr val="404F64"/>
            </a:solidFill>
            <a:ln>
              <a:noFill/>
            </a:ln>
            <a:effectLst>
              <a:outerShdw blurRad="482600" dist="889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五边形 24"/>
            <p:cNvSpPr/>
            <p:nvPr userDrawn="1"/>
          </p:nvSpPr>
          <p:spPr>
            <a:xfrm>
              <a:off x="0" y="0"/>
              <a:ext cx="2247900" cy="838200"/>
            </a:xfrm>
            <a:custGeom>
              <a:avLst/>
              <a:gdLst>
                <a:gd name="connsiteX0" fmla="*/ 0 w 2641600"/>
                <a:gd name="connsiteY0" fmla="*/ 0 h 787400"/>
                <a:gd name="connsiteX1" fmla="*/ 2247900 w 2641600"/>
                <a:gd name="connsiteY1" fmla="*/ 0 h 787400"/>
                <a:gd name="connsiteX2" fmla="*/ 2641600 w 2641600"/>
                <a:gd name="connsiteY2" fmla="*/ 393700 h 787400"/>
                <a:gd name="connsiteX3" fmla="*/ 2247900 w 2641600"/>
                <a:gd name="connsiteY3" fmla="*/ 787400 h 787400"/>
                <a:gd name="connsiteX4" fmla="*/ 0 w 2641600"/>
                <a:gd name="connsiteY4" fmla="*/ 787400 h 787400"/>
                <a:gd name="connsiteX5" fmla="*/ 0 w 2641600"/>
                <a:gd name="connsiteY5" fmla="*/ 0 h 787400"/>
                <a:gd name="connsiteX0-1" fmla="*/ 0 w 2247900"/>
                <a:gd name="connsiteY0-2" fmla="*/ 0 h 787400"/>
                <a:gd name="connsiteX1-3" fmla="*/ 2247900 w 2247900"/>
                <a:gd name="connsiteY1-4" fmla="*/ 0 h 787400"/>
                <a:gd name="connsiteX2-5" fmla="*/ 2247900 w 2247900"/>
                <a:gd name="connsiteY2-6" fmla="*/ 787400 h 787400"/>
                <a:gd name="connsiteX3-7" fmla="*/ 0 w 2247900"/>
                <a:gd name="connsiteY3-8" fmla="*/ 787400 h 787400"/>
                <a:gd name="connsiteX4-9" fmla="*/ 0 w 2247900"/>
                <a:gd name="connsiteY4-10" fmla="*/ 0 h 787400"/>
                <a:gd name="connsiteX0-11" fmla="*/ 0 w 2247900"/>
                <a:gd name="connsiteY0-12" fmla="*/ 0 h 787400"/>
                <a:gd name="connsiteX1-13" fmla="*/ 2158690 w 2247900"/>
                <a:gd name="connsiteY1-14" fmla="*/ 0 h 787400"/>
                <a:gd name="connsiteX2-15" fmla="*/ 2247900 w 2247900"/>
                <a:gd name="connsiteY2-16" fmla="*/ 787400 h 787400"/>
                <a:gd name="connsiteX3-17" fmla="*/ 0 w 2247900"/>
                <a:gd name="connsiteY3-18" fmla="*/ 787400 h 787400"/>
                <a:gd name="connsiteX4-19" fmla="*/ 0 w 2247900"/>
                <a:gd name="connsiteY4-20" fmla="*/ 0 h 787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47900" h="787400">
                  <a:moveTo>
                    <a:pt x="0" y="0"/>
                  </a:moveTo>
                  <a:lnTo>
                    <a:pt x="2158690" y="0"/>
                  </a:lnTo>
                  <a:lnTo>
                    <a:pt x="2247900" y="787400"/>
                  </a:lnTo>
                  <a:lnTo>
                    <a:pt x="0" y="78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</p:spTree>
  </p:cSld>
  <p:clrMapOvr>
    <a:masterClrMapping/>
  </p:clrMapOvr>
  <p:transition spd="slow" advClick="0" advTm="2000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/>
                <a:cs typeface="Lato Hairline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227221" y="2336617"/>
            <a:ext cx="4535905" cy="2566220"/>
          </a:xfrm>
          <a:custGeom>
            <a:avLst/>
            <a:gdLst>
              <a:gd name="connsiteX0" fmla="*/ 0 w 4535905"/>
              <a:gd name="connsiteY0" fmla="*/ 0 h 2566220"/>
              <a:gd name="connsiteX1" fmla="*/ 4535905 w 4535905"/>
              <a:gd name="connsiteY1" fmla="*/ 0 h 2566220"/>
              <a:gd name="connsiteX2" fmla="*/ 4535905 w 4535905"/>
              <a:gd name="connsiteY2" fmla="*/ 2566220 h 2566220"/>
              <a:gd name="connsiteX3" fmla="*/ 0 w 4535905"/>
              <a:gd name="connsiteY3" fmla="*/ 2566220 h 256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5905" h="2566220">
                <a:moveTo>
                  <a:pt x="0" y="0"/>
                </a:moveTo>
                <a:lnTo>
                  <a:pt x="4535905" y="0"/>
                </a:lnTo>
                <a:lnTo>
                  <a:pt x="4535905" y="2566220"/>
                </a:lnTo>
                <a:lnTo>
                  <a:pt x="0" y="25662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 advClick="0" advTm="2000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2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AE4B8-DA9A-4BB8-AEEC-2269BDB7897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1528B-296A-4977-9204-26D6325B951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slow" advClick="0" advTm="2000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4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18.xml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notesSlide" Target="../notesSlides/notesSlide8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899150" y="1240790"/>
            <a:ext cx="6288405" cy="4543425"/>
          </a:xfrm>
          <a:custGeom>
            <a:avLst/>
            <a:gdLst>
              <a:gd name="connsiteX0" fmla="*/ 0 w 9476"/>
              <a:gd name="connsiteY0" fmla="*/ 7150 h 7155"/>
              <a:gd name="connsiteX1" fmla="*/ 1787 w 9476"/>
              <a:gd name="connsiteY1" fmla="*/ 0 h 7155"/>
              <a:gd name="connsiteX2" fmla="*/ 9476 w 9476"/>
              <a:gd name="connsiteY2" fmla="*/ 16 h 7155"/>
              <a:gd name="connsiteX3" fmla="*/ 9476 w 9476"/>
              <a:gd name="connsiteY3" fmla="*/ 7155 h 7155"/>
              <a:gd name="connsiteX4" fmla="*/ 0 w 9476"/>
              <a:gd name="connsiteY4" fmla="*/ 7150 h 7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6" h="7155">
                <a:moveTo>
                  <a:pt x="0" y="7150"/>
                </a:moveTo>
                <a:lnTo>
                  <a:pt x="1787" y="0"/>
                </a:lnTo>
                <a:lnTo>
                  <a:pt x="9476" y="16"/>
                </a:lnTo>
                <a:lnTo>
                  <a:pt x="9476" y="7155"/>
                </a:lnTo>
                <a:lnTo>
                  <a:pt x="0" y="715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苹方-简" panose="020B0400000000000000" charset="-122"/>
              <a:ea typeface="苹方-简" panose="020B0400000000000000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515110" y="344805"/>
            <a:ext cx="4064635" cy="368300"/>
            <a:chOff x="1963" y="543"/>
            <a:chExt cx="6401" cy="580"/>
          </a:xfrm>
        </p:grpSpPr>
        <p:sp>
          <p:nvSpPr>
            <p:cNvPr id="3" name="文本框 2"/>
            <p:cNvSpPr txBox="1"/>
            <p:nvPr/>
          </p:nvSpPr>
          <p:spPr>
            <a:xfrm>
              <a:off x="1963" y="543"/>
              <a:ext cx="53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/>
                <a:t>中科乾唐（北京）科技股份公司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356" y="543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研发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1905" y="1240790"/>
            <a:ext cx="7302500" cy="3819525"/>
            <a:chOff x="-3" y="1954"/>
            <a:chExt cx="11500" cy="6015"/>
          </a:xfrm>
        </p:grpSpPr>
        <p:sp>
          <p:nvSpPr>
            <p:cNvPr id="5" name="矩形 2"/>
            <p:cNvSpPr/>
            <p:nvPr/>
          </p:nvSpPr>
          <p:spPr>
            <a:xfrm>
              <a:off x="-3" y="1954"/>
              <a:ext cx="11500" cy="6015"/>
            </a:xfrm>
            <a:custGeom>
              <a:avLst/>
              <a:gdLst>
                <a:gd name="connsiteX0" fmla="*/ 0 w 8048625"/>
                <a:gd name="connsiteY0" fmla="*/ 0 h 3819525"/>
                <a:gd name="connsiteX1" fmla="*/ 8048625 w 8048625"/>
                <a:gd name="connsiteY1" fmla="*/ 0 h 3819525"/>
                <a:gd name="connsiteX2" fmla="*/ 8048625 w 8048625"/>
                <a:gd name="connsiteY2" fmla="*/ 3819525 h 3819525"/>
                <a:gd name="connsiteX3" fmla="*/ 0 w 8048625"/>
                <a:gd name="connsiteY3" fmla="*/ 3819525 h 3819525"/>
                <a:gd name="connsiteX4" fmla="*/ 0 w 8048625"/>
                <a:gd name="connsiteY4" fmla="*/ 0 h 3819525"/>
                <a:gd name="connsiteX0-1" fmla="*/ 0 w 8048625"/>
                <a:gd name="connsiteY0-2" fmla="*/ 0 h 3819525"/>
                <a:gd name="connsiteX1-3" fmla="*/ 8048625 w 8048625"/>
                <a:gd name="connsiteY1-4" fmla="*/ 0 h 3819525"/>
                <a:gd name="connsiteX2-5" fmla="*/ 8048625 w 8048625"/>
                <a:gd name="connsiteY2-6" fmla="*/ 3819525 h 3819525"/>
                <a:gd name="connsiteX3-7" fmla="*/ 7124700 w 8048625"/>
                <a:gd name="connsiteY3-8" fmla="*/ 3810000 h 3819525"/>
                <a:gd name="connsiteX4-9" fmla="*/ 0 w 8048625"/>
                <a:gd name="connsiteY4-10" fmla="*/ 3819525 h 3819525"/>
                <a:gd name="connsiteX5" fmla="*/ 0 w 8048625"/>
                <a:gd name="connsiteY5" fmla="*/ 0 h 3819525"/>
                <a:gd name="connsiteX0-11" fmla="*/ 0 w 8048625"/>
                <a:gd name="connsiteY0-12" fmla="*/ 0 h 3819525"/>
                <a:gd name="connsiteX1-13" fmla="*/ 8048625 w 8048625"/>
                <a:gd name="connsiteY1-14" fmla="*/ 0 h 3819525"/>
                <a:gd name="connsiteX2-15" fmla="*/ 7124700 w 8048625"/>
                <a:gd name="connsiteY2-16" fmla="*/ 3810000 h 3819525"/>
                <a:gd name="connsiteX3-17" fmla="*/ 0 w 8048625"/>
                <a:gd name="connsiteY3-18" fmla="*/ 3819525 h 3819525"/>
                <a:gd name="connsiteX4-19" fmla="*/ 0 w 8048625"/>
                <a:gd name="connsiteY4-20" fmla="*/ 0 h 38195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048625" h="3819525">
                  <a:moveTo>
                    <a:pt x="0" y="0"/>
                  </a:moveTo>
                  <a:lnTo>
                    <a:pt x="8048625" y="0"/>
                  </a:lnTo>
                  <a:lnTo>
                    <a:pt x="7124700" y="3810000"/>
                  </a:lnTo>
                  <a:lnTo>
                    <a:pt x="0" y="381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87" y="2953"/>
              <a:ext cx="9025" cy="327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42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WMS</a:t>
              </a:r>
              <a:r>
                <a:rPr lang="zh-CN" altLang="en-US" sz="42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系统软件及本地化</a:t>
              </a:r>
              <a:br>
                <a:rPr lang="zh-CN" altLang="en-US" sz="4200" b="1">
                  <a:solidFill>
                    <a:srgbClr val="FFFFFF"/>
                  </a:solidFill>
                  <a:latin typeface="微软雅黑" panose="020B0503020204020204" pitchFamily="34" charset="-122"/>
                </a:rPr>
              </a:br>
              <a:r>
                <a:rPr lang="zh-CN" altLang="en-US" sz="42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自建服务器部署</a:t>
              </a:r>
            </a:p>
            <a:p>
              <a:pPr algn="l">
                <a:lnSpc>
                  <a:spcPct val="150000"/>
                </a:lnSpc>
              </a:pPr>
              <a:endParaRPr lang="zh-CN" altLang="en-US" sz="3400" kern="800" spc="2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87" y="6303"/>
              <a:ext cx="3413" cy="6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altLang="zh-CN" sz="2600" spc="400" dirty="0">
                  <a:solidFill>
                    <a:schemeClr val="bg1"/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2026</a:t>
              </a:r>
              <a:r>
                <a:rPr lang="zh-CN" altLang="en-US" sz="2600" spc="400" dirty="0">
                  <a:solidFill>
                    <a:schemeClr val="bg1"/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年</a:t>
              </a:r>
              <a:r>
                <a:rPr lang="en-US" altLang="zh-CN" sz="2600" spc="400" dirty="0">
                  <a:solidFill>
                    <a:schemeClr val="bg1"/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8</a:t>
              </a:r>
              <a:r>
                <a:rPr lang="zh-CN" altLang="en-US" sz="2600" spc="400" dirty="0">
                  <a:solidFill>
                    <a:schemeClr val="bg1"/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月 </a:t>
              </a:r>
            </a:p>
          </p:txBody>
        </p:sp>
      </p:grpSp>
      <p:pic>
        <p:nvPicPr>
          <p:cNvPr id="4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83" y="344488"/>
            <a:ext cx="1321435" cy="47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065" y="1965960"/>
            <a:ext cx="4520565" cy="271589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2135383" y="-12208"/>
            <a:ext cx="3670935" cy="1835785"/>
          </a:xfrm>
          <a:custGeom>
            <a:avLst/>
            <a:gdLst>
              <a:gd name="connsiteX0" fmla="*/ 2722 w 5781"/>
              <a:gd name="connsiteY0" fmla="*/ 30 h 2891"/>
              <a:gd name="connsiteX1" fmla="*/ 5781 w 5781"/>
              <a:gd name="connsiteY1" fmla="*/ 0 h 2891"/>
              <a:gd name="connsiteX2" fmla="*/ 2890 w 5781"/>
              <a:gd name="connsiteY2" fmla="*/ 2891 h 2891"/>
              <a:gd name="connsiteX3" fmla="*/ 0 w 5781"/>
              <a:gd name="connsiteY3" fmla="*/ 0 h 2891"/>
              <a:gd name="connsiteX4" fmla="*/ 2722 w 5781"/>
              <a:gd name="connsiteY4" fmla="*/ 30 h 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1" h="2891">
                <a:moveTo>
                  <a:pt x="2722" y="30"/>
                </a:moveTo>
                <a:lnTo>
                  <a:pt x="5781" y="0"/>
                </a:lnTo>
                <a:lnTo>
                  <a:pt x="2890" y="2891"/>
                </a:lnTo>
                <a:lnTo>
                  <a:pt x="0" y="0"/>
                </a:lnTo>
                <a:lnTo>
                  <a:pt x="2722" y="3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  <a:effectLst>
            <a:outerShdw blurRad="254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苹方-简" panose="020B0400000000000000" charset="-122"/>
              <a:ea typeface="苹方-简" panose="020B0400000000000000" charset="-122"/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-30315" y="-55388"/>
            <a:ext cx="1861820" cy="1878965"/>
          </a:xfrm>
          <a:custGeom>
            <a:avLst/>
            <a:gdLst>
              <a:gd name="connsiteX0" fmla="*/ 266 w 2932"/>
              <a:gd name="connsiteY0" fmla="*/ 19 h 2959"/>
              <a:gd name="connsiteX1" fmla="*/ 2932 w 2932"/>
              <a:gd name="connsiteY1" fmla="*/ 68 h 2959"/>
              <a:gd name="connsiteX2" fmla="*/ 41 w 2932"/>
              <a:gd name="connsiteY2" fmla="*/ 2959 h 2959"/>
              <a:gd name="connsiteX3" fmla="*/ 0 w 2932"/>
              <a:gd name="connsiteY3" fmla="*/ 0 h 2959"/>
              <a:gd name="connsiteX4" fmla="*/ 266 w 2932"/>
              <a:gd name="connsiteY4" fmla="*/ 19 h 2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2" h="2959">
                <a:moveTo>
                  <a:pt x="266" y="19"/>
                </a:moveTo>
                <a:lnTo>
                  <a:pt x="2932" y="68"/>
                </a:lnTo>
                <a:lnTo>
                  <a:pt x="41" y="2959"/>
                </a:lnTo>
                <a:lnTo>
                  <a:pt x="0" y="0"/>
                </a:lnTo>
                <a:lnTo>
                  <a:pt x="266" y="19"/>
                </a:lnTo>
                <a:close/>
              </a:path>
            </a:pathLst>
          </a:custGeom>
          <a:solidFill>
            <a:srgbClr val="081D3D"/>
          </a:solidFill>
          <a:ln>
            <a:noFill/>
          </a:ln>
          <a:effectLst>
            <a:outerShdw blurRad="254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苹方-简" panose="020B0400000000000000" charset="-122"/>
              <a:ea typeface="苹方-简" panose="020B0400000000000000" charset="-122"/>
              <a:cs typeface="+mn-ea"/>
              <a:sym typeface="+mn-lt"/>
            </a:endParaRPr>
          </a:p>
        </p:txBody>
      </p:sp>
      <p:sp>
        <p:nvSpPr>
          <p:cNvPr id="32" name="任意多边形 31" descr="蓝绿色的铜氧化物矿石，拿在手里，背景是失焦的矿石。挖掘。"/>
          <p:cNvSpPr/>
          <p:nvPr>
            <p:custDataLst>
              <p:tags r:id="rId1"/>
            </p:custDataLst>
          </p:nvPr>
        </p:nvSpPr>
        <p:spPr>
          <a:xfrm>
            <a:off x="147977" y="172629"/>
            <a:ext cx="3670729" cy="3670728"/>
          </a:xfrm>
          <a:custGeom>
            <a:avLst/>
            <a:gdLst>
              <a:gd name="connsiteX0" fmla="*/ 1122362 w 2244725"/>
              <a:gd name="connsiteY0" fmla="*/ 0 h 2244724"/>
              <a:gd name="connsiteX1" fmla="*/ 2244725 w 2244725"/>
              <a:gd name="connsiteY1" fmla="*/ 1122362 h 2244724"/>
              <a:gd name="connsiteX2" fmla="*/ 1122362 w 2244725"/>
              <a:gd name="connsiteY2" fmla="*/ 2244724 h 2244724"/>
              <a:gd name="connsiteX3" fmla="*/ 0 w 2244725"/>
              <a:gd name="connsiteY3" fmla="*/ 1122362 h 2244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4725" h="2244724">
                <a:moveTo>
                  <a:pt x="1122362" y="0"/>
                </a:moveTo>
                <a:lnTo>
                  <a:pt x="2244725" y="1122362"/>
                </a:lnTo>
                <a:lnTo>
                  <a:pt x="1122362" y="2244724"/>
                </a:lnTo>
                <a:lnTo>
                  <a:pt x="0" y="1122362"/>
                </a:lnTo>
                <a:close/>
              </a:path>
            </a:pathLst>
          </a:custGeom>
          <a:blipFill rotWithShape="1">
            <a:blip r:embed="rId16"/>
            <a:stretch>
              <a:fillRect/>
            </a:stretch>
          </a:blipFill>
          <a:ln>
            <a:noFill/>
          </a:ln>
          <a:effectLst>
            <a:outerShdw blurRad="254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苹方-简" panose="020B0400000000000000" charset="-122"/>
              <a:ea typeface="苹方-简" panose="020B0400000000000000" charset="-122"/>
              <a:cs typeface="+mn-ea"/>
              <a:sym typeface="+mn-lt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-13171" y="2192616"/>
            <a:ext cx="1844675" cy="3670935"/>
          </a:xfrm>
          <a:custGeom>
            <a:avLst/>
            <a:gdLst>
              <a:gd name="connsiteX0" fmla="*/ 14 w 2905"/>
              <a:gd name="connsiteY0" fmla="*/ 0 h 5781"/>
              <a:gd name="connsiteX1" fmla="*/ 2905 w 2905"/>
              <a:gd name="connsiteY1" fmla="*/ 2890 h 5781"/>
              <a:gd name="connsiteX2" fmla="*/ 14 w 2905"/>
              <a:gd name="connsiteY2" fmla="*/ 5781 h 5781"/>
              <a:gd name="connsiteX3" fmla="*/ 0 w 2905"/>
              <a:gd name="connsiteY3" fmla="*/ 3331 h 5781"/>
              <a:gd name="connsiteX4" fmla="*/ 14 w 2905"/>
              <a:gd name="connsiteY4" fmla="*/ 0 h 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5" h="5781">
                <a:moveTo>
                  <a:pt x="14" y="0"/>
                </a:moveTo>
                <a:lnTo>
                  <a:pt x="2905" y="2890"/>
                </a:lnTo>
                <a:lnTo>
                  <a:pt x="14" y="5781"/>
                </a:lnTo>
                <a:lnTo>
                  <a:pt x="0" y="3331"/>
                </a:lnTo>
                <a:lnTo>
                  <a:pt x="14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  <a:effectLst>
            <a:outerShdw blurRad="254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苹方-简" panose="020B0400000000000000" charset="-122"/>
              <a:ea typeface="苹方-简" panose="020B0400000000000000" charset="-122"/>
              <a:cs typeface="+mn-ea"/>
              <a:sym typeface="+mn-lt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1555883" y="4989145"/>
            <a:ext cx="2472420" cy="4921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CONTENTS</a:t>
            </a:r>
          </a:p>
        </p:txBody>
      </p: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6383020" y="1474470"/>
            <a:ext cx="3951605" cy="796290"/>
            <a:chOff x="9812" y="2322"/>
            <a:chExt cx="6223" cy="1254"/>
          </a:xfrm>
        </p:grpSpPr>
        <p:sp>
          <p:nvSpPr>
            <p:cNvPr id="3" name="Freeform 6"/>
            <p:cNvSpPr/>
            <p:nvPr>
              <p:custDataLst>
                <p:tags r:id="rId11"/>
              </p:custDataLst>
            </p:nvPr>
          </p:nvSpPr>
          <p:spPr>
            <a:xfrm>
              <a:off x="9812" y="2322"/>
              <a:ext cx="1254" cy="1254"/>
            </a:xfrm>
            <a:custGeom>
              <a:avLst/>
              <a:gdLst>
                <a:gd name="connsiteX0" fmla="*/ 1621876 w 4116165"/>
                <a:gd name="connsiteY0" fmla="*/ 814807 h 3497531"/>
                <a:gd name="connsiteX1" fmla="*/ 3927730 w 4116165"/>
                <a:gd name="connsiteY1" fmla="*/ 814807 h 3497531"/>
                <a:gd name="connsiteX2" fmla="*/ 4116165 w 4116165"/>
                <a:gd name="connsiteY2" fmla="*/ 1003242 h 3497531"/>
                <a:gd name="connsiteX3" fmla="*/ 4116165 w 4116165"/>
                <a:gd name="connsiteY3" fmla="*/ 3309096 h 3497531"/>
                <a:gd name="connsiteX4" fmla="*/ 3927730 w 4116165"/>
                <a:gd name="connsiteY4" fmla="*/ 3497531 h 3497531"/>
                <a:gd name="connsiteX5" fmla="*/ 1621876 w 4116165"/>
                <a:gd name="connsiteY5" fmla="*/ 3497531 h 3497531"/>
                <a:gd name="connsiteX6" fmla="*/ 1433441 w 4116165"/>
                <a:gd name="connsiteY6" fmla="*/ 3309096 h 3497531"/>
                <a:gd name="connsiteX7" fmla="*/ 1433441 w 4116165"/>
                <a:gd name="connsiteY7" fmla="*/ 1003242 h 3497531"/>
                <a:gd name="connsiteX8" fmla="*/ 1621876 w 4116165"/>
                <a:gd name="connsiteY8" fmla="*/ 814807 h 3497531"/>
                <a:gd name="connsiteX9" fmla="*/ 688860 w 4116165"/>
                <a:gd name="connsiteY9" fmla="*/ 0 h 3497531"/>
                <a:gd name="connsiteX10" fmla="*/ 739322 w 4116165"/>
                <a:gd name="connsiteY10" fmla="*/ 20901 h 3497531"/>
                <a:gd name="connsiteX11" fmla="*/ 1356818 w 4116165"/>
                <a:gd name="connsiteY11" fmla="*/ 638398 h 3497531"/>
                <a:gd name="connsiteX12" fmla="*/ 1356818 w 4116165"/>
                <a:gd name="connsiteY12" fmla="*/ 739322 h 3497531"/>
                <a:gd name="connsiteX13" fmla="*/ 739322 w 4116165"/>
                <a:gd name="connsiteY13" fmla="*/ 1356819 h 3497531"/>
                <a:gd name="connsiteX14" fmla="*/ 638398 w 4116165"/>
                <a:gd name="connsiteY14" fmla="*/ 1356819 h 3497531"/>
                <a:gd name="connsiteX15" fmla="*/ 20901 w 4116165"/>
                <a:gd name="connsiteY15" fmla="*/ 739322 h 3497531"/>
                <a:gd name="connsiteX16" fmla="*/ 20901 w 4116165"/>
                <a:gd name="connsiteY16" fmla="*/ 638398 h 3497531"/>
                <a:gd name="connsiteX17" fmla="*/ 638398 w 4116165"/>
                <a:gd name="connsiteY17" fmla="*/ 20901 h 3497531"/>
                <a:gd name="connsiteX18" fmla="*/ 688860 w 4116165"/>
                <a:gd name="connsiteY18" fmla="*/ 0 h 3497531"/>
                <a:gd name="connsiteX0-1" fmla="*/ 1433441 w 4116165"/>
                <a:gd name="connsiteY0-2" fmla="*/ 1003242 h 3497531"/>
                <a:gd name="connsiteX1-3" fmla="*/ 3927730 w 4116165"/>
                <a:gd name="connsiteY1-4" fmla="*/ 814807 h 3497531"/>
                <a:gd name="connsiteX2-5" fmla="*/ 4116165 w 4116165"/>
                <a:gd name="connsiteY2-6" fmla="*/ 1003242 h 3497531"/>
                <a:gd name="connsiteX3-7" fmla="*/ 4116165 w 4116165"/>
                <a:gd name="connsiteY3-8" fmla="*/ 3309096 h 3497531"/>
                <a:gd name="connsiteX4-9" fmla="*/ 3927730 w 4116165"/>
                <a:gd name="connsiteY4-10" fmla="*/ 3497531 h 3497531"/>
                <a:gd name="connsiteX5-11" fmla="*/ 1621876 w 4116165"/>
                <a:gd name="connsiteY5-12" fmla="*/ 3497531 h 3497531"/>
                <a:gd name="connsiteX6-13" fmla="*/ 1433441 w 4116165"/>
                <a:gd name="connsiteY6-14" fmla="*/ 3309096 h 3497531"/>
                <a:gd name="connsiteX7-15" fmla="*/ 1433441 w 4116165"/>
                <a:gd name="connsiteY7-16" fmla="*/ 1003242 h 3497531"/>
                <a:gd name="connsiteX8-17" fmla="*/ 688860 w 4116165"/>
                <a:gd name="connsiteY8-18" fmla="*/ 0 h 3497531"/>
                <a:gd name="connsiteX9-19" fmla="*/ 739322 w 4116165"/>
                <a:gd name="connsiteY9-20" fmla="*/ 20901 h 3497531"/>
                <a:gd name="connsiteX10-21" fmla="*/ 1356818 w 4116165"/>
                <a:gd name="connsiteY10-22" fmla="*/ 638398 h 3497531"/>
                <a:gd name="connsiteX11-23" fmla="*/ 1356818 w 4116165"/>
                <a:gd name="connsiteY11-24" fmla="*/ 739322 h 3497531"/>
                <a:gd name="connsiteX12-25" fmla="*/ 739322 w 4116165"/>
                <a:gd name="connsiteY12-26" fmla="*/ 1356819 h 3497531"/>
                <a:gd name="connsiteX13-27" fmla="*/ 638398 w 4116165"/>
                <a:gd name="connsiteY13-28" fmla="*/ 1356819 h 3497531"/>
                <a:gd name="connsiteX14-29" fmla="*/ 20901 w 4116165"/>
                <a:gd name="connsiteY14-30" fmla="*/ 739322 h 3497531"/>
                <a:gd name="connsiteX15-31" fmla="*/ 20901 w 4116165"/>
                <a:gd name="connsiteY15-32" fmla="*/ 638398 h 3497531"/>
                <a:gd name="connsiteX16-33" fmla="*/ 638398 w 4116165"/>
                <a:gd name="connsiteY16-34" fmla="*/ 20901 h 3497531"/>
                <a:gd name="connsiteX17-35" fmla="*/ 688860 w 4116165"/>
                <a:gd name="connsiteY17-36" fmla="*/ 0 h 3497531"/>
                <a:gd name="connsiteX0-37" fmla="*/ 1433441 w 4116165"/>
                <a:gd name="connsiteY0-38" fmla="*/ 3309096 h 3497531"/>
                <a:gd name="connsiteX1-39" fmla="*/ 3927730 w 4116165"/>
                <a:gd name="connsiteY1-40" fmla="*/ 814807 h 3497531"/>
                <a:gd name="connsiteX2-41" fmla="*/ 4116165 w 4116165"/>
                <a:gd name="connsiteY2-42" fmla="*/ 1003242 h 3497531"/>
                <a:gd name="connsiteX3-43" fmla="*/ 4116165 w 4116165"/>
                <a:gd name="connsiteY3-44" fmla="*/ 3309096 h 3497531"/>
                <a:gd name="connsiteX4-45" fmla="*/ 3927730 w 4116165"/>
                <a:gd name="connsiteY4-46" fmla="*/ 3497531 h 3497531"/>
                <a:gd name="connsiteX5-47" fmla="*/ 1621876 w 4116165"/>
                <a:gd name="connsiteY5-48" fmla="*/ 3497531 h 3497531"/>
                <a:gd name="connsiteX6-49" fmla="*/ 1433441 w 4116165"/>
                <a:gd name="connsiteY6-50" fmla="*/ 3309096 h 3497531"/>
                <a:gd name="connsiteX7-51" fmla="*/ 688860 w 4116165"/>
                <a:gd name="connsiteY7-52" fmla="*/ 0 h 3497531"/>
                <a:gd name="connsiteX8-53" fmla="*/ 739322 w 4116165"/>
                <a:gd name="connsiteY8-54" fmla="*/ 20901 h 3497531"/>
                <a:gd name="connsiteX9-55" fmla="*/ 1356818 w 4116165"/>
                <a:gd name="connsiteY9-56" fmla="*/ 638398 h 3497531"/>
                <a:gd name="connsiteX10-57" fmla="*/ 1356818 w 4116165"/>
                <a:gd name="connsiteY10-58" fmla="*/ 739322 h 3497531"/>
                <a:gd name="connsiteX11-59" fmla="*/ 739322 w 4116165"/>
                <a:gd name="connsiteY11-60" fmla="*/ 1356819 h 3497531"/>
                <a:gd name="connsiteX12-61" fmla="*/ 638398 w 4116165"/>
                <a:gd name="connsiteY12-62" fmla="*/ 1356819 h 3497531"/>
                <a:gd name="connsiteX13-63" fmla="*/ 20901 w 4116165"/>
                <a:gd name="connsiteY13-64" fmla="*/ 739322 h 3497531"/>
                <a:gd name="connsiteX14-65" fmla="*/ 20901 w 4116165"/>
                <a:gd name="connsiteY14-66" fmla="*/ 638398 h 3497531"/>
                <a:gd name="connsiteX15-67" fmla="*/ 638398 w 4116165"/>
                <a:gd name="connsiteY15-68" fmla="*/ 20901 h 3497531"/>
                <a:gd name="connsiteX16-69" fmla="*/ 688860 w 4116165"/>
                <a:gd name="connsiteY16-70" fmla="*/ 0 h 3497531"/>
                <a:gd name="connsiteX0-71" fmla="*/ 1433441 w 4116165"/>
                <a:gd name="connsiteY0-72" fmla="*/ 3309096 h 3497531"/>
                <a:gd name="connsiteX1-73" fmla="*/ 4116165 w 4116165"/>
                <a:gd name="connsiteY1-74" fmla="*/ 1003242 h 3497531"/>
                <a:gd name="connsiteX2-75" fmla="*/ 4116165 w 4116165"/>
                <a:gd name="connsiteY2-76" fmla="*/ 3309096 h 3497531"/>
                <a:gd name="connsiteX3-77" fmla="*/ 3927730 w 4116165"/>
                <a:gd name="connsiteY3-78" fmla="*/ 3497531 h 3497531"/>
                <a:gd name="connsiteX4-79" fmla="*/ 1621876 w 4116165"/>
                <a:gd name="connsiteY4-80" fmla="*/ 3497531 h 3497531"/>
                <a:gd name="connsiteX5-81" fmla="*/ 1433441 w 4116165"/>
                <a:gd name="connsiteY5-82" fmla="*/ 3309096 h 3497531"/>
                <a:gd name="connsiteX6-83" fmla="*/ 688860 w 4116165"/>
                <a:gd name="connsiteY6-84" fmla="*/ 0 h 3497531"/>
                <a:gd name="connsiteX7-85" fmla="*/ 739322 w 4116165"/>
                <a:gd name="connsiteY7-86" fmla="*/ 20901 h 3497531"/>
                <a:gd name="connsiteX8-87" fmla="*/ 1356818 w 4116165"/>
                <a:gd name="connsiteY8-88" fmla="*/ 638398 h 3497531"/>
                <a:gd name="connsiteX9-89" fmla="*/ 1356818 w 4116165"/>
                <a:gd name="connsiteY9-90" fmla="*/ 739322 h 3497531"/>
                <a:gd name="connsiteX10-91" fmla="*/ 739322 w 4116165"/>
                <a:gd name="connsiteY10-92" fmla="*/ 1356819 h 3497531"/>
                <a:gd name="connsiteX11-93" fmla="*/ 638398 w 4116165"/>
                <a:gd name="connsiteY11-94" fmla="*/ 1356819 h 3497531"/>
                <a:gd name="connsiteX12-95" fmla="*/ 20901 w 4116165"/>
                <a:gd name="connsiteY12-96" fmla="*/ 739322 h 3497531"/>
                <a:gd name="connsiteX13-97" fmla="*/ 20901 w 4116165"/>
                <a:gd name="connsiteY13-98" fmla="*/ 638398 h 3497531"/>
                <a:gd name="connsiteX14-99" fmla="*/ 638398 w 4116165"/>
                <a:gd name="connsiteY14-100" fmla="*/ 20901 h 3497531"/>
                <a:gd name="connsiteX15-101" fmla="*/ 688860 w 4116165"/>
                <a:gd name="connsiteY15-102" fmla="*/ 0 h 3497531"/>
                <a:gd name="connsiteX0-103" fmla="*/ 1433441 w 4116165"/>
                <a:gd name="connsiteY0-104" fmla="*/ 3309096 h 3497531"/>
                <a:gd name="connsiteX1-105" fmla="*/ 4116165 w 4116165"/>
                <a:gd name="connsiteY1-106" fmla="*/ 3309096 h 3497531"/>
                <a:gd name="connsiteX2-107" fmla="*/ 3927730 w 4116165"/>
                <a:gd name="connsiteY2-108" fmla="*/ 3497531 h 3497531"/>
                <a:gd name="connsiteX3-109" fmla="*/ 1621876 w 4116165"/>
                <a:gd name="connsiteY3-110" fmla="*/ 3497531 h 3497531"/>
                <a:gd name="connsiteX4-111" fmla="*/ 1433441 w 4116165"/>
                <a:gd name="connsiteY4-112" fmla="*/ 3309096 h 3497531"/>
                <a:gd name="connsiteX5-113" fmla="*/ 688860 w 4116165"/>
                <a:gd name="connsiteY5-114" fmla="*/ 0 h 3497531"/>
                <a:gd name="connsiteX6-115" fmla="*/ 739322 w 4116165"/>
                <a:gd name="connsiteY6-116" fmla="*/ 20901 h 3497531"/>
                <a:gd name="connsiteX7-117" fmla="*/ 1356818 w 4116165"/>
                <a:gd name="connsiteY7-118" fmla="*/ 638398 h 3497531"/>
                <a:gd name="connsiteX8-119" fmla="*/ 1356818 w 4116165"/>
                <a:gd name="connsiteY8-120" fmla="*/ 739322 h 3497531"/>
                <a:gd name="connsiteX9-121" fmla="*/ 739322 w 4116165"/>
                <a:gd name="connsiteY9-122" fmla="*/ 1356819 h 3497531"/>
                <a:gd name="connsiteX10-123" fmla="*/ 638398 w 4116165"/>
                <a:gd name="connsiteY10-124" fmla="*/ 1356819 h 3497531"/>
                <a:gd name="connsiteX11-125" fmla="*/ 20901 w 4116165"/>
                <a:gd name="connsiteY11-126" fmla="*/ 739322 h 3497531"/>
                <a:gd name="connsiteX12-127" fmla="*/ 20901 w 4116165"/>
                <a:gd name="connsiteY12-128" fmla="*/ 638398 h 3497531"/>
                <a:gd name="connsiteX13-129" fmla="*/ 638398 w 4116165"/>
                <a:gd name="connsiteY13-130" fmla="*/ 20901 h 3497531"/>
                <a:gd name="connsiteX14-131" fmla="*/ 688860 w 4116165"/>
                <a:gd name="connsiteY14-132" fmla="*/ 0 h 3497531"/>
                <a:gd name="connsiteX0-133" fmla="*/ 1433441 w 3927730"/>
                <a:gd name="connsiteY0-134" fmla="*/ 3309096 h 3497531"/>
                <a:gd name="connsiteX1-135" fmla="*/ 3927730 w 3927730"/>
                <a:gd name="connsiteY1-136" fmla="*/ 3497531 h 3497531"/>
                <a:gd name="connsiteX2-137" fmla="*/ 1621876 w 3927730"/>
                <a:gd name="connsiteY2-138" fmla="*/ 3497531 h 3497531"/>
                <a:gd name="connsiteX3-139" fmla="*/ 1433441 w 3927730"/>
                <a:gd name="connsiteY3-140" fmla="*/ 3309096 h 3497531"/>
                <a:gd name="connsiteX4-141" fmla="*/ 688860 w 3927730"/>
                <a:gd name="connsiteY4-142" fmla="*/ 0 h 3497531"/>
                <a:gd name="connsiteX5-143" fmla="*/ 739322 w 3927730"/>
                <a:gd name="connsiteY5-144" fmla="*/ 20901 h 3497531"/>
                <a:gd name="connsiteX6-145" fmla="*/ 1356818 w 3927730"/>
                <a:gd name="connsiteY6-146" fmla="*/ 638398 h 3497531"/>
                <a:gd name="connsiteX7-147" fmla="*/ 1356818 w 3927730"/>
                <a:gd name="connsiteY7-148" fmla="*/ 739322 h 3497531"/>
                <a:gd name="connsiteX8-149" fmla="*/ 739322 w 3927730"/>
                <a:gd name="connsiteY8-150" fmla="*/ 1356819 h 3497531"/>
                <a:gd name="connsiteX9-151" fmla="*/ 638398 w 3927730"/>
                <a:gd name="connsiteY9-152" fmla="*/ 1356819 h 3497531"/>
                <a:gd name="connsiteX10-153" fmla="*/ 20901 w 3927730"/>
                <a:gd name="connsiteY10-154" fmla="*/ 739322 h 3497531"/>
                <a:gd name="connsiteX11-155" fmla="*/ 20901 w 3927730"/>
                <a:gd name="connsiteY11-156" fmla="*/ 638398 h 3497531"/>
                <a:gd name="connsiteX12-157" fmla="*/ 638398 w 3927730"/>
                <a:gd name="connsiteY12-158" fmla="*/ 20901 h 3497531"/>
                <a:gd name="connsiteX13-159" fmla="*/ 688860 w 3927730"/>
                <a:gd name="connsiteY13-160" fmla="*/ 0 h 3497531"/>
                <a:gd name="connsiteX0-161" fmla="*/ 1433441 w 1621876"/>
                <a:gd name="connsiteY0-162" fmla="*/ 3309096 h 3497531"/>
                <a:gd name="connsiteX1-163" fmla="*/ 1621876 w 1621876"/>
                <a:gd name="connsiteY1-164" fmla="*/ 3497531 h 3497531"/>
                <a:gd name="connsiteX2-165" fmla="*/ 1433441 w 1621876"/>
                <a:gd name="connsiteY2-166" fmla="*/ 3309096 h 3497531"/>
                <a:gd name="connsiteX3-167" fmla="*/ 688860 w 1621876"/>
                <a:gd name="connsiteY3-168" fmla="*/ 0 h 3497531"/>
                <a:gd name="connsiteX4-169" fmla="*/ 739322 w 1621876"/>
                <a:gd name="connsiteY4-170" fmla="*/ 20901 h 3497531"/>
                <a:gd name="connsiteX5-171" fmla="*/ 1356818 w 1621876"/>
                <a:gd name="connsiteY5-172" fmla="*/ 638398 h 3497531"/>
                <a:gd name="connsiteX6-173" fmla="*/ 1356818 w 1621876"/>
                <a:gd name="connsiteY6-174" fmla="*/ 739322 h 3497531"/>
                <a:gd name="connsiteX7-175" fmla="*/ 739322 w 1621876"/>
                <a:gd name="connsiteY7-176" fmla="*/ 1356819 h 3497531"/>
                <a:gd name="connsiteX8-177" fmla="*/ 638398 w 1621876"/>
                <a:gd name="connsiteY8-178" fmla="*/ 1356819 h 3497531"/>
                <a:gd name="connsiteX9-179" fmla="*/ 20901 w 1621876"/>
                <a:gd name="connsiteY9-180" fmla="*/ 739322 h 3497531"/>
                <a:gd name="connsiteX10-181" fmla="*/ 20901 w 1621876"/>
                <a:gd name="connsiteY10-182" fmla="*/ 638398 h 3497531"/>
                <a:gd name="connsiteX11-183" fmla="*/ 638398 w 1621876"/>
                <a:gd name="connsiteY11-184" fmla="*/ 20901 h 3497531"/>
                <a:gd name="connsiteX12-185" fmla="*/ 688860 w 1621876"/>
                <a:gd name="connsiteY12-186" fmla="*/ 0 h 3497531"/>
                <a:gd name="connsiteX0-187" fmla="*/ 688860 w 1377719"/>
                <a:gd name="connsiteY0-188" fmla="*/ 0 h 1377720"/>
                <a:gd name="connsiteX1-189" fmla="*/ 739322 w 1377719"/>
                <a:gd name="connsiteY1-190" fmla="*/ 20901 h 1377720"/>
                <a:gd name="connsiteX2-191" fmla="*/ 1356818 w 1377719"/>
                <a:gd name="connsiteY2-192" fmla="*/ 638398 h 1377720"/>
                <a:gd name="connsiteX3-193" fmla="*/ 1356818 w 1377719"/>
                <a:gd name="connsiteY3-194" fmla="*/ 739322 h 1377720"/>
                <a:gd name="connsiteX4-195" fmla="*/ 739322 w 1377719"/>
                <a:gd name="connsiteY4-196" fmla="*/ 1356819 h 1377720"/>
                <a:gd name="connsiteX5-197" fmla="*/ 638398 w 1377719"/>
                <a:gd name="connsiteY5-198" fmla="*/ 1356819 h 1377720"/>
                <a:gd name="connsiteX6-199" fmla="*/ 20901 w 1377719"/>
                <a:gd name="connsiteY6-200" fmla="*/ 739322 h 1377720"/>
                <a:gd name="connsiteX7-201" fmla="*/ 20901 w 1377719"/>
                <a:gd name="connsiteY7-202" fmla="*/ 638398 h 1377720"/>
                <a:gd name="connsiteX8-203" fmla="*/ 638398 w 1377719"/>
                <a:gd name="connsiteY8-204" fmla="*/ 20901 h 1377720"/>
                <a:gd name="connsiteX9-205" fmla="*/ 688860 w 1377719"/>
                <a:gd name="connsiteY9-206" fmla="*/ 0 h 13777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377719" h="1377720">
                  <a:moveTo>
                    <a:pt x="688860" y="0"/>
                  </a:moveTo>
                  <a:cubicBezTo>
                    <a:pt x="707124" y="0"/>
                    <a:pt x="725387" y="6967"/>
                    <a:pt x="739322" y="20901"/>
                  </a:cubicBezTo>
                  <a:lnTo>
                    <a:pt x="1356818" y="638398"/>
                  </a:lnTo>
                  <a:cubicBezTo>
                    <a:pt x="1384687" y="666267"/>
                    <a:pt x="1384687" y="711453"/>
                    <a:pt x="1356818" y="739322"/>
                  </a:cubicBezTo>
                  <a:lnTo>
                    <a:pt x="739322" y="1356819"/>
                  </a:lnTo>
                  <a:cubicBezTo>
                    <a:pt x="711453" y="1384688"/>
                    <a:pt x="666267" y="1384688"/>
                    <a:pt x="638398" y="1356819"/>
                  </a:cubicBezTo>
                  <a:lnTo>
                    <a:pt x="20901" y="739322"/>
                  </a:lnTo>
                  <a:cubicBezTo>
                    <a:pt x="-6968" y="711453"/>
                    <a:pt x="-6968" y="666267"/>
                    <a:pt x="20901" y="638398"/>
                  </a:cubicBezTo>
                  <a:lnTo>
                    <a:pt x="638398" y="20901"/>
                  </a:lnTo>
                  <a:cubicBezTo>
                    <a:pt x="652332" y="6967"/>
                    <a:pt x="670596" y="0"/>
                    <a:pt x="688860" y="0"/>
                  </a:cubicBezTo>
                  <a:close/>
                </a:path>
              </a:pathLst>
            </a:custGeom>
            <a:solidFill>
              <a:srgbClr val="11559C"/>
            </a:solidFill>
            <a:ln>
              <a:noFill/>
            </a:ln>
            <a:effectLst>
              <a:outerShdw blurRad="228600" dist="127000" dir="2700000" sx="95000" sy="95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800" b="1" dirty="0"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12" name="矩形 11"/>
            <p:cNvSpPr/>
            <p:nvPr>
              <p:custDataLst>
                <p:tags r:id="rId12"/>
              </p:custDataLst>
            </p:nvPr>
          </p:nvSpPr>
          <p:spPr>
            <a:xfrm>
              <a:off x="11972" y="2587"/>
              <a:ext cx="4062" cy="72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zh-CN" altLang="en-US" sz="3000" spc="15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总体概述</a:t>
              </a:r>
            </a:p>
          </p:txBody>
        </p:sp>
        <p:cxnSp>
          <p:nvCxnSpPr>
            <p:cNvPr id="18" name="直接连接符 17"/>
            <p:cNvCxnSpPr/>
            <p:nvPr>
              <p:custDataLst>
                <p:tags r:id="rId13"/>
              </p:custDataLst>
            </p:nvPr>
          </p:nvCxnSpPr>
          <p:spPr>
            <a:xfrm>
              <a:off x="11426" y="3404"/>
              <a:ext cx="4609" cy="0"/>
            </a:xfrm>
            <a:prstGeom prst="line">
              <a:avLst/>
            </a:prstGeom>
            <a:ln>
              <a:solidFill>
                <a:srgbClr val="3C87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6383020" y="2595245"/>
            <a:ext cx="3907790" cy="796290"/>
            <a:chOff x="9812" y="3819"/>
            <a:chExt cx="6154" cy="1254"/>
          </a:xfrm>
        </p:grpSpPr>
        <p:sp>
          <p:nvSpPr>
            <p:cNvPr id="4" name="Freeform 6"/>
            <p:cNvSpPr/>
            <p:nvPr>
              <p:custDataLst>
                <p:tags r:id="rId8"/>
              </p:custDataLst>
            </p:nvPr>
          </p:nvSpPr>
          <p:spPr>
            <a:xfrm>
              <a:off x="9812" y="3819"/>
              <a:ext cx="1254" cy="1254"/>
            </a:xfrm>
            <a:custGeom>
              <a:avLst/>
              <a:gdLst>
                <a:gd name="connsiteX0" fmla="*/ 1621876 w 4116165"/>
                <a:gd name="connsiteY0" fmla="*/ 814807 h 3497531"/>
                <a:gd name="connsiteX1" fmla="*/ 3927730 w 4116165"/>
                <a:gd name="connsiteY1" fmla="*/ 814807 h 3497531"/>
                <a:gd name="connsiteX2" fmla="*/ 4116165 w 4116165"/>
                <a:gd name="connsiteY2" fmla="*/ 1003242 h 3497531"/>
                <a:gd name="connsiteX3" fmla="*/ 4116165 w 4116165"/>
                <a:gd name="connsiteY3" fmla="*/ 3309096 h 3497531"/>
                <a:gd name="connsiteX4" fmla="*/ 3927730 w 4116165"/>
                <a:gd name="connsiteY4" fmla="*/ 3497531 h 3497531"/>
                <a:gd name="connsiteX5" fmla="*/ 1621876 w 4116165"/>
                <a:gd name="connsiteY5" fmla="*/ 3497531 h 3497531"/>
                <a:gd name="connsiteX6" fmla="*/ 1433441 w 4116165"/>
                <a:gd name="connsiteY6" fmla="*/ 3309096 h 3497531"/>
                <a:gd name="connsiteX7" fmla="*/ 1433441 w 4116165"/>
                <a:gd name="connsiteY7" fmla="*/ 1003242 h 3497531"/>
                <a:gd name="connsiteX8" fmla="*/ 1621876 w 4116165"/>
                <a:gd name="connsiteY8" fmla="*/ 814807 h 3497531"/>
                <a:gd name="connsiteX9" fmla="*/ 688860 w 4116165"/>
                <a:gd name="connsiteY9" fmla="*/ 0 h 3497531"/>
                <a:gd name="connsiteX10" fmla="*/ 739322 w 4116165"/>
                <a:gd name="connsiteY10" fmla="*/ 20901 h 3497531"/>
                <a:gd name="connsiteX11" fmla="*/ 1356818 w 4116165"/>
                <a:gd name="connsiteY11" fmla="*/ 638398 h 3497531"/>
                <a:gd name="connsiteX12" fmla="*/ 1356818 w 4116165"/>
                <a:gd name="connsiteY12" fmla="*/ 739322 h 3497531"/>
                <a:gd name="connsiteX13" fmla="*/ 739322 w 4116165"/>
                <a:gd name="connsiteY13" fmla="*/ 1356819 h 3497531"/>
                <a:gd name="connsiteX14" fmla="*/ 638398 w 4116165"/>
                <a:gd name="connsiteY14" fmla="*/ 1356819 h 3497531"/>
                <a:gd name="connsiteX15" fmla="*/ 20901 w 4116165"/>
                <a:gd name="connsiteY15" fmla="*/ 739322 h 3497531"/>
                <a:gd name="connsiteX16" fmla="*/ 20901 w 4116165"/>
                <a:gd name="connsiteY16" fmla="*/ 638398 h 3497531"/>
                <a:gd name="connsiteX17" fmla="*/ 638398 w 4116165"/>
                <a:gd name="connsiteY17" fmla="*/ 20901 h 3497531"/>
                <a:gd name="connsiteX18" fmla="*/ 688860 w 4116165"/>
                <a:gd name="connsiteY18" fmla="*/ 0 h 3497531"/>
                <a:gd name="connsiteX0-1" fmla="*/ 1433441 w 4116165"/>
                <a:gd name="connsiteY0-2" fmla="*/ 1003242 h 3497531"/>
                <a:gd name="connsiteX1-3" fmla="*/ 3927730 w 4116165"/>
                <a:gd name="connsiteY1-4" fmla="*/ 814807 h 3497531"/>
                <a:gd name="connsiteX2-5" fmla="*/ 4116165 w 4116165"/>
                <a:gd name="connsiteY2-6" fmla="*/ 1003242 h 3497531"/>
                <a:gd name="connsiteX3-7" fmla="*/ 4116165 w 4116165"/>
                <a:gd name="connsiteY3-8" fmla="*/ 3309096 h 3497531"/>
                <a:gd name="connsiteX4-9" fmla="*/ 3927730 w 4116165"/>
                <a:gd name="connsiteY4-10" fmla="*/ 3497531 h 3497531"/>
                <a:gd name="connsiteX5-11" fmla="*/ 1621876 w 4116165"/>
                <a:gd name="connsiteY5-12" fmla="*/ 3497531 h 3497531"/>
                <a:gd name="connsiteX6-13" fmla="*/ 1433441 w 4116165"/>
                <a:gd name="connsiteY6-14" fmla="*/ 3309096 h 3497531"/>
                <a:gd name="connsiteX7-15" fmla="*/ 1433441 w 4116165"/>
                <a:gd name="connsiteY7-16" fmla="*/ 1003242 h 3497531"/>
                <a:gd name="connsiteX8-17" fmla="*/ 688860 w 4116165"/>
                <a:gd name="connsiteY8-18" fmla="*/ 0 h 3497531"/>
                <a:gd name="connsiteX9-19" fmla="*/ 739322 w 4116165"/>
                <a:gd name="connsiteY9-20" fmla="*/ 20901 h 3497531"/>
                <a:gd name="connsiteX10-21" fmla="*/ 1356818 w 4116165"/>
                <a:gd name="connsiteY10-22" fmla="*/ 638398 h 3497531"/>
                <a:gd name="connsiteX11-23" fmla="*/ 1356818 w 4116165"/>
                <a:gd name="connsiteY11-24" fmla="*/ 739322 h 3497531"/>
                <a:gd name="connsiteX12-25" fmla="*/ 739322 w 4116165"/>
                <a:gd name="connsiteY12-26" fmla="*/ 1356819 h 3497531"/>
                <a:gd name="connsiteX13-27" fmla="*/ 638398 w 4116165"/>
                <a:gd name="connsiteY13-28" fmla="*/ 1356819 h 3497531"/>
                <a:gd name="connsiteX14-29" fmla="*/ 20901 w 4116165"/>
                <a:gd name="connsiteY14-30" fmla="*/ 739322 h 3497531"/>
                <a:gd name="connsiteX15-31" fmla="*/ 20901 w 4116165"/>
                <a:gd name="connsiteY15-32" fmla="*/ 638398 h 3497531"/>
                <a:gd name="connsiteX16-33" fmla="*/ 638398 w 4116165"/>
                <a:gd name="connsiteY16-34" fmla="*/ 20901 h 3497531"/>
                <a:gd name="connsiteX17-35" fmla="*/ 688860 w 4116165"/>
                <a:gd name="connsiteY17-36" fmla="*/ 0 h 3497531"/>
                <a:gd name="connsiteX0-37" fmla="*/ 1433441 w 4116165"/>
                <a:gd name="connsiteY0-38" fmla="*/ 3309096 h 3497531"/>
                <a:gd name="connsiteX1-39" fmla="*/ 3927730 w 4116165"/>
                <a:gd name="connsiteY1-40" fmla="*/ 814807 h 3497531"/>
                <a:gd name="connsiteX2-41" fmla="*/ 4116165 w 4116165"/>
                <a:gd name="connsiteY2-42" fmla="*/ 1003242 h 3497531"/>
                <a:gd name="connsiteX3-43" fmla="*/ 4116165 w 4116165"/>
                <a:gd name="connsiteY3-44" fmla="*/ 3309096 h 3497531"/>
                <a:gd name="connsiteX4-45" fmla="*/ 3927730 w 4116165"/>
                <a:gd name="connsiteY4-46" fmla="*/ 3497531 h 3497531"/>
                <a:gd name="connsiteX5-47" fmla="*/ 1621876 w 4116165"/>
                <a:gd name="connsiteY5-48" fmla="*/ 3497531 h 3497531"/>
                <a:gd name="connsiteX6-49" fmla="*/ 1433441 w 4116165"/>
                <a:gd name="connsiteY6-50" fmla="*/ 3309096 h 3497531"/>
                <a:gd name="connsiteX7-51" fmla="*/ 688860 w 4116165"/>
                <a:gd name="connsiteY7-52" fmla="*/ 0 h 3497531"/>
                <a:gd name="connsiteX8-53" fmla="*/ 739322 w 4116165"/>
                <a:gd name="connsiteY8-54" fmla="*/ 20901 h 3497531"/>
                <a:gd name="connsiteX9-55" fmla="*/ 1356818 w 4116165"/>
                <a:gd name="connsiteY9-56" fmla="*/ 638398 h 3497531"/>
                <a:gd name="connsiteX10-57" fmla="*/ 1356818 w 4116165"/>
                <a:gd name="connsiteY10-58" fmla="*/ 739322 h 3497531"/>
                <a:gd name="connsiteX11-59" fmla="*/ 739322 w 4116165"/>
                <a:gd name="connsiteY11-60" fmla="*/ 1356819 h 3497531"/>
                <a:gd name="connsiteX12-61" fmla="*/ 638398 w 4116165"/>
                <a:gd name="connsiteY12-62" fmla="*/ 1356819 h 3497531"/>
                <a:gd name="connsiteX13-63" fmla="*/ 20901 w 4116165"/>
                <a:gd name="connsiteY13-64" fmla="*/ 739322 h 3497531"/>
                <a:gd name="connsiteX14-65" fmla="*/ 20901 w 4116165"/>
                <a:gd name="connsiteY14-66" fmla="*/ 638398 h 3497531"/>
                <a:gd name="connsiteX15-67" fmla="*/ 638398 w 4116165"/>
                <a:gd name="connsiteY15-68" fmla="*/ 20901 h 3497531"/>
                <a:gd name="connsiteX16-69" fmla="*/ 688860 w 4116165"/>
                <a:gd name="connsiteY16-70" fmla="*/ 0 h 3497531"/>
                <a:gd name="connsiteX0-71" fmla="*/ 1433441 w 4116165"/>
                <a:gd name="connsiteY0-72" fmla="*/ 3309096 h 3497531"/>
                <a:gd name="connsiteX1-73" fmla="*/ 4116165 w 4116165"/>
                <a:gd name="connsiteY1-74" fmla="*/ 1003242 h 3497531"/>
                <a:gd name="connsiteX2-75" fmla="*/ 4116165 w 4116165"/>
                <a:gd name="connsiteY2-76" fmla="*/ 3309096 h 3497531"/>
                <a:gd name="connsiteX3-77" fmla="*/ 3927730 w 4116165"/>
                <a:gd name="connsiteY3-78" fmla="*/ 3497531 h 3497531"/>
                <a:gd name="connsiteX4-79" fmla="*/ 1621876 w 4116165"/>
                <a:gd name="connsiteY4-80" fmla="*/ 3497531 h 3497531"/>
                <a:gd name="connsiteX5-81" fmla="*/ 1433441 w 4116165"/>
                <a:gd name="connsiteY5-82" fmla="*/ 3309096 h 3497531"/>
                <a:gd name="connsiteX6-83" fmla="*/ 688860 w 4116165"/>
                <a:gd name="connsiteY6-84" fmla="*/ 0 h 3497531"/>
                <a:gd name="connsiteX7-85" fmla="*/ 739322 w 4116165"/>
                <a:gd name="connsiteY7-86" fmla="*/ 20901 h 3497531"/>
                <a:gd name="connsiteX8-87" fmla="*/ 1356818 w 4116165"/>
                <a:gd name="connsiteY8-88" fmla="*/ 638398 h 3497531"/>
                <a:gd name="connsiteX9-89" fmla="*/ 1356818 w 4116165"/>
                <a:gd name="connsiteY9-90" fmla="*/ 739322 h 3497531"/>
                <a:gd name="connsiteX10-91" fmla="*/ 739322 w 4116165"/>
                <a:gd name="connsiteY10-92" fmla="*/ 1356819 h 3497531"/>
                <a:gd name="connsiteX11-93" fmla="*/ 638398 w 4116165"/>
                <a:gd name="connsiteY11-94" fmla="*/ 1356819 h 3497531"/>
                <a:gd name="connsiteX12-95" fmla="*/ 20901 w 4116165"/>
                <a:gd name="connsiteY12-96" fmla="*/ 739322 h 3497531"/>
                <a:gd name="connsiteX13-97" fmla="*/ 20901 w 4116165"/>
                <a:gd name="connsiteY13-98" fmla="*/ 638398 h 3497531"/>
                <a:gd name="connsiteX14-99" fmla="*/ 638398 w 4116165"/>
                <a:gd name="connsiteY14-100" fmla="*/ 20901 h 3497531"/>
                <a:gd name="connsiteX15-101" fmla="*/ 688860 w 4116165"/>
                <a:gd name="connsiteY15-102" fmla="*/ 0 h 3497531"/>
                <a:gd name="connsiteX0-103" fmla="*/ 1433441 w 4116165"/>
                <a:gd name="connsiteY0-104" fmla="*/ 3309096 h 3497531"/>
                <a:gd name="connsiteX1-105" fmla="*/ 4116165 w 4116165"/>
                <a:gd name="connsiteY1-106" fmla="*/ 3309096 h 3497531"/>
                <a:gd name="connsiteX2-107" fmla="*/ 3927730 w 4116165"/>
                <a:gd name="connsiteY2-108" fmla="*/ 3497531 h 3497531"/>
                <a:gd name="connsiteX3-109" fmla="*/ 1621876 w 4116165"/>
                <a:gd name="connsiteY3-110" fmla="*/ 3497531 h 3497531"/>
                <a:gd name="connsiteX4-111" fmla="*/ 1433441 w 4116165"/>
                <a:gd name="connsiteY4-112" fmla="*/ 3309096 h 3497531"/>
                <a:gd name="connsiteX5-113" fmla="*/ 688860 w 4116165"/>
                <a:gd name="connsiteY5-114" fmla="*/ 0 h 3497531"/>
                <a:gd name="connsiteX6-115" fmla="*/ 739322 w 4116165"/>
                <a:gd name="connsiteY6-116" fmla="*/ 20901 h 3497531"/>
                <a:gd name="connsiteX7-117" fmla="*/ 1356818 w 4116165"/>
                <a:gd name="connsiteY7-118" fmla="*/ 638398 h 3497531"/>
                <a:gd name="connsiteX8-119" fmla="*/ 1356818 w 4116165"/>
                <a:gd name="connsiteY8-120" fmla="*/ 739322 h 3497531"/>
                <a:gd name="connsiteX9-121" fmla="*/ 739322 w 4116165"/>
                <a:gd name="connsiteY9-122" fmla="*/ 1356819 h 3497531"/>
                <a:gd name="connsiteX10-123" fmla="*/ 638398 w 4116165"/>
                <a:gd name="connsiteY10-124" fmla="*/ 1356819 h 3497531"/>
                <a:gd name="connsiteX11-125" fmla="*/ 20901 w 4116165"/>
                <a:gd name="connsiteY11-126" fmla="*/ 739322 h 3497531"/>
                <a:gd name="connsiteX12-127" fmla="*/ 20901 w 4116165"/>
                <a:gd name="connsiteY12-128" fmla="*/ 638398 h 3497531"/>
                <a:gd name="connsiteX13-129" fmla="*/ 638398 w 4116165"/>
                <a:gd name="connsiteY13-130" fmla="*/ 20901 h 3497531"/>
                <a:gd name="connsiteX14-131" fmla="*/ 688860 w 4116165"/>
                <a:gd name="connsiteY14-132" fmla="*/ 0 h 3497531"/>
                <a:gd name="connsiteX0-133" fmla="*/ 1433441 w 3927730"/>
                <a:gd name="connsiteY0-134" fmla="*/ 3309096 h 3497531"/>
                <a:gd name="connsiteX1-135" fmla="*/ 3927730 w 3927730"/>
                <a:gd name="connsiteY1-136" fmla="*/ 3497531 h 3497531"/>
                <a:gd name="connsiteX2-137" fmla="*/ 1621876 w 3927730"/>
                <a:gd name="connsiteY2-138" fmla="*/ 3497531 h 3497531"/>
                <a:gd name="connsiteX3-139" fmla="*/ 1433441 w 3927730"/>
                <a:gd name="connsiteY3-140" fmla="*/ 3309096 h 3497531"/>
                <a:gd name="connsiteX4-141" fmla="*/ 688860 w 3927730"/>
                <a:gd name="connsiteY4-142" fmla="*/ 0 h 3497531"/>
                <a:gd name="connsiteX5-143" fmla="*/ 739322 w 3927730"/>
                <a:gd name="connsiteY5-144" fmla="*/ 20901 h 3497531"/>
                <a:gd name="connsiteX6-145" fmla="*/ 1356818 w 3927730"/>
                <a:gd name="connsiteY6-146" fmla="*/ 638398 h 3497531"/>
                <a:gd name="connsiteX7-147" fmla="*/ 1356818 w 3927730"/>
                <a:gd name="connsiteY7-148" fmla="*/ 739322 h 3497531"/>
                <a:gd name="connsiteX8-149" fmla="*/ 739322 w 3927730"/>
                <a:gd name="connsiteY8-150" fmla="*/ 1356819 h 3497531"/>
                <a:gd name="connsiteX9-151" fmla="*/ 638398 w 3927730"/>
                <a:gd name="connsiteY9-152" fmla="*/ 1356819 h 3497531"/>
                <a:gd name="connsiteX10-153" fmla="*/ 20901 w 3927730"/>
                <a:gd name="connsiteY10-154" fmla="*/ 739322 h 3497531"/>
                <a:gd name="connsiteX11-155" fmla="*/ 20901 w 3927730"/>
                <a:gd name="connsiteY11-156" fmla="*/ 638398 h 3497531"/>
                <a:gd name="connsiteX12-157" fmla="*/ 638398 w 3927730"/>
                <a:gd name="connsiteY12-158" fmla="*/ 20901 h 3497531"/>
                <a:gd name="connsiteX13-159" fmla="*/ 688860 w 3927730"/>
                <a:gd name="connsiteY13-160" fmla="*/ 0 h 3497531"/>
                <a:gd name="connsiteX0-161" fmla="*/ 1433441 w 1621876"/>
                <a:gd name="connsiteY0-162" fmla="*/ 3309096 h 3497531"/>
                <a:gd name="connsiteX1-163" fmla="*/ 1621876 w 1621876"/>
                <a:gd name="connsiteY1-164" fmla="*/ 3497531 h 3497531"/>
                <a:gd name="connsiteX2-165" fmla="*/ 1433441 w 1621876"/>
                <a:gd name="connsiteY2-166" fmla="*/ 3309096 h 3497531"/>
                <a:gd name="connsiteX3-167" fmla="*/ 688860 w 1621876"/>
                <a:gd name="connsiteY3-168" fmla="*/ 0 h 3497531"/>
                <a:gd name="connsiteX4-169" fmla="*/ 739322 w 1621876"/>
                <a:gd name="connsiteY4-170" fmla="*/ 20901 h 3497531"/>
                <a:gd name="connsiteX5-171" fmla="*/ 1356818 w 1621876"/>
                <a:gd name="connsiteY5-172" fmla="*/ 638398 h 3497531"/>
                <a:gd name="connsiteX6-173" fmla="*/ 1356818 w 1621876"/>
                <a:gd name="connsiteY6-174" fmla="*/ 739322 h 3497531"/>
                <a:gd name="connsiteX7-175" fmla="*/ 739322 w 1621876"/>
                <a:gd name="connsiteY7-176" fmla="*/ 1356819 h 3497531"/>
                <a:gd name="connsiteX8-177" fmla="*/ 638398 w 1621876"/>
                <a:gd name="connsiteY8-178" fmla="*/ 1356819 h 3497531"/>
                <a:gd name="connsiteX9-179" fmla="*/ 20901 w 1621876"/>
                <a:gd name="connsiteY9-180" fmla="*/ 739322 h 3497531"/>
                <a:gd name="connsiteX10-181" fmla="*/ 20901 w 1621876"/>
                <a:gd name="connsiteY10-182" fmla="*/ 638398 h 3497531"/>
                <a:gd name="connsiteX11-183" fmla="*/ 638398 w 1621876"/>
                <a:gd name="connsiteY11-184" fmla="*/ 20901 h 3497531"/>
                <a:gd name="connsiteX12-185" fmla="*/ 688860 w 1621876"/>
                <a:gd name="connsiteY12-186" fmla="*/ 0 h 3497531"/>
                <a:gd name="connsiteX0-187" fmla="*/ 688860 w 1377719"/>
                <a:gd name="connsiteY0-188" fmla="*/ 0 h 1377720"/>
                <a:gd name="connsiteX1-189" fmla="*/ 739322 w 1377719"/>
                <a:gd name="connsiteY1-190" fmla="*/ 20901 h 1377720"/>
                <a:gd name="connsiteX2-191" fmla="*/ 1356818 w 1377719"/>
                <a:gd name="connsiteY2-192" fmla="*/ 638398 h 1377720"/>
                <a:gd name="connsiteX3-193" fmla="*/ 1356818 w 1377719"/>
                <a:gd name="connsiteY3-194" fmla="*/ 739322 h 1377720"/>
                <a:gd name="connsiteX4-195" fmla="*/ 739322 w 1377719"/>
                <a:gd name="connsiteY4-196" fmla="*/ 1356819 h 1377720"/>
                <a:gd name="connsiteX5-197" fmla="*/ 638398 w 1377719"/>
                <a:gd name="connsiteY5-198" fmla="*/ 1356819 h 1377720"/>
                <a:gd name="connsiteX6-199" fmla="*/ 20901 w 1377719"/>
                <a:gd name="connsiteY6-200" fmla="*/ 739322 h 1377720"/>
                <a:gd name="connsiteX7-201" fmla="*/ 20901 w 1377719"/>
                <a:gd name="connsiteY7-202" fmla="*/ 638398 h 1377720"/>
                <a:gd name="connsiteX8-203" fmla="*/ 638398 w 1377719"/>
                <a:gd name="connsiteY8-204" fmla="*/ 20901 h 1377720"/>
                <a:gd name="connsiteX9-205" fmla="*/ 688860 w 1377719"/>
                <a:gd name="connsiteY9-206" fmla="*/ 0 h 13777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377719" h="1377720">
                  <a:moveTo>
                    <a:pt x="688860" y="0"/>
                  </a:moveTo>
                  <a:cubicBezTo>
                    <a:pt x="707124" y="0"/>
                    <a:pt x="725387" y="6967"/>
                    <a:pt x="739322" y="20901"/>
                  </a:cubicBezTo>
                  <a:lnTo>
                    <a:pt x="1356818" y="638398"/>
                  </a:lnTo>
                  <a:cubicBezTo>
                    <a:pt x="1384687" y="666267"/>
                    <a:pt x="1384687" y="711453"/>
                    <a:pt x="1356818" y="739322"/>
                  </a:cubicBezTo>
                  <a:lnTo>
                    <a:pt x="739322" y="1356819"/>
                  </a:lnTo>
                  <a:cubicBezTo>
                    <a:pt x="711453" y="1384688"/>
                    <a:pt x="666267" y="1384688"/>
                    <a:pt x="638398" y="1356819"/>
                  </a:cubicBezTo>
                  <a:lnTo>
                    <a:pt x="20901" y="739322"/>
                  </a:lnTo>
                  <a:cubicBezTo>
                    <a:pt x="-6968" y="711453"/>
                    <a:pt x="-6968" y="666267"/>
                    <a:pt x="20901" y="638398"/>
                  </a:cubicBezTo>
                  <a:lnTo>
                    <a:pt x="638398" y="20901"/>
                  </a:lnTo>
                  <a:cubicBezTo>
                    <a:pt x="652332" y="6967"/>
                    <a:pt x="670596" y="0"/>
                    <a:pt x="688860" y="0"/>
                  </a:cubicBezTo>
                  <a:close/>
                </a:path>
              </a:pathLst>
            </a:custGeom>
            <a:solidFill>
              <a:srgbClr val="404F64"/>
            </a:solidFill>
            <a:ln>
              <a:noFill/>
            </a:ln>
            <a:effectLst>
              <a:outerShdw blurRad="228600" dist="127000" dir="2700000" sx="95000" sy="95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800" b="1" dirty="0"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13" name="矩形 12"/>
            <p:cNvSpPr/>
            <p:nvPr>
              <p:custDataLst>
                <p:tags r:id="rId9"/>
              </p:custDataLst>
            </p:nvPr>
          </p:nvSpPr>
          <p:spPr>
            <a:xfrm>
              <a:off x="11972" y="4105"/>
              <a:ext cx="3994" cy="72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zh-CN" altLang="en-US" sz="3000" spc="15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系统介绍</a:t>
              </a:r>
            </a:p>
          </p:txBody>
        </p:sp>
        <p:cxnSp>
          <p:nvCxnSpPr>
            <p:cNvPr id="19" name="直接连接符 18"/>
            <p:cNvCxnSpPr/>
            <p:nvPr>
              <p:custDataLst>
                <p:tags r:id="rId10"/>
              </p:custDataLst>
            </p:nvPr>
          </p:nvCxnSpPr>
          <p:spPr>
            <a:xfrm>
              <a:off x="11426" y="4905"/>
              <a:ext cx="4540" cy="0"/>
            </a:xfrm>
            <a:prstGeom prst="line">
              <a:avLst/>
            </a:prstGeom>
            <a:ln>
              <a:solidFill>
                <a:srgbClr val="404F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>
            <p:custDataLst>
              <p:tags r:id="rId4"/>
            </p:custDataLst>
          </p:nvPr>
        </p:nvGrpSpPr>
        <p:grpSpPr>
          <a:xfrm>
            <a:off x="6383020" y="3716020"/>
            <a:ext cx="3907790" cy="796290"/>
            <a:chOff x="9812" y="5317"/>
            <a:chExt cx="6154" cy="1254"/>
          </a:xfrm>
        </p:grpSpPr>
        <p:sp>
          <p:nvSpPr>
            <p:cNvPr id="5" name="Freeform 6"/>
            <p:cNvSpPr/>
            <p:nvPr>
              <p:custDataLst>
                <p:tags r:id="rId5"/>
              </p:custDataLst>
            </p:nvPr>
          </p:nvSpPr>
          <p:spPr>
            <a:xfrm>
              <a:off x="9812" y="5317"/>
              <a:ext cx="1254" cy="1254"/>
            </a:xfrm>
            <a:custGeom>
              <a:avLst/>
              <a:gdLst>
                <a:gd name="connsiteX0" fmla="*/ 1621876 w 4116165"/>
                <a:gd name="connsiteY0" fmla="*/ 814807 h 3497531"/>
                <a:gd name="connsiteX1" fmla="*/ 3927730 w 4116165"/>
                <a:gd name="connsiteY1" fmla="*/ 814807 h 3497531"/>
                <a:gd name="connsiteX2" fmla="*/ 4116165 w 4116165"/>
                <a:gd name="connsiteY2" fmla="*/ 1003242 h 3497531"/>
                <a:gd name="connsiteX3" fmla="*/ 4116165 w 4116165"/>
                <a:gd name="connsiteY3" fmla="*/ 3309096 h 3497531"/>
                <a:gd name="connsiteX4" fmla="*/ 3927730 w 4116165"/>
                <a:gd name="connsiteY4" fmla="*/ 3497531 h 3497531"/>
                <a:gd name="connsiteX5" fmla="*/ 1621876 w 4116165"/>
                <a:gd name="connsiteY5" fmla="*/ 3497531 h 3497531"/>
                <a:gd name="connsiteX6" fmla="*/ 1433441 w 4116165"/>
                <a:gd name="connsiteY6" fmla="*/ 3309096 h 3497531"/>
                <a:gd name="connsiteX7" fmla="*/ 1433441 w 4116165"/>
                <a:gd name="connsiteY7" fmla="*/ 1003242 h 3497531"/>
                <a:gd name="connsiteX8" fmla="*/ 1621876 w 4116165"/>
                <a:gd name="connsiteY8" fmla="*/ 814807 h 3497531"/>
                <a:gd name="connsiteX9" fmla="*/ 688860 w 4116165"/>
                <a:gd name="connsiteY9" fmla="*/ 0 h 3497531"/>
                <a:gd name="connsiteX10" fmla="*/ 739322 w 4116165"/>
                <a:gd name="connsiteY10" fmla="*/ 20901 h 3497531"/>
                <a:gd name="connsiteX11" fmla="*/ 1356818 w 4116165"/>
                <a:gd name="connsiteY11" fmla="*/ 638398 h 3497531"/>
                <a:gd name="connsiteX12" fmla="*/ 1356818 w 4116165"/>
                <a:gd name="connsiteY12" fmla="*/ 739322 h 3497531"/>
                <a:gd name="connsiteX13" fmla="*/ 739322 w 4116165"/>
                <a:gd name="connsiteY13" fmla="*/ 1356819 h 3497531"/>
                <a:gd name="connsiteX14" fmla="*/ 638398 w 4116165"/>
                <a:gd name="connsiteY14" fmla="*/ 1356819 h 3497531"/>
                <a:gd name="connsiteX15" fmla="*/ 20901 w 4116165"/>
                <a:gd name="connsiteY15" fmla="*/ 739322 h 3497531"/>
                <a:gd name="connsiteX16" fmla="*/ 20901 w 4116165"/>
                <a:gd name="connsiteY16" fmla="*/ 638398 h 3497531"/>
                <a:gd name="connsiteX17" fmla="*/ 638398 w 4116165"/>
                <a:gd name="connsiteY17" fmla="*/ 20901 h 3497531"/>
                <a:gd name="connsiteX18" fmla="*/ 688860 w 4116165"/>
                <a:gd name="connsiteY18" fmla="*/ 0 h 3497531"/>
                <a:gd name="connsiteX0-1" fmla="*/ 1433441 w 4116165"/>
                <a:gd name="connsiteY0-2" fmla="*/ 1003242 h 3497531"/>
                <a:gd name="connsiteX1-3" fmla="*/ 3927730 w 4116165"/>
                <a:gd name="connsiteY1-4" fmla="*/ 814807 h 3497531"/>
                <a:gd name="connsiteX2-5" fmla="*/ 4116165 w 4116165"/>
                <a:gd name="connsiteY2-6" fmla="*/ 1003242 h 3497531"/>
                <a:gd name="connsiteX3-7" fmla="*/ 4116165 w 4116165"/>
                <a:gd name="connsiteY3-8" fmla="*/ 3309096 h 3497531"/>
                <a:gd name="connsiteX4-9" fmla="*/ 3927730 w 4116165"/>
                <a:gd name="connsiteY4-10" fmla="*/ 3497531 h 3497531"/>
                <a:gd name="connsiteX5-11" fmla="*/ 1621876 w 4116165"/>
                <a:gd name="connsiteY5-12" fmla="*/ 3497531 h 3497531"/>
                <a:gd name="connsiteX6-13" fmla="*/ 1433441 w 4116165"/>
                <a:gd name="connsiteY6-14" fmla="*/ 3309096 h 3497531"/>
                <a:gd name="connsiteX7-15" fmla="*/ 1433441 w 4116165"/>
                <a:gd name="connsiteY7-16" fmla="*/ 1003242 h 3497531"/>
                <a:gd name="connsiteX8-17" fmla="*/ 688860 w 4116165"/>
                <a:gd name="connsiteY8-18" fmla="*/ 0 h 3497531"/>
                <a:gd name="connsiteX9-19" fmla="*/ 739322 w 4116165"/>
                <a:gd name="connsiteY9-20" fmla="*/ 20901 h 3497531"/>
                <a:gd name="connsiteX10-21" fmla="*/ 1356818 w 4116165"/>
                <a:gd name="connsiteY10-22" fmla="*/ 638398 h 3497531"/>
                <a:gd name="connsiteX11-23" fmla="*/ 1356818 w 4116165"/>
                <a:gd name="connsiteY11-24" fmla="*/ 739322 h 3497531"/>
                <a:gd name="connsiteX12-25" fmla="*/ 739322 w 4116165"/>
                <a:gd name="connsiteY12-26" fmla="*/ 1356819 h 3497531"/>
                <a:gd name="connsiteX13-27" fmla="*/ 638398 w 4116165"/>
                <a:gd name="connsiteY13-28" fmla="*/ 1356819 h 3497531"/>
                <a:gd name="connsiteX14-29" fmla="*/ 20901 w 4116165"/>
                <a:gd name="connsiteY14-30" fmla="*/ 739322 h 3497531"/>
                <a:gd name="connsiteX15-31" fmla="*/ 20901 w 4116165"/>
                <a:gd name="connsiteY15-32" fmla="*/ 638398 h 3497531"/>
                <a:gd name="connsiteX16-33" fmla="*/ 638398 w 4116165"/>
                <a:gd name="connsiteY16-34" fmla="*/ 20901 h 3497531"/>
                <a:gd name="connsiteX17-35" fmla="*/ 688860 w 4116165"/>
                <a:gd name="connsiteY17-36" fmla="*/ 0 h 3497531"/>
                <a:gd name="connsiteX0-37" fmla="*/ 1433441 w 4116165"/>
                <a:gd name="connsiteY0-38" fmla="*/ 3309096 h 3497531"/>
                <a:gd name="connsiteX1-39" fmla="*/ 3927730 w 4116165"/>
                <a:gd name="connsiteY1-40" fmla="*/ 814807 h 3497531"/>
                <a:gd name="connsiteX2-41" fmla="*/ 4116165 w 4116165"/>
                <a:gd name="connsiteY2-42" fmla="*/ 1003242 h 3497531"/>
                <a:gd name="connsiteX3-43" fmla="*/ 4116165 w 4116165"/>
                <a:gd name="connsiteY3-44" fmla="*/ 3309096 h 3497531"/>
                <a:gd name="connsiteX4-45" fmla="*/ 3927730 w 4116165"/>
                <a:gd name="connsiteY4-46" fmla="*/ 3497531 h 3497531"/>
                <a:gd name="connsiteX5-47" fmla="*/ 1621876 w 4116165"/>
                <a:gd name="connsiteY5-48" fmla="*/ 3497531 h 3497531"/>
                <a:gd name="connsiteX6-49" fmla="*/ 1433441 w 4116165"/>
                <a:gd name="connsiteY6-50" fmla="*/ 3309096 h 3497531"/>
                <a:gd name="connsiteX7-51" fmla="*/ 688860 w 4116165"/>
                <a:gd name="connsiteY7-52" fmla="*/ 0 h 3497531"/>
                <a:gd name="connsiteX8-53" fmla="*/ 739322 w 4116165"/>
                <a:gd name="connsiteY8-54" fmla="*/ 20901 h 3497531"/>
                <a:gd name="connsiteX9-55" fmla="*/ 1356818 w 4116165"/>
                <a:gd name="connsiteY9-56" fmla="*/ 638398 h 3497531"/>
                <a:gd name="connsiteX10-57" fmla="*/ 1356818 w 4116165"/>
                <a:gd name="connsiteY10-58" fmla="*/ 739322 h 3497531"/>
                <a:gd name="connsiteX11-59" fmla="*/ 739322 w 4116165"/>
                <a:gd name="connsiteY11-60" fmla="*/ 1356819 h 3497531"/>
                <a:gd name="connsiteX12-61" fmla="*/ 638398 w 4116165"/>
                <a:gd name="connsiteY12-62" fmla="*/ 1356819 h 3497531"/>
                <a:gd name="connsiteX13-63" fmla="*/ 20901 w 4116165"/>
                <a:gd name="connsiteY13-64" fmla="*/ 739322 h 3497531"/>
                <a:gd name="connsiteX14-65" fmla="*/ 20901 w 4116165"/>
                <a:gd name="connsiteY14-66" fmla="*/ 638398 h 3497531"/>
                <a:gd name="connsiteX15-67" fmla="*/ 638398 w 4116165"/>
                <a:gd name="connsiteY15-68" fmla="*/ 20901 h 3497531"/>
                <a:gd name="connsiteX16-69" fmla="*/ 688860 w 4116165"/>
                <a:gd name="connsiteY16-70" fmla="*/ 0 h 3497531"/>
                <a:gd name="connsiteX0-71" fmla="*/ 1433441 w 4116165"/>
                <a:gd name="connsiteY0-72" fmla="*/ 3309096 h 3497531"/>
                <a:gd name="connsiteX1-73" fmla="*/ 4116165 w 4116165"/>
                <a:gd name="connsiteY1-74" fmla="*/ 1003242 h 3497531"/>
                <a:gd name="connsiteX2-75" fmla="*/ 4116165 w 4116165"/>
                <a:gd name="connsiteY2-76" fmla="*/ 3309096 h 3497531"/>
                <a:gd name="connsiteX3-77" fmla="*/ 3927730 w 4116165"/>
                <a:gd name="connsiteY3-78" fmla="*/ 3497531 h 3497531"/>
                <a:gd name="connsiteX4-79" fmla="*/ 1621876 w 4116165"/>
                <a:gd name="connsiteY4-80" fmla="*/ 3497531 h 3497531"/>
                <a:gd name="connsiteX5-81" fmla="*/ 1433441 w 4116165"/>
                <a:gd name="connsiteY5-82" fmla="*/ 3309096 h 3497531"/>
                <a:gd name="connsiteX6-83" fmla="*/ 688860 w 4116165"/>
                <a:gd name="connsiteY6-84" fmla="*/ 0 h 3497531"/>
                <a:gd name="connsiteX7-85" fmla="*/ 739322 w 4116165"/>
                <a:gd name="connsiteY7-86" fmla="*/ 20901 h 3497531"/>
                <a:gd name="connsiteX8-87" fmla="*/ 1356818 w 4116165"/>
                <a:gd name="connsiteY8-88" fmla="*/ 638398 h 3497531"/>
                <a:gd name="connsiteX9-89" fmla="*/ 1356818 w 4116165"/>
                <a:gd name="connsiteY9-90" fmla="*/ 739322 h 3497531"/>
                <a:gd name="connsiteX10-91" fmla="*/ 739322 w 4116165"/>
                <a:gd name="connsiteY10-92" fmla="*/ 1356819 h 3497531"/>
                <a:gd name="connsiteX11-93" fmla="*/ 638398 w 4116165"/>
                <a:gd name="connsiteY11-94" fmla="*/ 1356819 h 3497531"/>
                <a:gd name="connsiteX12-95" fmla="*/ 20901 w 4116165"/>
                <a:gd name="connsiteY12-96" fmla="*/ 739322 h 3497531"/>
                <a:gd name="connsiteX13-97" fmla="*/ 20901 w 4116165"/>
                <a:gd name="connsiteY13-98" fmla="*/ 638398 h 3497531"/>
                <a:gd name="connsiteX14-99" fmla="*/ 638398 w 4116165"/>
                <a:gd name="connsiteY14-100" fmla="*/ 20901 h 3497531"/>
                <a:gd name="connsiteX15-101" fmla="*/ 688860 w 4116165"/>
                <a:gd name="connsiteY15-102" fmla="*/ 0 h 3497531"/>
                <a:gd name="connsiteX0-103" fmla="*/ 1433441 w 4116165"/>
                <a:gd name="connsiteY0-104" fmla="*/ 3309096 h 3497531"/>
                <a:gd name="connsiteX1-105" fmla="*/ 4116165 w 4116165"/>
                <a:gd name="connsiteY1-106" fmla="*/ 3309096 h 3497531"/>
                <a:gd name="connsiteX2-107" fmla="*/ 3927730 w 4116165"/>
                <a:gd name="connsiteY2-108" fmla="*/ 3497531 h 3497531"/>
                <a:gd name="connsiteX3-109" fmla="*/ 1621876 w 4116165"/>
                <a:gd name="connsiteY3-110" fmla="*/ 3497531 h 3497531"/>
                <a:gd name="connsiteX4-111" fmla="*/ 1433441 w 4116165"/>
                <a:gd name="connsiteY4-112" fmla="*/ 3309096 h 3497531"/>
                <a:gd name="connsiteX5-113" fmla="*/ 688860 w 4116165"/>
                <a:gd name="connsiteY5-114" fmla="*/ 0 h 3497531"/>
                <a:gd name="connsiteX6-115" fmla="*/ 739322 w 4116165"/>
                <a:gd name="connsiteY6-116" fmla="*/ 20901 h 3497531"/>
                <a:gd name="connsiteX7-117" fmla="*/ 1356818 w 4116165"/>
                <a:gd name="connsiteY7-118" fmla="*/ 638398 h 3497531"/>
                <a:gd name="connsiteX8-119" fmla="*/ 1356818 w 4116165"/>
                <a:gd name="connsiteY8-120" fmla="*/ 739322 h 3497531"/>
                <a:gd name="connsiteX9-121" fmla="*/ 739322 w 4116165"/>
                <a:gd name="connsiteY9-122" fmla="*/ 1356819 h 3497531"/>
                <a:gd name="connsiteX10-123" fmla="*/ 638398 w 4116165"/>
                <a:gd name="connsiteY10-124" fmla="*/ 1356819 h 3497531"/>
                <a:gd name="connsiteX11-125" fmla="*/ 20901 w 4116165"/>
                <a:gd name="connsiteY11-126" fmla="*/ 739322 h 3497531"/>
                <a:gd name="connsiteX12-127" fmla="*/ 20901 w 4116165"/>
                <a:gd name="connsiteY12-128" fmla="*/ 638398 h 3497531"/>
                <a:gd name="connsiteX13-129" fmla="*/ 638398 w 4116165"/>
                <a:gd name="connsiteY13-130" fmla="*/ 20901 h 3497531"/>
                <a:gd name="connsiteX14-131" fmla="*/ 688860 w 4116165"/>
                <a:gd name="connsiteY14-132" fmla="*/ 0 h 3497531"/>
                <a:gd name="connsiteX0-133" fmla="*/ 1433441 w 3927730"/>
                <a:gd name="connsiteY0-134" fmla="*/ 3309096 h 3497531"/>
                <a:gd name="connsiteX1-135" fmla="*/ 3927730 w 3927730"/>
                <a:gd name="connsiteY1-136" fmla="*/ 3497531 h 3497531"/>
                <a:gd name="connsiteX2-137" fmla="*/ 1621876 w 3927730"/>
                <a:gd name="connsiteY2-138" fmla="*/ 3497531 h 3497531"/>
                <a:gd name="connsiteX3-139" fmla="*/ 1433441 w 3927730"/>
                <a:gd name="connsiteY3-140" fmla="*/ 3309096 h 3497531"/>
                <a:gd name="connsiteX4-141" fmla="*/ 688860 w 3927730"/>
                <a:gd name="connsiteY4-142" fmla="*/ 0 h 3497531"/>
                <a:gd name="connsiteX5-143" fmla="*/ 739322 w 3927730"/>
                <a:gd name="connsiteY5-144" fmla="*/ 20901 h 3497531"/>
                <a:gd name="connsiteX6-145" fmla="*/ 1356818 w 3927730"/>
                <a:gd name="connsiteY6-146" fmla="*/ 638398 h 3497531"/>
                <a:gd name="connsiteX7-147" fmla="*/ 1356818 w 3927730"/>
                <a:gd name="connsiteY7-148" fmla="*/ 739322 h 3497531"/>
                <a:gd name="connsiteX8-149" fmla="*/ 739322 w 3927730"/>
                <a:gd name="connsiteY8-150" fmla="*/ 1356819 h 3497531"/>
                <a:gd name="connsiteX9-151" fmla="*/ 638398 w 3927730"/>
                <a:gd name="connsiteY9-152" fmla="*/ 1356819 h 3497531"/>
                <a:gd name="connsiteX10-153" fmla="*/ 20901 w 3927730"/>
                <a:gd name="connsiteY10-154" fmla="*/ 739322 h 3497531"/>
                <a:gd name="connsiteX11-155" fmla="*/ 20901 w 3927730"/>
                <a:gd name="connsiteY11-156" fmla="*/ 638398 h 3497531"/>
                <a:gd name="connsiteX12-157" fmla="*/ 638398 w 3927730"/>
                <a:gd name="connsiteY12-158" fmla="*/ 20901 h 3497531"/>
                <a:gd name="connsiteX13-159" fmla="*/ 688860 w 3927730"/>
                <a:gd name="connsiteY13-160" fmla="*/ 0 h 3497531"/>
                <a:gd name="connsiteX0-161" fmla="*/ 1433441 w 1621876"/>
                <a:gd name="connsiteY0-162" fmla="*/ 3309096 h 3497531"/>
                <a:gd name="connsiteX1-163" fmla="*/ 1621876 w 1621876"/>
                <a:gd name="connsiteY1-164" fmla="*/ 3497531 h 3497531"/>
                <a:gd name="connsiteX2-165" fmla="*/ 1433441 w 1621876"/>
                <a:gd name="connsiteY2-166" fmla="*/ 3309096 h 3497531"/>
                <a:gd name="connsiteX3-167" fmla="*/ 688860 w 1621876"/>
                <a:gd name="connsiteY3-168" fmla="*/ 0 h 3497531"/>
                <a:gd name="connsiteX4-169" fmla="*/ 739322 w 1621876"/>
                <a:gd name="connsiteY4-170" fmla="*/ 20901 h 3497531"/>
                <a:gd name="connsiteX5-171" fmla="*/ 1356818 w 1621876"/>
                <a:gd name="connsiteY5-172" fmla="*/ 638398 h 3497531"/>
                <a:gd name="connsiteX6-173" fmla="*/ 1356818 w 1621876"/>
                <a:gd name="connsiteY6-174" fmla="*/ 739322 h 3497531"/>
                <a:gd name="connsiteX7-175" fmla="*/ 739322 w 1621876"/>
                <a:gd name="connsiteY7-176" fmla="*/ 1356819 h 3497531"/>
                <a:gd name="connsiteX8-177" fmla="*/ 638398 w 1621876"/>
                <a:gd name="connsiteY8-178" fmla="*/ 1356819 h 3497531"/>
                <a:gd name="connsiteX9-179" fmla="*/ 20901 w 1621876"/>
                <a:gd name="connsiteY9-180" fmla="*/ 739322 h 3497531"/>
                <a:gd name="connsiteX10-181" fmla="*/ 20901 w 1621876"/>
                <a:gd name="connsiteY10-182" fmla="*/ 638398 h 3497531"/>
                <a:gd name="connsiteX11-183" fmla="*/ 638398 w 1621876"/>
                <a:gd name="connsiteY11-184" fmla="*/ 20901 h 3497531"/>
                <a:gd name="connsiteX12-185" fmla="*/ 688860 w 1621876"/>
                <a:gd name="connsiteY12-186" fmla="*/ 0 h 3497531"/>
                <a:gd name="connsiteX0-187" fmla="*/ 688860 w 1377719"/>
                <a:gd name="connsiteY0-188" fmla="*/ 0 h 1377720"/>
                <a:gd name="connsiteX1-189" fmla="*/ 739322 w 1377719"/>
                <a:gd name="connsiteY1-190" fmla="*/ 20901 h 1377720"/>
                <a:gd name="connsiteX2-191" fmla="*/ 1356818 w 1377719"/>
                <a:gd name="connsiteY2-192" fmla="*/ 638398 h 1377720"/>
                <a:gd name="connsiteX3-193" fmla="*/ 1356818 w 1377719"/>
                <a:gd name="connsiteY3-194" fmla="*/ 739322 h 1377720"/>
                <a:gd name="connsiteX4-195" fmla="*/ 739322 w 1377719"/>
                <a:gd name="connsiteY4-196" fmla="*/ 1356819 h 1377720"/>
                <a:gd name="connsiteX5-197" fmla="*/ 638398 w 1377719"/>
                <a:gd name="connsiteY5-198" fmla="*/ 1356819 h 1377720"/>
                <a:gd name="connsiteX6-199" fmla="*/ 20901 w 1377719"/>
                <a:gd name="connsiteY6-200" fmla="*/ 739322 h 1377720"/>
                <a:gd name="connsiteX7-201" fmla="*/ 20901 w 1377719"/>
                <a:gd name="connsiteY7-202" fmla="*/ 638398 h 1377720"/>
                <a:gd name="connsiteX8-203" fmla="*/ 638398 w 1377719"/>
                <a:gd name="connsiteY8-204" fmla="*/ 20901 h 1377720"/>
                <a:gd name="connsiteX9-205" fmla="*/ 688860 w 1377719"/>
                <a:gd name="connsiteY9-206" fmla="*/ 0 h 13777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377719" h="1377720">
                  <a:moveTo>
                    <a:pt x="688860" y="0"/>
                  </a:moveTo>
                  <a:cubicBezTo>
                    <a:pt x="707124" y="0"/>
                    <a:pt x="725387" y="6967"/>
                    <a:pt x="739322" y="20901"/>
                  </a:cubicBezTo>
                  <a:lnTo>
                    <a:pt x="1356818" y="638398"/>
                  </a:lnTo>
                  <a:cubicBezTo>
                    <a:pt x="1384687" y="666267"/>
                    <a:pt x="1384687" y="711453"/>
                    <a:pt x="1356818" y="739322"/>
                  </a:cubicBezTo>
                  <a:lnTo>
                    <a:pt x="739322" y="1356819"/>
                  </a:lnTo>
                  <a:cubicBezTo>
                    <a:pt x="711453" y="1384688"/>
                    <a:pt x="666267" y="1384688"/>
                    <a:pt x="638398" y="1356819"/>
                  </a:cubicBezTo>
                  <a:lnTo>
                    <a:pt x="20901" y="739322"/>
                  </a:lnTo>
                  <a:cubicBezTo>
                    <a:pt x="-6968" y="711453"/>
                    <a:pt x="-6968" y="666267"/>
                    <a:pt x="20901" y="638398"/>
                  </a:cubicBezTo>
                  <a:lnTo>
                    <a:pt x="638398" y="20901"/>
                  </a:lnTo>
                  <a:cubicBezTo>
                    <a:pt x="652332" y="6967"/>
                    <a:pt x="670596" y="0"/>
                    <a:pt x="688860" y="0"/>
                  </a:cubicBezTo>
                  <a:close/>
                </a:path>
              </a:pathLst>
            </a:custGeom>
            <a:solidFill>
              <a:srgbClr val="11559C"/>
            </a:solidFill>
            <a:ln>
              <a:noFill/>
            </a:ln>
            <a:effectLst>
              <a:outerShdw blurRad="228600" dist="127000" dir="2700000" sx="95000" sy="95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800" b="1" dirty="0"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14" name="矩形 13"/>
            <p:cNvSpPr/>
            <p:nvPr>
              <p:custDataLst>
                <p:tags r:id="rId6"/>
              </p:custDataLst>
            </p:nvPr>
          </p:nvSpPr>
          <p:spPr>
            <a:xfrm>
              <a:off x="11972" y="5586"/>
              <a:ext cx="3994" cy="72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zh-CN" altLang="en-US" sz="3000" spc="15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苹方-简" panose="020B0400000000000000" charset="-122"/>
                  <a:ea typeface="苹方-简" panose="020B0400000000000000" charset="-122"/>
                  <a:cs typeface="+mn-ea"/>
                  <a:sym typeface="+mn-lt"/>
                </a:rPr>
                <a:t>开发排期</a:t>
              </a:r>
            </a:p>
          </p:txBody>
        </p:sp>
        <p:cxnSp>
          <p:nvCxnSpPr>
            <p:cNvPr id="20" name="直接连接符 19"/>
            <p:cNvCxnSpPr/>
            <p:nvPr>
              <p:custDataLst>
                <p:tags r:id="rId7"/>
              </p:custDataLst>
            </p:nvPr>
          </p:nvCxnSpPr>
          <p:spPr>
            <a:xfrm>
              <a:off x="11426" y="6407"/>
              <a:ext cx="4494" cy="0"/>
            </a:xfrm>
            <a:prstGeom prst="line">
              <a:avLst/>
            </a:prstGeom>
            <a:ln>
              <a:solidFill>
                <a:srgbClr val="3C87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 advTm="2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8778" y="2187526"/>
            <a:ext cx="3441344" cy="2467516"/>
          </a:xfrm>
          <a:custGeom>
            <a:avLst/>
            <a:gdLst>
              <a:gd name="connsiteX0" fmla="*/ 0 w 3441344"/>
              <a:gd name="connsiteY0" fmla="*/ 0 h 2467516"/>
              <a:gd name="connsiteX1" fmla="*/ 3441344 w 3441344"/>
              <a:gd name="connsiteY1" fmla="*/ 0 h 2467516"/>
              <a:gd name="connsiteX2" fmla="*/ 3441344 w 3441344"/>
              <a:gd name="connsiteY2" fmla="*/ 2467516 h 2467516"/>
              <a:gd name="connsiteX3" fmla="*/ 0 w 3441344"/>
              <a:gd name="connsiteY3" fmla="*/ 2467516 h 2467516"/>
              <a:gd name="connsiteX4" fmla="*/ 0 w 3441344"/>
              <a:gd name="connsiteY4" fmla="*/ 0 h 2467516"/>
              <a:gd name="connsiteX0-1" fmla="*/ 0 w 3441344"/>
              <a:gd name="connsiteY0-2" fmla="*/ 0 h 2467516"/>
              <a:gd name="connsiteX1-3" fmla="*/ 3441344 w 3441344"/>
              <a:gd name="connsiteY1-4" fmla="*/ 0 h 2467516"/>
              <a:gd name="connsiteX2-5" fmla="*/ 3441344 w 3441344"/>
              <a:gd name="connsiteY2-6" fmla="*/ 2467516 h 2467516"/>
              <a:gd name="connsiteX3-7" fmla="*/ 2822366 w 3441344"/>
              <a:gd name="connsiteY3-8" fmla="*/ 2461846 h 2467516"/>
              <a:gd name="connsiteX4-9" fmla="*/ 0 w 3441344"/>
              <a:gd name="connsiteY4-10" fmla="*/ 2467516 h 2467516"/>
              <a:gd name="connsiteX5" fmla="*/ 0 w 3441344"/>
              <a:gd name="connsiteY5" fmla="*/ 0 h 2467516"/>
              <a:gd name="connsiteX0-11" fmla="*/ 0 w 3441344"/>
              <a:gd name="connsiteY0-12" fmla="*/ 0 h 2467516"/>
              <a:gd name="connsiteX1-13" fmla="*/ 3441344 w 3441344"/>
              <a:gd name="connsiteY1-14" fmla="*/ 0 h 2467516"/>
              <a:gd name="connsiteX2-15" fmla="*/ 3441344 w 3441344"/>
              <a:gd name="connsiteY2-16" fmla="*/ 2467516 h 2467516"/>
              <a:gd name="connsiteX3-17" fmla="*/ 2822366 w 3441344"/>
              <a:gd name="connsiteY3-18" fmla="*/ 2461846 h 2467516"/>
              <a:gd name="connsiteX4-19" fmla="*/ 2822366 w 3441344"/>
              <a:gd name="connsiteY4-20" fmla="*/ 2461846 h 2467516"/>
              <a:gd name="connsiteX5-21" fmla="*/ 0 w 3441344"/>
              <a:gd name="connsiteY5-22" fmla="*/ 2467516 h 2467516"/>
              <a:gd name="connsiteX6" fmla="*/ 0 w 3441344"/>
              <a:gd name="connsiteY6" fmla="*/ 0 h 2467516"/>
              <a:gd name="connsiteX0-23" fmla="*/ 0 w 3441344"/>
              <a:gd name="connsiteY0-24" fmla="*/ 0 h 2467516"/>
              <a:gd name="connsiteX1-25" fmla="*/ 3441344 w 3441344"/>
              <a:gd name="connsiteY1-26" fmla="*/ 0 h 2467516"/>
              <a:gd name="connsiteX2-27" fmla="*/ 2822366 w 3441344"/>
              <a:gd name="connsiteY2-28" fmla="*/ 2461846 h 2467516"/>
              <a:gd name="connsiteX3-29" fmla="*/ 2822366 w 3441344"/>
              <a:gd name="connsiteY3-30" fmla="*/ 2461846 h 2467516"/>
              <a:gd name="connsiteX4-31" fmla="*/ 0 w 3441344"/>
              <a:gd name="connsiteY4-32" fmla="*/ 2467516 h 2467516"/>
              <a:gd name="connsiteX5-33" fmla="*/ 0 w 3441344"/>
              <a:gd name="connsiteY5-34" fmla="*/ 0 h 24675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3441344" h="2467516">
                <a:moveTo>
                  <a:pt x="0" y="0"/>
                </a:moveTo>
                <a:lnTo>
                  <a:pt x="3441344" y="0"/>
                </a:lnTo>
                <a:lnTo>
                  <a:pt x="2822366" y="2461846"/>
                </a:lnTo>
                <a:lnTo>
                  <a:pt x="2822366" y="2461846"/>
                </a:lnTo>
                <a:lnTo>
                  <a:pt x="0" y="2467516"/>
                </a:lnTo>
                <a:lnTo>
                  <a:pt x="0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310063"/>
            <a:ext cx="12192000" cy="2229853"/>
          </a:xfrm>
          <a:prstGeom prst="rect">
            <a:avLst/>
          </a:prstGeom>
          <a:solidFill>
            <a:srgbClr val="404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4"/>
          <p:cNvSpPr/>
          <p:nvPr/>
        </p:nvSpPr>
        <p:spPr>
          <a:xfrm>
            <a:off x="-8778" y="2315865"/>
            <a:ext cx="3371889" cy="2235067"/>
          </a:xfrm>
          <a:custGeom>
            <a:avLst/>
            <a:gdLst>
              <a:gd name="connsiteX0" fmla="*/ 0 w 3441344"/>
              <a:gd name="connsiteY0" fmla="*/ 0 h 2467516"/>
              <a:gd name="connsiteX1" fmla="*/ 3441344 w 3441344"/>
              <a:gd name="connsiteY1" fmla="*/ 0 h 2467516"/>
              <a:gd name="connsiteX2" fmla="*/ 3441344 w 3441344"/>
              <a:gd name="connsiteY2" fmla="*/ 2467516 h 2467516"/>
              <a:gd name="connsiteX3" fmla="*/ 0 w 3441344"/>
              <a:gd name="connsiteY3" fmla="*/ 2467516 h 2467516"/>
              <a:gd name="connsiteX4" fmla="*/ 0 w 3441344"/>
              <a:gd name="connsiteY4" fmla="*/ 0 h 2467516"/>
              <a:gd name="connsiteX0-1" fmla="*/ 0 w 3441344"/>
              <a:gd name="connsiteY0-2" fmla="*/ 0 h 2467516"/>
              <a:gd name="connsiteX1-3" fmla="*/ 3441344 w 3441344"/>
              <a:gd name="connsiteY1-4" fmla="*/ 0 h 2467516"/>
              <a:gd name="connsiteX2-5" fmla="*/ 3441344 w 3441344"/>
              <a:gd name="connsiteY2-6" fmla="*/ 2467516 h 2467516"/>
              <a:gd name="connsiteX3-7" fmla="*/ 2822366 w 3441344"/>
              <a:gd name="connsiteY3-8" fmla="*/ 2461846 h 2467516"/>
              <a:gd name="connsiteX4-9" fmla="*/ 0 w 3441344"/>
              <a:gd name="connsiteY4-10" fmla="*/ 2467516 h 2467516"/>
              <a:gd name="connsiteX5" fmla="*/ 0 w 3441344"/>
              <a:gd name="connsiteY5" fmla="*/ 0 h 2467516"/>
              <a:gd name="connsiteX0-11" fmla="*/ 0 w 3441344"/>
              <a:gd name="connsiteY0-12" fmla="*/ 0 h 2467516"/>
              <a:gd name="connsiteX1-13" fmla="*/ 3441344 w 3441344"/>
              <a:gd name="connsiteY1-14" fmla="*/ 0 h 2467516"/>
              <a:gd name="connsiteX2-15" fmla="*/ 3441344 w 3441344"/>
              <a:gd name="connsiteY2-16" fmla="*/ 2467516 h 2467516"/>
              <a:gd name="connsiteX3-17" fmla="*/ 2822366 w 3441344"/>
              <a:gd name="connsiteY3-18" fmla="*/ 2461846 h 2467516"/>
              <a:gd name="connsiteX4-19" fmla="*/ 2822366 w 3441344"/>
              <a:gd name="connsiteY4-20" fmla="*/ 2461846 h 2467516"/>
              <a:gd name="connsiteX5-21" fmla="*/ 0 w 3441344"/>
              <a:gd name="connsiteY5-22" fmla="*/ 2467516 h 2467516"/>
              <a:gd name="connsiteX6" fmla="*/ 0 w 3441344"/>
              <a:gd name="connsiteY6" fmla="*/ 0 h 2467516"/>
              <a:gd name="connsiteX0-23" fmla="*/ 0 w 3441344"/>
              <a:gd name="connsiteY0-24" fmla="*/ 0 h 2467516"/>
              <a:gd name="connsiteX1-25" fmla="*/ 3441344 w 3441344"/>
              <a:gd name="connsiteY1-26" fmla="*/ 0 h 2467516"/>
              <a:gd name="connsiteX2-27" fmla="*/ 2822366 w 3441344"/>
              <a:gd name="connsiteY2-28" fmla="*/ 2461846 h 2467516"/>
              <a:gd name="connsiteX3-29" fmla="*/ 2822366 w 3441344"/>
              <a:gd name="connsiteY3-30" fmla="*/ 2461846 h 2467516"/>
              <a:gd name="connsiteX4-31" fmla="*/ 0 w 3441344"/>
              <a:gd name="connsiteY4-32" fmla="*/ 2467516 h 2467516"/>
              <a:gd name="connsiteX5-33" fmla="*/ 0 w 3441344"/>
              <a:gd name="connsiteY5-34" fmla="*/ 0 h 24675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3441344" h="2467516">
                <a:moveTo>
                  <a:pt x="0" y="0"/>
                </a:moveTo>
                <a:lnTo>
                  <a:pt x="3441344" y="0"/>
                </a:lnTo>
                <a:lnTo>
                  <a:pt x="2822366" y="2461846"/>
                </a:lnTo>
                <a:lnTo>
                  <a:pt x="2822366" y="2461846"/>
                </a:lnTo>
                <a:lnTo>
                  <a:pt x="0" y="2467516"/>
                </a:lnTo>
                <a:lnTo>
                  <a:pt x="0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6700" y="2909115"/>
            <a:ext cx="6243320" cy="11074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cs typeface="+mn-ea"/>
                <a:sym typeface="+mn-lt"/>
              </a:rPr>
              <a:t>PART    01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96289" y="2921497"/>
            <a:ext cx="3561080" cy="10153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zh-CN" altLang="en-US" sz="6600" b="1" spc="400" dirty="0">
                <a:solidFill>
                  <a:schemeClr val="bg1"/>
                </a:solidFill>
                <a:uFillTx/>
                <a:cs typeface="+mn-ea"/>
                <a:sym typeface="+mn-lt"/>
              </a:rPr>
              <a:t>总体概述</a:t>
            </a:r>
          </a:p>
        </p:txBody>
      </p:sp>
    </p:spTree>
  </p:cSld>
  <p:clrMapOvr>
    <a:masterClrMapping/>
  </p:clrMapOvr>
  <p:transition spd="slow" advClick="0" advTm="2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4" descr="/Users/wangzhimeng/Downloads/BIM素材/图片3.png图片3"/>
          <p:cNvPicPr>
            <a:picLocks noChangeAspect="1"/>
          </p:cNvPicPr>
          <p:nvPr/>
        </p:nvPicPr>
        <p:blipFill>
          <a:blip r:embed="rId3"/>
          <a:srcRect t="15528"/>
          <a:stretch>
            <a:fillRect/>
          </a:stretch>
        </p:blipFill>
        <p:spPr>
          <a:xfrm>
            <a:off x="253365" y="1002030"/>
            <a:ext cx="11688445" cy="56616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1" name="椭圆 26"/>
          <p:cNvSpPr/>
          <p:nvPr/>
        </p:nvSpPr>
        <p:spPr>
          <a:xfrm>
            <a:off x="3087370" y="871855"/>
            <a:ext cx="5620385" cy="5620385"/>
          </a:xfrm>
          <a:prstGeom prst="ellipse">
            <a:avLst/>
          </a:prstGeom>
          <a:noFill/>
          <a:ln w="6350" cap="flat" cmpd="sng">
            <a:solidFill>
              <a:srgbClr val="FFFFFF">
                <a:alpha val="3900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 sz="12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535045" y="1414145"/>
            <a:ext cx="4705985" cy="4706620"/>
          </a:xfrm>
          <a:prstGeom prst="ellipse">
            <a:avLst/>
          </a:prstGeom>
          <a:solidFill>
            <a:srgbClr val="11559C">
              <a:alpha val="69000"/>
            </a:srgbClr>
          </a:solidFill>
          <a:ln w="9525">
            <a:noFill/>
          </a:ln>
        </p:spPr>
        <p:txBody>
          <a:bodyPr anchor="ctr"/>
          <a:lstStyle/>
          <a:p>
            <a:pPr algn="ctr"/>
            <a:endParaRPr sz="12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椭圆 10"/>
          <p:cNvSpPr/>
          <p:nvPr/>
        </p:nvSpPr>
        <p:spPr>
          <a:xfrm>
            <a:off x="3649980" y="1471930"/>
            <a:ext cx="4476750" cy="4477385"/>
          </a:xfrm>
          <a:prstGeom prst="ellipse">
            <a:avLst/>
          </a:prstGeom>
          <a:noFill/>
          <a:ln w="88900" cap="flat" cmpd="sng">
            <a:solidFill>
              <a:srgbClr val="D0EAEB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 sz="12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文本框 12"/>
          <p:cNvSpPr/>
          <p:nvPr/>
        </p:nvSpPr>
        <p:spPr>
          <a:xfrm>
            <a:off x="3822700" y="3418840"/>
            <a:ext cx="41313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rPr>
              <a:t>一体化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rPr>
              <a:t>WMS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rPr>
              <a:t>数字化管理平台</a:t>
            </a:r>
          </a:p>
        </p:txBody>
      </p:sp>
      <p:sp>
        <p:nvSpPr>
          <p:cNvPr id="10" name="直接连接符 21"/>
          <p:cNvSpPr/>
          <p:nvPr/>
        </p:nvSpPr>
        <p:spPr>
          <a:xfrm>
            <a:off x="3912870" y="3241040"/>
            <a:ext cx="3949700" cy="635"/>
          </a:xfrm>
          <a:prstGeom prst="line">
            <a:avLst/>
          </a:prstGeom>
          <a:ln w="25400" cap="flat" cmpd="sng">
            <a:solidFill>
              <a:srgbClr val="FFFFFF">
                <a:alpha val="5000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文本框 23"/>
          <p:cNvSpPr/>
          <p:nvPr/>
        </p:nvSpPr>
        <p:spPr>
          <a:xfrm>
            <a:off x="4119880" y="2337435"/>
            <a:ext cx="356679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rPr>
              <a:t>智  慧  仓  储</a:t>
            </a:r>
          </a:p>
        </p:txBody>
      </p:sp>
      <p:sp>
        <p:nvSpPr>
          <p:cNvPr id="13" name="椭圆 25"/>
          <p:cNvSpPr/>
          <p:nvPr/>
        </p:nvSpPr>
        <p:spPr>
          <a:xfrm>
            <a:off x="3308985" y="1116965"/>
            <a:ext cx="5187950" cy="5186680"/>
          </a:xfrm>
          <a:prstGeom prst="ellipse">
            <a:avLst/>
          </a:prstGeom>
          <a:noFill/>
          <a:ln w="6350" cap="flat" cmpd="sng">
            <a:solidFill>
              <a:srgbClr val="FFFFFF">
                <a:alpha val="5000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 sz="12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13505" y="3817620"/>
            <a:ext cx="4039870" cy="1950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以一套 </a:t>
            </a:r>
            <a:r>
              <a:rPr lang="en-US" altLang="zh-CN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WMS </a:t>
            </a:r>
            <a:r>
              <a:rPr lang="zh-CN" altLang="en-US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贯通基础档案、入出库、移库、盘点、生产完工与关务核销。综合应用单据 </a:t>
            </a:r>
            <a:r>
              <a:rPr lang="en-US" altLang="zh-CN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OCR、</a:t>
            </a:r>
            <a:r>
              <a:rPr lang="zh-CN" altLang="en-US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库存台账、可视化驾驶舱与接口预留，对仓库实施全方位、全要素</a:t>
            </a:r>
          </a:p>
          <a:p>
            <a:pPr algn="ctr">
              <a:lnSpc>
                <a:spcPct val="150000"/>
              </a:lnSpc>
            </a:pPr>
            <a:r>
              <a:rPr lang="zh-CN" altLang="en-US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管理。提高账实一致水平，降低关务监管与作业</a:t>
            </a:r>
          </a:p>
          <a:p>
            <a:pPr algn="ctr">
              <a:lnSpc>
                <a:spcPct val="150000"/>
              </a:lnSpc>
            </a:pPr>
            <a:r>
              <a:rPr lang="zh-CN" altLang="en-US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风险，推动仓储与生产精细化，支撑</a:t>
            </a:r>
          </a:p>
          <a:p>
            <a:pPr algn="ctr">
              <a:lnSpc>
                <a:spcPct val="150000"/>
              </a:lnSpc>
            </a:pPr>
            <a:r>
              <a:rPr lang="zh-CN" altLang="en-US" sz="1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panose="020B0300000000000000" charset="-122"/>
              </a:rPr>
              <a:t>保税物流数字化升级。</a:t>
            </a:r>
          </a:p>
        </p:txBody>
      </p:sp>
      <p:sp>
        <p:nvSpPr>
          <p:cNvPr id="2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总体概述</a:t>
            </a:r>
          </a:p>
        </p:txBody>
      </p:sp>
      <p:sp>
        <p:nvSpPr>
          <p:cNvPr id="4" name="矩形 3"/>
          <p:cNvSpPr/>
          <p:nvPr/>
        </p:nvSpPr>
        <p:spPr>
          <a:xfrm>
            <a:off x="2247900" y="188595"/>
            <a:ext cx="527367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200" spc="1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cs typeface="+mn-ea"/>
              </a:rPr>
              <a:t>背景与意义</a:t>
            </a:r>
          </a:p>
        </p:txBody>
      </p:sp>
    </p:spTree>
  </p:cSld>
  <p:clrMapOvr>
    <a:masterClrMapping/>
  </p:clrMapOvr>
  <p:transition spd="slow" advClick="0" advTm="2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总体概述</a:t>
            </a:r>
          </a:p>
        </p:txBody>
      </p:sp>
      <p:sp>
        <p:nvSpPr>
          <p:cNvPr id="4" name="矩形 3"/>
          <p:cNvSpPr/>
          <p:nvPr/>
        </p:nvSpPr>
        <p:spPr>
          <a:xfrm>
            <a:off x="2247900" y="188595"/>
            <a:ext cx="527367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200" spc="1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cs typeface="+mn-ea"/>
              </a:rPr>
              <a:t>平台开发目标</a:t>
            </a: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4507230" y="4254500"/>
            <a:ext cx="2829560" cy="1489075"/>
            <a:chOff x="7297" y="7555"/>
            <a:chExt cx="4456" cy="2345"/>
          </a:xfrm>
        </p:grpSpPr>
        <p:sp>
          <p:nvSpPr>
            <p:cNvPr id="29" name="圆角矩形 28"/>
            <p:cNvSpPr/>
            <p:nvPr>
              <p:custDataLst>
                <p:tags r:id="rId8"/>
              </p:custDataLst>
            </p:nvPr>
          </p:nvSpPr>
          <p:spPr>
            <a:xfrm>
              <a:off x="7297" y="7555"/>
              <a:ext cx="4456" cy="23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13B6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7950" y="7798"/>
              <a:ext cx="3300" cy="1787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管理升级</a:t>
              </a:r>
            </a:p>
            <a:p>
              <a:endParaRPr lang="zh-CN" altLang="en-US" sz="1400"/>
            </a:p>
            <a:p>
              <a:r>
                <a:rPr lang="zh-CN" altLang="en-US" sz="1400"/>
                <a:t>驾驶舱可视化，异常预警前置处置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1053465" y="4254500"/>
            <a:ext cx="2829560" cy="1489075"/>
            <a:chOff x="1851" y="5258"/>
            <a:chExt cx="4456" cy="2345"/>
          </a:xfrm>
        </p:grpSpPr>
        <p:sp>
          <p:nvSpPr>
            <p:cNvPr id="24" name="圆角矩形 23"/>
            <p:cNvSpPr/>
            <p:nvPr>
              <p:custDataLst>
                <p:tags r:id="rId6"/>
              </p:custDataLst>
            </p:nvPr>
          </p:nvSpPr>
          <p:spPr>
            <a:xfrm>
              <a:off x="1851" y="5258"/>
              <a:ext cx="4456" cy="234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2441" y="5463"/>
              <a:ext cx="3299" cy="1787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监管合规</a:t>
              </a:r>
            </a:p>
            <a:p>
              <a:endParaRPr lang="zh-CN" altLang="en-US" sz="1400"/>
            </a:p>
            <a:p>
              <a:r>
                <a:rPr lang="zh-CN" altLang="en-US" sz="1400"/>
                <a:t>账册、核注、实物库存一体联动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8056245" y="4254500"/>
            <a:ext cx="2773680" cy="1489075"/>
            <a:chOff x="12878" y="5256"/>
            <a:chExt cx="4457" cy="1885"/>
          </a:xfrm>
        </p:grpSpPr>
        <p:sp>
          <p:nvSpPr>
            <p:cNvPr id="31" name="圆角矩形 30"/>
            <p:cNvSpPr/>
            <p:nvPr>
              <p:custDataLst>
                <p:tags r:id="rId4"/>
              </p:custDataLst>
            </p:nvPr>
          </p:nvSpPr>
          <p:spPr>
            <a:xfrm>
              <a:off x="12878" y="5256"/>
              <a:ext cx="4457" cy="18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>
              <p:custDataLst>
                <p:tags r:id="rId5"/>
              </p:custDataLst>
            </p:nvPr>
          </p:nvSpPr>
          <p:spPr>
            <a:xfrm>
              <a:off x="13445" y="5461"/>
              <a:ext cx="3269" cy="1633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作业提效</a:t>
              </a:r>
            </a:p>
            <a:p>
              <a:endParaRPr lang="zh-CN" altLang="en-US" sz="2000" b="1"/>
            </a:p>
            <a:p>
              <a:r>
                <a:rPr lang="zh-CN" altLang="en-US" sz="1400"/>
                <a:t>入出库、移库、盘点、生产全流程在线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53465" y="1283335"/>
            <a:ext cx="9832975" cy="2428240"/>
          </a:xfrm>
          <a:prstGeom prst="flowChartAlternateProcess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本项目面向广西丰联铜业铜精矿保税仓储，建设覆盖基础数据、入出库、移库、库存、生产完工、关务监管、</a:t>
            </a:r>
            <a:r>
              <a:rPr lang="en-US" altLang="zh-CN"/>
              <a:t>OCR </a:t>
            </a:r>
            <a:r>
              <a:rPr lang="zh-CN" altLang="en-US"/>
              <a:t>识别与对外对接的一体化 </a:t>
            </a:r>
            <a:r>
              <a:rPr lang="en-US" altLang="zh-CN"/>
              <a:t>WMS。</a:t>
            </a:r>
            <a:r>
              <a:rPr lang="zh-CN" altLang="en-US"/>
              <a:t>现场为 5 个仓库（1、2、4、5、6 仓），仓下设堆位；片区标识随查验在原料 / 待检 / 混成品等状态间变更。原料在库身份取报关单号，混矿产出取生产批次号，同一生产批次可挂接多票报关单。系统支撑海关专用账号隔离、账实自动对账、库容与库龄预警，以及全过程操作留痕，满足保税监管与日常作业协同。</a:t>
            </a:r>
          </a:p>
        </p:txBody>
      </p:sp>
    </p:spTree>
  </p:cSld>
  <p:clrMapOvr>
    <a:masterClrMapping/>
  </p:clrMapOvr>
  <p:transition spd="slow" advClick="0" advTm="2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8778" y="2187526"/>
            <a:ext cx="3441344" cy="2467516"/>
          </a:xfrm>
          <a:custGeom>
            <a:avLst/>
            <a:gdLst>
              <a:gd name="connsiteX0" fmla="*/ 0 w 3441344"/>
              <a:gd name="connsiteY0" fmla="*/ 0 h 2467516"/>
              <a:gd name="connsiteX1" fmla="*/ 3441344 w 3441344"/>
              <a:gd name="connsiteY1" fmla="*/ 0 h 2467516"/>
              <a:gd name="connsiteX2" fmla="*/ 3441344 w 3441344"/>
              <a:gd name="connsiteY2" fmla="*/ 2467516 h 2467516"/>
              <a:gd name="connsiteX3" fmla="*/ 0 w 3441344"/>
              <a:gd name="connsiteY3" fmla="*/ 2467516 h 2467516"/>
              <a:gd name="connsiteX4" fmla="*/ 0 w 3441344"/>
              <a:gd name="connsiteY4" fmla="*/ 0 h 2467516"/>
              <a:gd name="connsiteX0-1" fmla="*/ 0 w 3441344"/>
              <a:gd name="connsiteY0-2" fmla="*/ 0 h 2467516"/>
              <a:gd name="connsiteX1-3" fmla="*/ 3441344 w 3441344"/>
              <a:gd name="connsiteY1-4" fmla="*/ 0 h 2467516"/>
              <a:gd name="connsiteX2-5" fmla="*/ 3441344 w 3441344"/>
              <a:gd name="connsiteY2-6" fmla="*/ 2467516 h 2467516"/>
              <a:gd name="connsiteX3-7" fmla="*/ 2822366 w 3441344"/>
              <a:gd name="connsiteY3-8" fmla="*/ 2461846 h 2467516"/>
              <a:gd name="connsiteX4-9" fmla="*/ 0 w 3441344"/>
              <a:gd name="connsiteY4-10" fmla="*/ 2467516 h 2467516"/>
              <a:gd name="connsiteX5" fmla="*/ 0 w 3441344"/>
              <a:gd name="connsiteY5" fmla="*/ 0 h 2467516"/>
              <a:gd name="connsiteX0-11" fmla="*/ 0 w 3441344"/>
              <a:gd name="connsiteY0-12" fmla="*/ 0 h 2467516"/>
              <a:gd name="connsiteX1-13" fmla="*/ 3441344 w 3441344"/>
              <a:gd name="connsiteY1-14" fmla="*/ 0 h 2467516"/>
              <a:gd name="connsiteX2-15" fmla="*/ 3441344 w 3441344"/>
              <a:gd name="connsiteY2-16" fmla="*/ 2467516 h 2467516"/>
              <a:gd name="connsiteX3-17" fmla="*/ 2822366 w 3441344"/>
              <a:gd name="connsiteY3-18" fmla="*/ 2461846 h 2467516"/>
              <a:gd name="connsiteX4-19" fmla="*/ 2822366 w 3441344"/>
              <a:gd name="connsiteY4-20" fmla="*/ 2461846 h 2467516"/>
              <a:gd name="connsiteX5-21" fmla="*/ 0 w 3441344"/>
              <a:gd name="connsiteY5-22" fmla="*/ 2467516 h 2467516"/>
              <a:gd name="connsiteX6" fmla="*/ 0 w 3441344"/>
              <a:gd name="connsiteY6" fmla="*/ 0 h 2467516"/>
              <a:gd name="connsiteX0-23" fmla="*/ 0 w 3441344"/>
              <a:gd name="connsiteY0-24" fmla="*/ 0 h 2467516"/>
              <a:gd name="connsiteX1-25" fmla="*/ 3441344 w 3441344"/>
              <a:gd name="connsiteY1-26" fmla="*/ 0 h 2467516"/>
              <a:gd name="connsiteX2-27" fmla="*/ 2822366 w 3441344"/>
              <a:gd name="connsiteY2-28" fmla="*/ 2461846 h 2467516"/>
              <a:gd name="connsiteX3-29" fmla="*/ 2822366 w 3441344"/>
              <a:gd name="connsiteY3-30" fmla="*/ 2461846 h 2467516"/>
              <a:gd name="connsiteX4-31" fmla="*/ 0 w 3441344"/>
              <a:gd name="connsiteY4-32" fmla="*/ 2467516 h 2467516"/>
              <a:gd name="connsiteX5-33" fmla="*/ 0 w 3441344"/>
              <a:gd name="connsiteY5-34" fmla="*/ 0 h 24675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3441344" h="2467516">
                <a:moveTo>
                  <a:pt x="0" y="0"/>
                </a:moveTo>
                <a:lnTo>
                  <a:pt x="3441344" y="0"/>
                </a:lnTo>
                <a:lnTo>
                  <a:pt x="2822366" y="2461846"/>
                </a:lnTo>
                <a:lnTo>
                  <a:pt x="2822366" y="2461846"/>
                </a:lnTo>
                <a:lnTo>
                  <a:pt x="0" y="2467516"/>
                </a:lnTo>
                <a:lnTo>
                  <a:pt x="0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310063"/>
            <a:ext cx="12192000" cy="2229853"/>
          </a:xfrm>
          <a:prstGeom prst="rect">
            <a:avLst/>
          </a:prstGeom>
          <a:solidFill>
            <a:srgbClr val="404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4"/>
          <p:cNvSpPr/>
          <p:nvPr/>
        </p:nvSpPr>
        <p:spPr>
          <a:xfrm>
            <a:off x="-8778" y="2315865"/>
            <a:ext cx="3371889" cy="2235067"/>
          </a:xfrm>
          <a:custGeom>
            <a:avLst/>
            <a:gdLst>
              <a:gd name="connsiteX0" fmla="*/ 0 w 3441344"/>
              <a:gd name="connsiteY0" fmla="*/ 0 h 2467516"/>
              <a:gd name="connsiteX1" fmla="*/ 3441344 w 3441344"/>
              <a:gd name="connsiteY1" fmla="*/ 0 h 2467516"/>
              <a:gd name="connsiteX2" fmla="*/ 3441344 w 3441344"/>
              <a:gd name="connsiteY2" fmla="*/ 2467516 h 2467516"/>
              <a:gd name="connsiteX3" fmla="*/ 0 w 3441344"/>
              <a:gd name="connsiteY3" fmla="*/ 2467516 h 2467516"/>
              <a:gd name="connsiteX4" fmla="*/ 0 w 3441344"/>
              <a:gd name="connsiteY4" fmla="*/ 0 h 2467516"/>
              <a:gd name="connsiteX0-1" fmla="*/ 0 w 3441344"/>
              <a:gd name="connsiteY0-2" fmla="*/ 0 h 2467516"/>
              <a:gd name="connsiteX1-3" fmla="*/ 3441344 w 3441344"/>
              <a:gd name="connsiteY1-4" fmla="*/ 0 h 2467516"/>
              <a:gd name="connsiteX2-5" fmla="*/ 3441344 w 3441344"/>
              <a:gd name="connsiteY2-6" fmla="*/ 2467516 h 2467516"/>
              <a:gd name="connsiteX3-7" fmla="*/ 2822366 w 3441344"/>
              <a:gd name="connsiteY3-8" fmla="*/ 2461846 h 2467516"/>
              <a:gd name="connsiteX4-9" fmla="*/ 0 w 3441344"/>
              <a:gd name="connsiteY4-10" fmla="*/ 2467516 h 2467516"/>
              <a:gd name="connsiteX5" fmla="*/ 0 w 3441344"/>
              <a:gd name="connsiteY5" fmla="*/ 0 h 2467516"/>
              <a:gd name="connsiteX0-11" fmla="*/ 0 w 3441344"/>
              <a:gd name="connsiteY0-12" fmla="*/ 0 h 2467516"/>
              <a:gd name="connsiteX1-13" fmla="*/ 3441344 w 3441344"/>
              <a:gd name="connsiteY1-14" fmla="*/ 0 h 2467516"/>
              <a:gd name="connsiteX2-15" fmla="*/ 3441344 w 3441344"/>
              <a:gd name="connsiteY2-16" fmla="*/ 2467516 h 2467516"/>
              <a:gd name="connsiteX3-17" fmla="*/ 2822366 w 3441344"/>
              <a:gd name="connsiteY3-18" fmla="*/ 2461846 h 2467516"/>
              <a:gd name="connsiteX4-19" fmla="*/ 2822366 w 3441344"/>
              <a:gd name="connsiteY4-20" fmla="*/ 2461846 h 2467516"/>
              <a:gd name="connsiteX5-21" fmla="*/ 0 w 3441344"/>
              <a:gd name="connsiteY5-22" fmla="*/ 2467516 h 2467516"/>
              <a:gd name="connsiteX6" fmla="*/ 0 w 3441344"/>
              <a:gd name="connsiteY6" fmla="*/ 0 h 2467516"/>
              <a:gd name="connsiteX0-23" fmla="*/ 0 w 3441344"/>
              <a:gd name="connsiteY0-24" fmla="*/ 0 h 2467516"/>
              <a:gd name="connsiteX1-25" fmla="*/ 3441344 w 3441344"/>
              <a:gd name="connsiteY1-26" fmla="*/ 0 h 2467516"/>
              <a:gd name="connsiteX2-27" fmla="*/ 2822366 w 3441344"/>
              <a:gd name="connsiteY2-28" fmla="*/ 2461846 h 2467516"/>
              <a:gd name="connsiteX3-29" fmla="*/ 2822366 w 3441344"/>
              <a:gd name="connsiteY3-30" fmla="*/ 2461846 h 2467516"/>
              <a:gd name="connsiteX4-31" fmla="*/ 0 w 3441344"/>
              <a:gd name="connsiteY4-32" fmla="*/ 2467516 h 2467516"/>
              <a:gd name="connsiteX5-33" fmla="*/ 0 w 3441344"/>
              <a:gd name="connsiteY5-34" fmla="*/ 0 h 24675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3441344" h="2467516">
                <a:moveTo>
                  <a:pt x="0" y="0"/>
                </a:moveTo>
                <a:lnTo>
                  <a:pt x="3441344" y="0"/>
                </a:lnTo>
                <a:lnTo>
                  <a:pt x="2822366" y="2461846"/>
                </a:lnTo>
                <a:lnTo>
                  <a:pt x="2822366" y="2461846"/>
                </a:lnTo>
                <a:lnTo>
                  <a:pt x="0" y="2467516"/>
                </a:lnTo>
                <a:lnTo>
                  <a:pt x="0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4320" y="2909115"/>
            <a:ext cx="6243320" cy="11074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cs typeface="+mn-ea"/>
                <a:sym typeface="+mn-lt"/>
              </a:rPr>
              <a:t>PART    02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86129" y="2921497"/>
            <a:ext cx="3571240" cy="10153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zh-CN" altLang="en-US" sz="6600" b="1" spc="400" dirty="0">
                <a:solidFill>
                  <a:schemeClr val="bg1"/>
                </a:solidFill>
                <a:uFillTx/>
                <a:cs typeface="+mn-ea"/>
                <a:sym typeface="+mn-lt"/>
              </a:rPr>
              <a:t>系统介绍</a:t>
            </a:r>
          </a:p>
        </p:txBody>
      </p:sp>
    </p:spTree>
  </p:cSld>
  <p:clrMapOvr>
    <a:masterClrMapping/>
  </p:clrMapOvr>
  <p:transition spd="slow" advClick="0" advTm="2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2247900" y="188595"/>
            <a:ext cx="527367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200" spc="1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cs typeface="+mn-ea"/>
              </a:rPr>
              <a:t>系统架构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35" y="970915"/>
            <a:ext cx="9559290" cy="574103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保税</a:t>
            </a:r>
            <a:r>
              <a:rPr lang="en-US" altLang="zh-CN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WMS</a:t>
            </a:r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</a:t>
            </a:r>
          </a:p>
        </p:txBody>
      </p:sp>
      <p:sp>
        <p:nvSpPr>
          <p:cNvPr id="4" name="矩形 3"/>
          <p:cNvSpPr/>
          <p:nvPr/>
        </p:nvSpPr>
        <p:spPr>
          <a:xfrm>
            <a:off x="2247900" y="188595"/>
            <a:ext cx="527367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200" dirty="0">
                <a:solidFill>
                  <a:schemeClr val="lt1"/>
                </a:solidFill>
                <a:latin typeface="苹方-简" panose="020B0400000000000000" charset="-122"/>
                <a:ea typeface="苹方-简" panose="020B0400000000000000" charset="-122"/>
                <a:cs typeface="+mn-ea"/>
              </a:rPr>
              <a:t>平台优势</a:t>
            </a:r>
          </a:p>
        </p:txBody>
      </p:sp>
      <p:sp>
        <p:nvSpPr>
          <p:cNvPr id="26" name="Freeform 5"/>
          <p:cNvSpPr/>
          <p:nvPr>
            <p:custDataLst>
              <p:tags r:id="rId1"/>
            </p:custDataLst>
          </p:nvPr>
        </p:nvSpPr>
        <p:spPr bwMode="auto">
          <a:xfrm rot="5400000">
            <a:off x="1375575" y="1809872"/>
            <a:ext cx="2263433" cy="200606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rgbClr val="3C87CF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27" name="Freeform 5"/>
          <p:cNvSpPr/>
          <p:nvPr>
            <p:custDataLst>
              <p:tags r:id="rId2"/>
            </p:custDataLst>
          </p:nvPr>
        </p:nvSpPr>
        <p:spPr bwMode="auto">
          <a:xfrm rot="5400000">
            <a:off x="4980953" y="1809872"/>
            <a:ext cx="2263433" cy="200606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rgbClr val="404F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28" name="Freeform 5"/>
          <p:cNvSpPr/>
          <p:nvPr>
            <p:custDataLst>
              <p:tags r:id="rId3"/>
            </p:custDataLst>
          </p:nvPr>
        </p:nvSpPr>
        <p:spPr bwMode="auto">
          <a:xfrm rot="5400000">
            <a:off x="8553309" y="1809872"/>
            <a:ext cx="2263433" cy="200606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rgbClr val="3C87CF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ym typeface="Arial" panose="020B0604020202020204" pitchFamily="34" charset="0"/>
            </a:endParaRPr>
          </a:p>
        </p:txBody>
      </p: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3438917" y="2585214"/>
            <a:ext cx="1722552" cy="455378"/>
            <a:chOff x="3422124" y="2934600"/>
            <a:chExt cx="1722632" cy="455399"/>
          </a:xfrm>
        </p:grpSpPr>
        <p:cxnSp>
          <p:nvCxnSpPr>
            <p:cNvPr id="30" name="直接连接符 29"/>
            <p:cNvCxnSpPr/>
            <p:nvPr>
              <p:custDataLst>
                <p:tags r:id="rId25"/>
              </p:custDataLst>
            </p:nvPr>
          </p:nvCxnSpPr>
          <p:spPr>
            <a:xfrm flipV="1">
              <a:off x="4663948" y="3162299"/>
              <a:ext cx="370411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33" idx="6"/>
            </p:cNvCxnSpPr>
            <p:nvPr>
              <p:custDataLst>
                <p:tags r:id="rId26"/>
              </p:custDataLst>
            </p:nvPr>
          </p:nvCxnSpPr>
          <p:spPr>
            <a:xfrm>
              <a:off x="3536672" y="3162447"/>
              <a:ext cx="67567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/>
            <p:cNvSpPr/>
            <p:nvPr>
              <p:custDataLst>
                <p:tags r:id="rId27"/>
              </p:custDataLst>
            </p:nvPr>
          </p:nvSpPr>
          <p:spPr>
            <a:xfrm>
              <a:off x="4214126" y="2934600"/>
              <a:ext cx="455399" cy="455399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>
              <p:custDataLst>
                <p:tags r:id="rId28"/>
              </p:custDataLst>
            </p:nvPr>
          </p:nvSpPr>
          <p:spPr>
            <a:xfrm>
              <a:off x="3422124" y="3105175"/>
              <a:ext cx="114250" cy="114250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>
              <p:custDataLst>
                <p:tags r:id="rId29"/>
              </p:custDataLst>
            </p:nvPr>
          </p:nvSpPr>
          <p:spPr>
            <a:xfrm>
              <a:off x="5030506" y="3105175"/>
              <a:ext cx="114250" cy="114250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>
            <p:custDataLst>
              <p:tags r:id="rId5"/>
            </p:custDataLst>
          </p:nvPr>
        </p:nvGrpSpPr>
        <p:grpSpPr>
          <a:xfrm>
            <a:off x="7059734" y="2585214"/>
            <a:ext cx="1686483" cy="455378"/>
            <a:chOff x="7043109" y="2934600"/>
            <a:chExt cx="1686561" cy="455399"/>
          </a:xfrm>
        </p:grpSpPr>
        <p:cxnSp>
          <p:nvCxnSpPr>
            <p:cNvPr id="6" name="直接连接符 5"/>
            <p:cNvCxnSpPr>
              <a:endCxn id="42" idx="2"/>
            </p:cNvCxnSpPr>
            <p:nvPr>
              <p:custDataLst>
                <p:tags r:id="rId20"/>
              </p:custDataLst>
            </p:nvPr>
          </p:nvCxnSpPr>
          <p:spPr>
            <a:xfrm>
              <a:off x="7975528" y="3162447"/>
              <a:ext cx="64010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>
              <p:custDataLst>
                <p:tags r:id="rId21"/>
              </p:custDataLst>
            </p:nvPr>
          </p:nvCxnSpPr>
          <p:spPr>
            <a:xfrm flipV="1">
              <a:off x="7153770" y="3162299"/>
              <a:ext cx="370411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/>
            <p:cNvSpPr/>
            <p:nvPr>
              <p:custDataLst>
                <p:tags r:id="rId22"/>
              </p:custDataLst>
            </p:nvPr>
          </p:nvSpPr>
          <p:spPr>
            <a:xfrm>
              <a:off x="7522475" y="2934600"/>
              <a:ext cx="455399" cy="455399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23"/>
              </p:custDataLst>
            </p:nvPr>
          </p:nvSpPr>
          <p:spPr>
            <a:xfrm>
              <a:off x="7043109" y="3105175"/>
              <a:ext cx="114250" cy="114250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24"/>
              </p:custDataLst>
            </p:nvPr>
          </p:nvSpPr>
          <p:spPr>
            <a:xfrm>
              <a:off x="8615420" y="3105175"/>
              <a:ext cx="114250" cy="114250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文本框 29"/>
          <p:cNvSpPr txBox="1"/>
          <p:nvPr>
            <p:custDataLst>
              <p:tags r:id="rId6"/>
            </p:custDataLst>
          </p:nvPr>
        </p:nvSpPr>
        <p:spPr>
          <a:xfrm>
            <a:off x="1768388" y="2410337"/>
            <a:ext cx="147836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更优</a:t>
            </a:r>
          </a:p>
        </p:txBody>
      </p:sp>
      <p:sp>
        <p:nvSpPr>
          <p:cNvPr id="46" name="文本框 30"/>
          <p:cNvSpPr txBox="1"/>
          <p:nvPr>
            <p:custDataLst>
              <p:tags r:id="rId7"/>
            </p:custDataLst>
          </p:nvPr>
        </p:nvSpPr>
        <p:spPr>
          <a:xfrm>
            <a:off x="5369514" y="2429189"/>
            <a:ext cx="147836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更快</a:t>
            </a:r>
          </a:p>
        </p:txBody>
      </p:sp>
      <p:sp>
        <p:nvSpPr>
          <p:cNvPr id="47" name="文本框 31"/>
          <p:cNvSpPr txBox="1"/>
          <p:nvPr>
            <p:custDataLst>
              <p:tags r:id="rId8"/>
            </p:custDataLst>
          </p:nvPr>
        </p:nvSpPr>
        <p:spPr>
          <a:xfrm>
            <a:off x="8944934" y="2428752"/>
            <a:ext cx="147836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</a:p>
        </p:txBody>
      </p:sp>
      <p:grpSp>
        <p:nvGrpSpPr>
          <p:cNvPr id="48" name="组合 47"/>
          <p:cNvGrpSpPr/>
          <p:nvPr>
            <p:custDataLst>
              <p:tags r:id="rId9"/>
            </p:custDataLst>
          </p:nvPr>
        </p:nvGrpSpPr>
        <p:grpSpPr>
          <a:xfrm>
            <a:off x="872634" y="4199175"/>
            <a:ext cx="3324860" cy="1633855"/>
            <a:chOff x="208652" y="4129017"/>
            <a:chExt cx="3325014" cy="1633932"/>
          </a:xfrm>
        </p:grpSpPr>
        <p:sp>
          <p:nvSpPr>
            <p:cNvPr id="49" name="文本框 33"/>
            <p:cNvSpPr txBox="1"/>
            <p:nvPr>
              <p:custDataLst>
                <p:tags r:id="rId18"/>
              </p:custDataLst>
            </p:nvPr>
          </p:nvSpPr>
          <p:spPr bwMode="auto">
            <a:xfrm>
              <a:off x="208652" y="4589414"/>
              <a:ext cx="3325014" cy="1173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  <a:defRPr/>
              </a:pP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库存只随已审单据记账；原料报关单号、成品生产批次贯穿移库、投料、关务对账；海关账号与业务账号隔离。</a:t>
              </a:r>
            </a:p>
          </p:txBody>
        </p:sp>
        <p:sp>
          <p:nvSpPr>
            <p:cNvPr id="50" name="文本框 34"/>
            <p:cNvSpPr txBox="1"/>
            <p:nvPr>
              <p:custDataLst>
                <p:tags r:id="rId19"/>
              </p:custDataLst>
            </p:nvPr>
          </p:nvSpPr>
          <p:spPr bwMode="auto">
            <a:xfrm>
              <a:off x="607184" y="4129017"/>
              <a:ext cx="2406358" cy="460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账实同源</a:t>
              </a:r>
              <a:endParaRPr lang="zh-CN" altLang="en-US" sz="2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造字工房悦黑（非商用）常规体" pitchFamily="50" charset="-122"/>
                <a:ea typeface="造字工房悦黑（非商用）常规体" pitchFamily="50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0"/>
            </p:custDataLst>
          </p:nvPr>
        </p:nvGrpSpPr>
        <p:grpSpPr>
          <a:xfrm>
            <a:off x="4504200" y="4199175"/>
            <a:ext cx="3288665" cy="1901190"/>
            <a:chOff x="462663" y="4132192"/>
            <a:chExt cx="3288817" cy="1901277"/>
          </a:xfrm>
        </p:grpSpPr>
        <p:sp>
          <p:nvSpPr>
            <p:cNvPr id="52" name="文本框 36"/>
            <p:cNvSpPr txBox="1"/>
            <p:nvPr>
              <p:custDataLst>
                <p:tags r:id="rId16"/>
              </p:custDataLst>
            </p:nvPr>
          </p:nvSpPr>
          <p:spPr bwMode="auto">
            <a:xfrm>
              <a:off x="462663" y="4589413"/>
              <a:ext cx="3288817" cy="14440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  <a:defRPr/>
              </a:pP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预约/收货/出库内嵌 </a:t>
              </a:r>
              <a:r>
                <a:rPr lang="en-US" altLang="zh-CN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OCR，</a:t>
              </a: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识别后回填船名、提单、报关单、核注清单、干湿重与品质；驾驶舱点击仓库即可看平面图与物料分布。</a:t>
              </a:r>
            </a:p>
          </p:txBody>
        </p:sp>
        <p:sp>
          <p:nvSpPr>
            <p:cNvPr id="53" name="文本框 37"/>
            <p:cNvSpPr txBox="1"/>
            <p:nvPr>
              <p:custDataLst>
                <p:tags r:id="rId17"/>
              </p:custDataLst>
            </p:nvPr>
          </p:nvSpPr>
          <p:spPr bwMode="auto">
            <a:xfrm>
              <a:off x="904378" y="4132192"/>
              <a:ext cx="2406358" cy="4603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2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造字工房悦黑（非商用）常规体" pitchFamily="50" charset="-122"/>
                  <a:ea typeface="造字工房悦黑（非商用）常规体" pitchFamily="50" charset="-122"/>
                </a:rPr>
                <a:t>OCR</a:t>
              </a:r>
              <a:r>
                <a:rPr lang="zh-CN" altLang="en-US" sz="2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造字工房悦黑（非商用）常规体" pitchFamily="50" charset="-122"/>
                  <a:ea typeface="造字工房悦黑（非商用）常规体" pitchFamily="50" charset="-122"/>
                </a:rPr>
                <a:t>与作业提效</a:t>
              </a:r>
            </a:p>
          </p:txBody>
        </p:sp>
      </p:grpSp>
      <p:grpSp>
        <p:nvGrpSpPr>
          <p:cNvPr id="54" name="组合 53"/>
          <p:cNvGrpSpPr/>
          <p:nvPr>
            <p:custDataLst>
              <p:tags r:id="rId11"/>
            </p:custDataLst>
          </p:nvPr>
        </p:nvGrpSpPr>
        <p:grpSpPr>
          <a:xfrm>
            <a:off x="8099570" y="4199175"/>
            <a:ext cx="3235960" cy="1630681"/>
            <a:chOff x="818915" y="4132192"/>
            <a:chExt cx="3236744" cy="1630758"/>
          </a:xfrm>
        </p:grpSpPr>
        <p:sp>
          <p:nvSpPr>
            <p:cNvPr id="55" name="文本框 39"/>
            <p:cNvSpPr txBox="1"/>
            <p:nvPr>
              <p:custDataLst>
                <p:tags r:id="rId14"/>
              </p:custDataLst>
            </p:nvPr>
          </p:nvSpPr>
          <p:spPr bwMode="auto">
            <a:xfrm>
              <a:off x="818915" y="4589414"/>
              <a:ext cx="3236744" cy="11735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  <a:defRPr/>
              </a:pP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堆位平面图可在系统内拖拽维护并回写驾驶舱；矿源备案按干重扣减并预警；操作日志按报关单号、生产批次穿透查询。</a:t>
              </a:r>
            </a:p>
          </p:txBody>
        </p:sp>
        <p:sp>
          <p:nvSpPr>
            <p:cNvPr id="56" name="文本框 40"/>
            <p:cNvSpPr txBox="1"/>
            <p:nvPr>
              <p:custDataLst>
                <p:tags r:id="rId15"/>
              </p:custDataLst>
            </p:nvPr>
          </p:nvSpPr>
          <p:spPr bwMode="auto">
            <a:xfrm>
              <a:off x="1003709" y="4132192"/>
              <a:ext cx="2866522" cy="460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造字工房悦黑（非商用）常规体" pitchFamily="50" charset="-122"/>
                  <a:ea typeface="造字工房悦黑（非商用）常规体" pitchFamily="50" charset="-122"/>
                </a:rPr>
                <a:t>持续优化升级</a:t>
              </a:r>
            </a:p>
          </p:txBody>
        </p:sp>
      </p:grpSp>
      <p:sp>
        <p:nvSpPr>
          <p:cNvPr id="2314" name="Freeform 270"/>
          <p:cNvSpPr/>
          <p:nvPr>
            <p:custDataLst>
              <p:tags r:id="rId12"/>
            </p:custDataLst>
          </p:nvPr>
        </p:nvSpPr>
        <p:spPr bwMode="auto">
          <a:xfrm rot="2700000">
            <a:off x="4362497" y="2719498"/>
            <a:ext cx="191806" cy="187995"/>
          </a:xfrm>
          <a:custGeom>
            <a:avLst/>
            <a:gdLst>
              <a:gd name="T0" fmla="*/ 7348 w 49"/>
              <a:gd name="T1" fmla="*/ 21847 h 48"/>
              <a:gd name="T2" fmla="*/ 22043 w 49"/>
              <a:gd name="T3" fmla="*/ 7282 h 48"/>
              <a:gd name="T4" fmla="*/ 51434 w 49"/>
              <a:gd name="T5" fmla="*/ 7282 h 48"/>
              <a:gd name="T6" fmla="*/ 91847 w 49"/>
              <a:gd name="T7" fmla="*/ 47335 h 48"/>
              <a:gd name="T8" fmla="*/ 128586 w 49"/>
              <a:gd name="T9" fmla="*/ 7282 h 48"/>
              <a:gd name="T10" fmla="*/ 157977 w 49"/>
              <a:gd name="T11" fmla="*/ 7282 h 48"/>
              <a:gd name="T12" fmla="*/ 172672 w 49"/>
              <a:gd name="T13" fmla="*/ 21847 h 48"/>
              <a:gd name="T14" fmla="*/ 172672 w 49"/>
              <a:gd name="T15" fmla="*/ 50976 h 48"/>
              <a:gd name="T16" fmla="*/ 132260 w 49"/>
              <a:gd name="T17" fmla="*/ 87388 h 48"/>
              <a:gd name="T18" fmla="*/ 172672 w 49"/>
              <a:gd name="T19" fmla="*/ 127441 h 48"/>
              <a:gd name="T20" fmla="*/ 172672 w 49"/>
              <a:gd name="T21" fmla="*/ 156570 h 48"/>
              <a:gd name="T22" fmla="*/ 157977 w 49"/>
              <a:gd name="T23" fmla="*/ 167494 h 48"/>
              <a:gd name="T24" fmla="*/ 128586 w 49"/>
              <a:gd name="T25" fmla="*/ 167494 h 48"/>
              <a:gd name="T26" fmla="*/ 91847 w 49"/>
              <a:gd name="T27" fmla="*/ 131082 h 48"/>
              <a:gd name="T28" fmla="*/ 51434 w 49"/>
              <a:gd name="T29" fmla="*/ 167494 h 48"/>
              <a:gd name="T30" fmla="*/ 22043 w 49"/>
              <a:gd name="T31" fmla="*/ 167494 h 48"/>
              <a:gd name="T32" fmla="*/ 7348 w 49"/>
              <a:gd name="T33" fmla="*/ 156570 h 48"/>
              <a:gd name="T34" fmla="*/ 7348 w 49"/>
              <a:gd name="T35" fmla="*/ 127441 h 48"/>
              <a:gd name="T36" fmla="*/ 47760 w 49"/>
              <a:gd name="T37" fmla="*/ 87388 h 48"/>
              <a:gd name="T38" fmla="*/ 7348 w 49"/>
              <a:gd name="T39" fmla="*/ 50976 h 48"/>
              <a:gd name="T40" fmla="*/ 7348 w 49"/>
              <a:gd name="T41" fmla="*/ 21847 h 4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49" h="48">
                <a:moveTo>
                  <a:pt x="2" y="6"/>
                </a:moveTo>
                <a:cubicBezTo>
                  <a:pt x="6" y="2"/>
                  <a:pt x="6" y="2"/>
                  <a:pt x="6" y="2"/>
                </a:cubicBezTo>
                <a:cubicBezTo>
                  <a:pt x="8" y="0"/>
                  <a:pt x="12" y="0"/>
                  <a:pt x="14" y="2"/>
                </a:cubicBezTo>
                <a:cubicBezTo>
                  <a:pt x="25" y="13"/>
                  <a:pt x="25" y="13"/>
                  <a:pt x="25" y="13"/>
                </a:cubicBezTo>
                <a:cubicBezTo>
                  <a:pt x="35" y="2"/>
                  <a:pt x="35" y="2"/>
                  <a:pt x="35" y="2"/>
                </a:cubicBezTo>
                <a:cubicBezTo>
                  <a:pt x="37" y="0"/>
                  <a:pt x="41" y="0"/>
                  <a:pt x="43" y="2"/>
                </a:cubicBezTo>
                <a:cubicBezTo>
                  <a:pt x="47" y="6"/>
                  <a:pt x="47" y="6"/>
                  <a:pt x="47" y="6"/>
                </a:cubicBezTo>
                <a:cubicBezTo>
                  <a:pt x="49" y="8"/>
                  <a:pt x="49" y="11"/>
                  <a:pt x="47" y="14"/>
                </a:cubicBezTo>
                <a:cubicBezTo>
                  <a:pt x="36" y="24"/>
                  <a:pt x="36" y="24"/>
                  <a:pt x="36" y="24"/>
                </a:cubicBezTo>
                <a:cubicBezTo>
                  <a:pt x="47" y="35"/>
                  <a:pt x="47" y="35"/>
                  <a:pt x="47" y="35"/>
                </a:cubicBezTo>
                <a:cubicBezTo>
                  <a:pt x="49" y="37"/>
                  <a:pt x="49" y="41"/>
                  <a:pt x="47" y="43"/>
                </a:cubicBezTo>
                <a:cubicBezTo>
                  <a:pt x="43" y="46"/>
                  <a:pt x="43" y="46"/>
                  <a:pt x="43" y="46"/>
                </a:cubicBezTo>
                <a:cubicBezTo>
                  <a:pt x="41" y="48"/>
                  <a:pt x="37" y="48"/>
                  <a:pt x="35" y="46"/>
                </a:cubicBezTo>
                <a:cubicBezTo>
                  <a:pt x="25" y="36"/>
                  <a:pt x="25" y="36"/>
                  <a:pt x="25" y="36"/>
                </a:cubicBezTo>
                <a:cubicBezTo>
                  <a:pt x="14" y="46"/>
                  <a:pt x="14" y="46"/>
                  <a:pt x="14" y="46"/>
                </a:cubicBezTo>
                <a:cubicBezTo>
                  <a:pt x="12" y="48"/>
                  <a:pt x="8" y="48"/>
                  <a:pt x="6" y="46"/>
                </a:cubicBezTo>
                <a:cubicBezTo>
                  <a:pt x="2" y="43"/>
                  <a:pt x="2" y="43"/>
                  <a:pt x="2" y="43"/>
                </a:cubicBezTo>
                <a:cubicBezTo>
                  <a:pt x="0" y="41"/>
                  <a:pt x="0" y="37"/>
                  <a:pt x="2" y="35"/>
                </a:cubicBezTo>
                <a:cubicBezTo>
                  <a:pt x="13" y="24"/>
                  <a:pt x="13" y="24"/>
                  <a:pt x="13" y="24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1"/>
                  <a:pt x="0" y="8"/>
                  <a:pt x="2" y="6"/>
                </a:cubicBezTo>
                <a:close/>
              </a:path>
            </a:pathLst>
          </a:custGeom>
          <a:solidFill>
            <a:srgbClr val="EE880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Freeform 270"/>
          <p:cNvSpPr/>
          <p:nvPr>
            <p:custDataLst>
              <p:tags r:id="rId13"/>
            </p:custDataLst>
          </p:nvPr>
        </p:nvSpPr>
        <p:spPr bwMode="auto">
          <a:xfrm rot="2700000">
            <a:off x="7670847" y="2719498"/>
            <a:ext cx="191806" cy="187995"/>
          </a:xfrm>
          <a:custGeom>
            <a:avLst/>
            <a:gdLst>
              <a:gd name="T0" fmla="*/ 7348 w 49"/>
              <a:gd name="T1" fmla="*/ 21847 h 48"/>
              <a:gd name="T2" fmla="*/ 22043 w 49"/>
              <a:gd name="T3" fmla="*/ 7282 h 48"/>
              <a:gd name="T4" fmla="*/ 51434 w 49"/>
              <a:gd name="T5" fmla="*/ 7282 h 48"/>
              <a:gd name="T6" fmla="*/ 91847 w 49"/>
              <a:gd name="T7" fmla="*/ 47335 h 48"/>
              <a:gd name="T8" fmla="*/ 128586 w 49"/>
              <a:gd name="T9" fmla="*/ 7282 h 48"/>
              <a:gd name="T10" fmla="*/ 157977 w 49"/>
              <a:gd name="T11" fmla="*/ 7282 h 48"/>
              <a:gd name="T12" fmla="*/ 172672 w 49"/>
              <a:gd name="T13" fmla="*/ 21847 h 48"/>
              <a:gd name="T14" fmla="*/ 172672 w 49"/>
              <a:gd name="T15" fmla="*/ 50976 h 48"/>
              <a:gd name="T16" fmla="*/ 132260 w 49"/>
              <a:gd name="T17" fmla="*/ 87388 h 48"/>
              <a:gd name="T18" fmla="*/ 172672 w 49"/>
              <a:gd name="T19" fmla="*/ 127441 h 48"/>
              <a:gd name="T20" fmla="*/ 172672 w 49"/>
              <a:gd name="T21" fmla="*/ 156570 h 48"/>
              <a:gd name="T22" fmla="*/ 157977 w 49"/>
              <a:gd name="T23" fmla="*/ 167494 h 48"/>
              <a:gd name="T24" fmla="*/ 128586 w 49"/>
              <a:gd name="T25" fmla="*/ 167494 h 48"/>
              <a:gd name="T26" fmla="*/ 91847 w 49"/>
              <a:gd name="T27" fmla="*/ 131082 h 48"/>
              <a:gd name="T28" fmla="*/ 51434 w 49"/>
              <a:gd name="T29" fmla="*/ 167494 h 48"/>
              <a:gd name="T30" fmla="*/ 22043 w 49"/>
              <a:gd name="T31" fmla="*/ 167494 h 48"/>
              <a:gd name="T32" fmla="*/ 7348 w 49"/>
              <a:gd name="T33" fmla="*/ 156570 h 48"/>
              <a:gd name="T34" fmla="*/ 7348 w 49"/>
              <a:gd name="T35" fmla="*/ 127441 h 48"/>
              <a:gd name="T36" fmla="*/ 47760 w 49"/>
              <a:gd name="T37" fmla="*/ 87388 h 48"/>
              <a:gd name="T38" fmla="*/ 7348 w 49"/>
              <a:gd name="T39" fmla="*/ 50976 h 48"/>
              <a:gd name="T40" fmla="*/ 7348 w 49"/>
              <a:gd name="T41" fmla="*/ 21847 h 4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49" h="48">
                <a:moveTo>
                  <a:pt x="2" y="6"/>
                </a:moveTo>
                <a:cubicBezTo>
                  <a:pt x="6" y="2"/>
                  <a:pt x="6" y="2"/>
                  <a:pt x="6" y="2"/>
                </a:cubicBezTo>
                <a:cubicBezTo>
                  <a:pt x="8" y="0"/>
                  <a:pt x="12" y="0"/>
                  <a:pt x="14" y="2"/>
                </a:cubicBezTo>
                <a:cubicBezTo>
                  <a:pt x="25" y="13"/>
                  <a:pt x="25" y="13"/>
                  <a:pt x="25" y="13"/>
                </a:cubicBezTo>
                <a:cubicBezTo>
                  <a:pt x="35" y="2"/>
                  <a:pt x="35" y="2"/>
                  <a:pt x="35" y="2"/>
                </a:cubicBezTo>
                <a:cubicBezTo>
                  <a:pt x="37" y="0"/>
                  <a:pt x="41" y="0"/>
                  <a:pt x="43" y="2"/>
                </a:cubicBezTo>
                <a:cubicBezTo>
                  <a:pt x="47" y="6"/>
                  <a:pt x="47" y="6"/>
                  <a:pt x="47" y="6"/>
                </a:cubicBezTo>
                <a:cubicBezTo>
                  <a:pt x="49" y="8"/>
                  <a:pt x="49" y="11"/>
                  <a:pt x="47" y="14"/>
                </a:cubicBezTo>
                <a:cubicBezTo>
                  <a:pt x="36" y="24"/>
                  <a:pt x="36" y="24"/>
                  <a:pt x="36" y="24"/>
                </a:cubicBezTo>
                <a:cubicBezTo>
                  <a:pt x="47" y="35"/>
                  <a:pt x="47" y="35"/>
                  <a:pt x="47" y="35"/>
                </a:cubicBezTo>
                <a:cubicBezTo>
                  <a:pt x="49" y="37"/>
                  <a:pt x="49" y="41"/>
                  <a:pt x="47" y="43"/>
                </a:cubicBezTo>
                <a:cubicBezTo>
                  <a:pt x="43" y="46"/>
                  <a:pt x="43" y="46"/>
                  <a:pt x="43" y="46"/>
                </a:cubicBezTo>
                <a:cubicBezTo>
                  <a:pt x="41" y="48"/>
                  <a:pt x="37" y="48"/>
                  <a:pt x="35" y="46"/>
                </a:cubicBezTo>
                <a:cubicBezTo>
                  <a:pt x="25" y="36"/>
                  <a:pt x="25" y="36"/>
                  <a:pt x="25" y="36"/>
                </a:cubicBezTo>
                <a:cubicBezTo>
                  <a:pt x="14" y="46"/>
                  <a:pt x="14" y="46"/>
                  <a:pt x="14" y="46"/>
                </a:cubicBezTo>
                <a:cubicBezTo>
                  <a:pt x="12" y="48"/>
                  <a:pt x="8" y="48"/>
                  <a:pt x="6" y="46"/>
                </a:cubicBezTo>
                <a:cubicBezTo>
                  <a:pt x="2" y="43"/>
                  <a:pt x="2" y="43"/>
                  <a:pt x="2" y="43"/>
                </a:cubicBezTo>
                <a:cubicBezTo>
                  <a:pt x="0" y="41"/>
                  <a:pt x="0" y="37"/>
                  <a:pt x="2" y="35"/>
                </a:cubicBezTo>
                <a:cubicBezTo>
                  <a:pt x="13" y="24"/>
                  <a:pt x="13" y="24"/>
                  <a:pt x="13" y="24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1"/>
                  <a:pt x="0" y="8"/>
                  <a:pt x="2" y="6"/>
                </a:cubicBezTo>
                <a:close/>
              </a:path>
            </a:pathLst>
          </a:custGeom>
          <a:solidFill>
            <a:srgbClr val="EE880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63322" y="1874573"/>
            <a:ext cx="2065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登陆入口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7"/>
          <p:cNvSpPr txBox="1"/>
          <p:nvPr/>
        </p:nvSpPr>
        <p:spPr>
          <a:xfrm>
            <a:off x="7648862" y="2832624"/>
            <a:ext cx="3779585" cy="2675255"/>
          </a:xfrm>
          <a:prstGeom prst="rect">
            <a:avLst/>
          </a:prstGeom>
          <a:noFill/>
        </p:spPr>
        <p:txBody>
          <a:bodyPr wrap="square" lIns="91428" tIns="45714" rIns="91428" bIns="4571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1400" dirty="0">
                <a:latin typeface="苹方-简" panose="020B0400000000000000" charset="-122"/>
                <a:ea typeface="苹方-简" panose="020B0400000000000000" charset="-122"/>
                <a:sym typeface="+mn-ea"/>
              </a:rPr>
              <a:t>系统采用 </a:t>
            </a:r>
            <a:r>
              <a:rPr lang="en-US" altLang="zh-CN" sz="1400" dirty="0">
                <a:latin typeface="苹方-简" panose="020B0400000000000000" charset="-122"/>
                <a:ea typeface="苹方-简" panose="020B0400000000000000" charset="-122"/>
                <a:sym typeface="+mn-ea"/>
              </a:rPr>
              <a:t>B/S </a:t>
            </a:r>
            <a:r>
              <a:rPr lang="zh-CN" altLang="en-US" sz="1400" dirty="0">
                <a:latin typeface="苹方-简" panose="020B0400000000000000" charset="-122"/>
                <a:ea typeface="苹方-简" panose="020B0400000000000000" charset="-122"/>
                <a:sym typeface="+mn-ea"/>
              </a:rPr>
              <a:t>架构，浏览器访问即可使用，无需安装客户端。登录按岗位选择账号类型：仓管员、生产员、系统管理员、海关专用账号（关务员）。权限与后台角色绑定，菜单、数据与审计隔离。仓管员、管理员默认进入可视化驾驶舱；关务员进入关务保税；生产员进入生产完工。登录后按权限展示菜单、业务数据与预警，实现岗位隔离与分级管理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42465"/>
            <a:ext cx="7270115" cy="410019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43769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8414632" y="1874573"/>
            <a:ext cx="30137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可视化驾驶舱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8785"/>
            <a:ext cx="4349750" cy="3365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驾驶舱集中展示原料/成品库存（湿吨、干吨）、今日入出库、待检与库存预警。中部为五仓堆位示意，按占用着色（空闲 / 正常 / 紧张≥70% / 超阈≥85%）。已维护平面图的仓库，点击 3</a:t>
            </a:r>
            <a:r>
              <a:rPr lang="en-US" altLang="zh-CN" sz="1600"/>
              <a:t>D </a:t>
            </a:r>
            <a:r>
              <a:rPr lang="zh-CN" altLang="en-US" sz="1600"/>
              <a:t>模型弹出平面图，按在库重量划分堆位并标注物料；未设置则不弹出。右侧为仓储作业链路滚动日志与生产数据卡片，底部为近 7 日入出库趋势、库容构成与预警列表，指标可下钻至对应业务页。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4734E28-C12F-B75E-15A0-1912B9DCF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86904"/>
            <a:ext cx="7219315" cy="40199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FBE171-4583-446E-A2C9-06D10A8351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54" y="3148640"/>
            <a:ext cx="3356227" cy="2023941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仓库管理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仓库模块允许自定义仓库名称、库容以及启用停用，点击</a:t>
            </a:r>
            <a:r>
              <a:rPr lang="en-US" altLang="zh-CN" sz="1600"/>
              <a:t>“</a:t>
            </a:r>
            <a:r>
              <a:rPr lang="zh-CN" altLang="en-US" sz="1600"/>
              <a:t>查看堆位</a:t>
            </a:r>
            <a:r>
              <a:rPr lang="en-US" altLang="zh-CN" sz="1600"/>
              <a:t>”</a:t>
            </a:r>
            <a:r>
              <a:rPr lang="zh-CN" altLang="en-US" sz="1600"/>
              <a:t>可跳转到对应仓库的堆位进行设置与查看。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9F3F71-CDC1-B0ED-C35A-DA8794C8F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76" y="1945049"/>
            <a:ext cx="7226041" cy="3806469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堆位管理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仓下拆分为堆位；编码由仓库编号 + 堆位名称自动生成（如 1 仓 + </a:t>
            </a:r>
            <a:r>
              <a:rPr lang="en-US" altLang="zh-CN" sz="1600" dirty="0"/>
              <a:t>A1 → 1#A1），</a:t>
            </a:r>
            <a:r>
              <a:rPr lang="zh-CN" altLang="en-US" sz="1600" dirty="0"/>
              <a:t>不可更改。片区标识随查验变化，变更写入操作日志。本页按单仓库进行展示与设置，须在左上角切换仓库即可查看其它仓库堆</a:t>
            </a:r>
            <a:r>
              <a:rPr lang="zh-CN" altLang="en-US" sz="1600"/>
              <a:t>位，在平面图绘制中绘制堆位后，智能获取该堆位的物理分布情况。</a:t>
            </a: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1355"/>
            <a:ext cx="7219950" cy="409511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物料档案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物料档案管理仓库内矿物品类，原料及成品都需要添加，方便进行入库、出库、生产等操作。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5510" cy="411543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矿源备案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本模块针对矿源备案号进行管理，记录备案日期，备案数量等关键信息，备案数量使用率超</a:t>
            </a:r>
            <a:r>
              <a:rPr lang="en-US" altLang="zh-CN" sz="1600"/>
              <a:t>80%</a:t>
            </a:r>
            <a:r>
              <a:rPr lang="zh-CN" altLang="en-US" sz="1600"/>
              <a:t>时会触发预警，入库时会自动扣减备案数量。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6145" cy="411543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矿源备案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本模块针对矿源备案号进行管理，记录备案日期，备案数量等关键信息，备案数量使用率超</a:t>
            </a:r>
            <a:r>
              <a:rPr lang="en-US" altLang="zh-CN" sz="1600"/>
              <a:t>80%</a:t>
            </a:r>
            <a:r>
              <a:rPr lang="zh-CN" altLang="en-US" sz="1600"/>
              <a:t>时会触发预警，入库时会自动扣减备案数量。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6145" cy="411543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往来主体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主体分三类：委托方、物流账册主体、流向企业。委托方贯穿入出库、移库、库存与生产；出库指定流向企业；入库匹配物流账册主体。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5510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保税账册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账册维护编号、名称、经营单位与状态；入库称重时匹配；关务按账册做账实对账。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zh-CN" altLang="en-US" sz="1600" dirty="0"/>
              <a:t>账册记录每一票矿的进出及损耗，支持导出</a:t>
            </a:r>
            <a:r>
              <a:rPr lang="en-US" altLang="zh-CN" sz="1600" dirty="0"/>
              <a:t>EXCEL</a:t>
            </a:r>
            <a:r>
              <a:rPr lang="zh-CN" altLang="en-US" sz="1600" dirty="0"/>
              <a:t>文件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系统设置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/>
              <a:t>角色配置：系统管理员、仓管员、关务员、权限与人数可配。账号注册，与业务账号菜单、数据、审计隔离。系统参数可配库容占用预警阈值（默认 70%）、原料库龄天数（默认 90 天）、矿源备案用量预警（默认 80%）码头仓库预警（天），以及入库/</a:t>
            </a:r>
            <a:r>
              <a:rPr lang="en-US" altLang="zh-CN" sz="1600" dirty="0"/>
              <a:t>OCR </a:t>
            </a:r>
            <a:r>
              <a:rPr lang="zh-CN" altLang="en-US" sz="1600" dirty="0"/>
              <a:t>使用的品质参数清单。操作日志默认永久留存。增加仓库平面图绘制，便于直观观察驾驶舱。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3605" cy="41141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CBEA76-5449-4E37-CF3C-F119F0013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1982474"/>
            <a:ext cx="7253605" cy="402712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入库管理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流程：预约收货 → 到货称重 → 上架。预约须指定 </a:t>
            </a:r>
            <a:r>
              <a:rPr lang="en-US" altLang="zh-CN" sz="1400"/>
              <a:t>“</a:t>
            </a:r>
            <a:r>
              <a:rPr lang="zh-CN" altLang="en-US" sz="1400">
                <a:sym typeface="+mn-ea"/>
              </a:rPr>
              <a:t>委托方</a:t>
            </a:r>
            <a:r>
              <a:rPr lang="en-US" altLang="zh-CN" sz="1400"/>
              <a:t>”</a:t>
            </a:r>
            <a:r>
              <a:rPr lang="zh-CN" altLang="en-US" sz="1400"/>
              <a:t>，可选用人民币或美元金额。支持 上传提单/报关单 </a:t>
            </a:r>
            <a:r>
              <a:rPr lang="en-US" altLang="zh-CN" sz="1400"/>
              <a:t>OCR </a:t>
            </a:r>
            <a:r>
              <a:rPr lang="zh-CN" altLang="en-US" sz="1400"/>
              <a:t>回填船名、提单号、报关单号、核注清单、金额与物料；收货环节识别重量单、品质证书，回填湿重/干重/水分及品质项。报备矿 收货确认时按本次干重扣减矿源备案剩余。上架后原料库存身份即为 报关单号，并落到指定堆位与片区标识。已上架及已称重可点 </a:t>
            </a:r>
            <a:r>
              <a:rPr lang="en-US" altLang="zh-CN" sz="1400"/>
              <a:t>“</a:t>
            </a:r>
            <a:r>
              <a:rPr lang="zh-CN" altLang="en-US" sz="1400">
                <a:sym typeface="+mn-ea"/>
              </a:rPr>
              <a:t>详情</a:t>
            </a:r>
            <a:r>
              <a:rPr lang="en-US" altLang="zh-CN" sz="1400"/>
              <a:t>”</a:t>
            </a:r>
            <a:r>
              <a:rPr lang="zh-CN" altLang="en-US" sz="1400"/>
              <a:t> 查看本票报关单、重量证书、品质证书及品质参数。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3605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库内移库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移库对象为报关单号（原料）或生产批次（成品）。场景：整票移位、拆票移位、批量移库（勾选多票报关单同时移位）。移库不改变企业总库存，只改变堆位；同一事务扣减原堆位、增加目标堆位，失败则回滚。目标堆位片区标识随在库批次状态更新，过程写入操作日志。列表可按委托方、场景查询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16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库存查询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按委托方、货物类型、矿源备案号、原料/成品、原产国、账册、堆位、时间筛选。原料行展示报关单号，成品行展示生产批次；本票品质为上架后该票参数。操作列 详情 查看报关单/重量证书/品质证书及参数，台账 下钻重量流水。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盘点管理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8575" y="297243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支持周期盘点与动态抽盘；账面与实盘差异自动生成，走审批后调整库存，禁止脱离单据改数。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库存预警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9210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预警包含三类：堆位库容占用达阈值；原料按报关单号统计库龄超过设定天数（演示 90 天）；报备矿备案用量达设定比例（默认 80%）。驾驶舱与本页同源，可跳转移库、台账或关务对账。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1950085"/>
            <a:ext cx="7252970" cy="411416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出库管理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9210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新建出库须 上传出库报关单，</a:t>
            </a:r>
            <a:r>
              <a:rPr lang="en-US" altLang="zh-CN" sz="1400"/>
              <a:t>OCR </a:t>
            </a:r>
            <a:r>
              <a:rPr lang="zh-CN" altLang="en-US" sz="1400"/>
              <a:t>回填报关单号、核注清单号、流向企业与重量。审核通过后点 出库完成，记录出库与完成时间。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1950085"/>
            <a:ext cx="7254240" cy="411543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7748517" y="1874573"/>
            <a:ext cx="36798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生产 / 完工流转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9210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投料按 生产批次号 出库，同一批次可勾选多票报关单矿物（可按报关单号、物料、来源国家、堆位筛选）。加工过程登记混矿原料及湿干重，谱系保留至各报关单。完工入库后，成品库存身份即为该生产批次号，先入待检堆位，查验完成后再改片区标识。消耗产出台账汇总原料消耗与成品产量。登记类操作统一在操作日志留痕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关务保税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9210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海关专用账号仅开放关务、账册与审计相关能力，与仓管、生产账号隔离。系统按账册物料比对账册库存与实物库存，展示一致项与差异吨数；差异可穿透到报关单号/生产批次与单据，支持导出差异报表。联网申报、核销接口在对外对接中预留，本页完成对账与监管查询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3605" cy="4114165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027407" y="1874573"/>
            <a:ext cx="24009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en-US" altLang="zh-CN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OCR </a:t>
            </a: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识别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9210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支持报关单（入库/出库）、提单、品质单据、重量单据。识别结果回填业务单，可人工修正后归档。入库预约、收货登记、出库开单均已内嵌上传入口，不必先到 </a:t>
            </a:r>
            <a:r>
              <a:rPr lang="en-US" altLang="zh-CN" sz="1400"/>
              <a:t>OCR </a:t>
            </a:r>
            <a:r>
              <a:rPr lang="zh-CN" altLang="en-US" sz="1400"/>
              <a:t>页再补录；本页用于集中查看任务状态（已回填 / 待修正 / 已归档）。字段范围随品质参数等系统配置同步。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875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平台前端</a:t>
            </a:r>
          </a:p>
        </p:txBody>
      </p:sp>
      <p:grpSp>
        <p:nvGrpSpPr>
          <p:cNvPr id="6" name="组合 6"/>
          <p:cNvGrpSpPr/>
          <p:nvPr/>
        </p:nvGrpSpPr>
        <p:grpSpPr bwMode="auto">
          <a:xfrm>
            <a:off x="1876234" y="838358"/>
            <a:ext cx="5247977" cy="5982808"/>
            <a:chOff x="694895" y="85823"/>
            <a:chExt cx="4833397" cy="5156200"/>
          </a:xfrm>
        </p:grpSpPr>
        <p:sp>
          <p:nvSpPr>
            <p:cNvPr id="50" name="任意多边形 49"/>
            <p:cNvSpPr/>
            <p:nvPr/>
          </p:nvSpPr>
          <p:spPr>
            <a:xfrm>
              <a:off x="1049956" y="91121"/>
              <a:ext cx="4478336" cy="5023921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任意多边形 1"/>
            <p:cNvSpPr/>
            <p:nvPr/>
          </p:nvSpPr>
          <p:spPr>
            <a:xfrm>
              <a:off x="694895" y="85823"/>
              <a:ext cx="4478545" cy="5156200"/>
            </a:xfrm>
            <a:custGeom>
              <a:avLst/>
              <a:gdLst>
                <a:gd name="connsiteX0" fmla="*/ 0 w 3810000"/>
                <a:gd name="connsiteY0" fmla="*/ 0 h 5181600"/>
                <a:gd name="connsiteX1" fmla="*/ 1079500 w 3810000"/>
                <a:gd name="connsiteY1" fmla="*/ 5181600 h 5181600"/>
                <a:gd name="connsiteX2" fmla="*/ 3810000 w 3810000"/>
                <a:gd name="connsiteY2" fmla="*/ 5181600 h 5181600"/>
                <a:gd name="connsiteX3" fmla="*/ 2514600 w 3810000"/>
                <a:gd name="connsiteY3" fmla="*/ 12700 h 5181600"/>
                <a:gd name="connsiteX4" fmla="*/ 0 w 3810000"/>
                <a:gd name="connsiteY4" fmla="*/ 0 h 51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0" h="5181600">
                  <a:moveTo>
                    <a:pt x="0" y="0"/>
                  </a:moveTo>
                  <a:lnTo>
                    <a:pt x="1079500" y="5181600"/>
                  </a:lnTo>
                  <a:lnTo>
                    <a:pt x="3810000" y="5181600"/>
                  </a:lnTo>
                  <a:lnTo>
                    <a:pt x="25146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9C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358242" y="1874573"/>
            <a:ext cx="20701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3200" b="1" spc="5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苹方-简" panose="020B0400000000000000" charset="-122"/>
                <a:ea typeface="苹方-简" panose="020B0400000000000000" charset="-122"/>
                <a:cs typeface="宋体" panose="02010600030101010101" pitchFamily="2" charset="-122"/>
                <a:sym typeface="Arial" panose="020B0604020202020204" pitchFamily="34" charset="0"/>
              </a:rPr>
              <a:t>操作日志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648862" y="2718303"/>
            <a:ext cx="3779585" cy="0"/>
          </a:xfrm>
          <a:prstGeom prst="line">
            <a:avLst/>
          </a:prstGeom>
          <a:ln w="38100">
            <a:solidFill>
              <a:srgbClr val="115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649210" y="2978785"/>
            <a:ext cx="3779520" cy="340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入出库、移库、生产、堆位片区变更、关务、基础数据等统一留存：操作人、时间、模块、业务单号、报关单号、生产批次、修改前后值。支持模块快捷筛选与时间段查询；关务操作可单独过滤。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50085"/>
            <a:ext cx="7254240" cy="4114800"/>
          </a:xfrm>
          <a:prstGeom prst="rect">
            <a:avLst/>
          </a:prstGeom>
        </p:spPr>
      </p:pic>
    </p:spTree>
  </p:cSld>
  <p:clrMapOvr>
    <a:masterClrMapping/>
  </p:clrMapOvr>
  <p:transition spd="slow" advClick="0" advTm="2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8778" y="2187526"/>
            <a:ext cx="3441344" cy="2467516"/>
          </a:xfrm>
          <a:custGeom>
            <a:avLst/>
            <a:gdLst>
              <a:gd name="connsiteX0" fmla="*/ 0 w 3441344"/>
              <a:gd name="connsiteY0" fmla="*/ 0 h 2467516"/>
              <a:gd name="connsiteX1" fmla="*/ 3441344 w 3441344"/>
              <a:gd name="connsiteY1" fmla="*/ 0 h 2467516"/>
              <a:gd name="connsiteX2" fmla="*/ 3441344 w 3441344"/>
              <a:gd name="connsiteY2" fmla="*/ 2467516 h 2467516"/>
              <a:gd name="connsiteX3" fmla="*/ 0 w 3441344"/>
              <a:gd name="connsiteY3" fmla="*/ 2467516 h 2467516"/>
              <a:gd name="connsiteX4" fmla="*/ 0 w 3441344"/>
              <a:gd name="connsiteY4" fmla="*/ 0 h 2467516"/>
              <a:gd name="connsiteX0-1" fmla="*/ 0 w 3441344"/>
              <a:gd name="connsiteY0-2" fmla="*/ 0 h 2467516"/>
              <a:gd name="connsiteX1-3" fmla="*/ 3441344 w 3441344"/>
              <a:gd name="connsiteY1-4" fmla="*/ 0 h 2467516"/>
              <a:gd name="connsiteX2-5" fmla="*/ 3441344 w 3441344"/>
              <a:gd name="connsiteY2-6" fmla="*/ 2467516 h 2467516"/>
              <a:gd name="connsiteX3-7" fmla="*/ 2822366 w 3441344"/>
              <a:gd name="connsiteY3-8" fmla="*/ 2461846 h 2467516"/>
              <a:gd name="connsiteX4-9" fmla="*/ 0 w 3441344"/>
              <a:gd name="connsiteY4-10" fmla="*/ 2467516 h 2467516"/>
              <a:gd name="connsiteX5" fmla="*/ 0 w 3441344"/>
              <a:gd name="connsiteY5" fmla="*/ 0 h 2467516"/>
              <a:gd name="connsiteX0-11" fmla="*/ 0 w 3441344"/>
              <a:gd name="connsiteY0-12" fmla="*/ 0 h 2467516"/>
              <a:gd name="connsiteX1-13" fmla="*/ 3441344 w 3441344"/>
              <a:gd name="connsiteY1-14" fmla="*/ 0 h 2467516"/>
              <a:gd name="connsiteX2-15" fmla="*/ 3441344 w 3441344"/>
              <a:gd name="connsiteY2-16" fmla="*/ 2467516 h 2467516"/>
              <a:gd name="connsiteX3-17" fmla="*/ 2822366 w 3441344"/>
              <a:gd name="connsiteY3-18" fmla="*/ 2461846 h 2467516"/>
              <a:gd name="connsiteX4-19" fmla="*/ 2822366 w 3441344"/>
              <a:gd name="connsiteY4-20" fmla="*/ 2461846 h 2467516"/>
              <a:gd name="connsiteX5-21" fmla="*/ 0 w 3441344"/>
              <a:gd name="connsiteY5-22" fmla="*/ 2467516 h 2467516"/>
              <a:gd name="connsiteX6" fmla="*/ 0 w 3441344"/>
              <a:gd name="connsiteY6" fmla="*/ 0 h 2467516"/>
              <a:gd name="connsiteX0-23" fmla="*/ 0 w 3441344"/>
              <a:gd name="connsiteY0-24" fmla="*/ 0 h 2467516"/>
              <a:gd name="connsiteX1-25" fmla="*/ 3441344 w 3441344"/>
              <a:gd name="connsiteY1-26" fmla="*/ 0 h 2467516"/>
              <a:gd name="connsiteX2-27" fmla="*/ 2822366 w 3441344"/>
              <a:gd name="connsiteY2-28" fmla="*/ 2461846 h 2467516"/>
              <a:gd name="connsiteX3-29" fmla="*/ 2822366 w 3441344"/>
              <a:gd name="connsiteY3-30" fmla="*/ 2461846 h 2467516"/>
              <a:gd name="connsiteX4-31" fmla="*/ 0 w 3441344"/>
              <a:gd name="connsiteY4-32" fmla="*/ 2467516 h 2467516"/>
              <a:gd name="connsiteX5-33" fmla="*/ 0 w 3441344"/>
              <a:gd name="connsiteY5-34" fmla="*/ 0 h 24675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3441344" h="2467516">
                <a:moveTo>
                  <a:pt x="0" y="0"/>
                </a:moveTo>
                <a:lnTo>
                  <a:pt x="3441344" y="0"/>
                </a:lnTo>
                <a:lnTo>
                  <a:pt x="2822366" y="2461846"/>
                </a:lnTo>
                <a:lnTo>
                  <a:pt x="2822366" y="2461846"/>
                </a:lnTo>
                <a:lnTo>
                  <a:pt x="0" y="2467516"/>
                </a:lnTo>
                <a:lnTo>
                  <a:pt x="0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310063"/>
            <a:ext cx="12192000" cy="2229853"/>
          </a:xfrm>
          <a:prstGeom prst="rect">
            <a:avLst/>
          </a:prstGeom>
          <a:solidFill>
            <a:srgbClr val="404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4"/>
          <p:cNvSpPr/>
          <p:nvPr/>
        </p:nvSpPr>
        <p:spPr>
          <a:xfrm>
            <a:off x="-8778" y="2315865"/>
            <a:ext cx="3371889" cy="2235067"/>
          </a:xfrm>
          <a:custGeom>
            <a:avLst/>
            <a:gdLst>
              <a:gd name="connsiteX0" fmla="*/ 0 w 3441344"/>
              <a:gd name="connsiteY0" fmla="*/ 0 h 2467516"/>
              <a:gd name="connsiteX1" fmla="*/ 3441344 w 3441344"/>
              <a:gd name="connsiteY1" fmla="*/ 0 h 2467516"/>
              <a:gd name="connsiteX2" fmla="*/ 3441344 w 3441344"/>
              <a:gd name="connsiteY2" fmla="*/ 2467516 h 2467516"/>
              <a:gd name="connsiteX3" fmla="*/ 0 w 3441344"/>
              <a:gd name="connsiteY3" fmla="*/ 2467516 h 2467516"/>
              <a:gd name="connsiteX4" fmla="*/ 0 w 3441344"/>
              <a:gd name="connsiteY4" fmla="*/ 0 h 2467516"/>
              <a:gd name="connsiteX0-1" fmla="*/ 0 w 3441344"/>
              <a:gd name="connsiteY0-2" fmla="*/ 0 h 2467516"/>
              <a:gd name="connsiteX1-3" fmla="*/ 3441344 w 3441344"/>
              <a:gd name="connsiteY1-4" fmla="*/ 0 h 2467516"/>
              <a:gd name="connsiteX2-5" fmla="*/ 3441344 w 3441344"/>
              <a:gd name="connsiteY2-6" fmla="*/ 2467516 h 2467516"/>
              <a:gd name="connsiteX3-7" fmla="*/ 2822366 w 3441344"/>
              <a:gd name="connsiteY3-8" fmla="*/ 2461846 h 2467516"/>
              <a:gd name="connsiteX4-9" fmla="*/ 0 w 3441344"/>
              <a:gd name="connsiteY4-10" fmla="*/ 2467516 h 2467516"/>
              <a:gd name="connsiteX5" fmla="*/ 0 w 3441344"/>
              <a:gd name="connsiteY5" fmla="*/ 0 h 2467516"/>
              <a:gd name="connsiteX0-11" fmla="*/ 0 w 3441344"/>
              <a:gd name="connsiteY0-12" fmla="*/ 0 h 2467516"/>
              <a:gd name="connsiteX1-13" fmla="*/ 3441344 w 3441344"/>
              <a:gd name="connsiteY1-14" fmla="*/ 0 h 2467516"/>
              <a:gd name="connsiteX2-15" fmla="*/ 3441344 w 3441344"/>
              <a:gd name="connsiteY2-16" fmla="*/ 2467516 h 2467516"/>
              <a:gd name="connsiteX3-17" fmla="*/ 2822366 w 3441344"/>
              <a:gd name="connsiteY3-18" fmla="*/ 2461846 h 2467516"/>
              <a:gd name="connsiteX4-19" fmla="*/ 2822366 w 3441344"/>
              <a:gd name="connsiteY4-20" fmla="*/ 2461846 h 2467516"/>
              <a:gd name="connsiteX5-21" fmla="*/ 0 w 3441344"/>
              <a:gd name="connsiteY5-22" fmla="*/ 2467516 h 2467516"/>
              <a:gd name="connsiteX6" fmla="*/ 0 w 3441344"/>
              <a:gd name="connsiteY6" fmla="*/ 0 h 2467516"/>
              <a:gd name="connsiteX0-23" fmla="*/ 0 w 3441344"/>
              <a:gd name="connsiteY0-24" fmla="*/ 0 h 2467516"/>
              <a:gd name="connsiteX1-25" fmla="*/ 3441344 w 3441344"/>
              <a:gd name="connsiteY1-26" fmla="*/ 0 h 2467516"/>
              <a:gd name="connsiteX2-27" fmla="*/ 2822366 w 3441344"/>
              <a:gd name="connsiteY2-28" fmla="*/ 2461846 h 2467516"/>
              <a:gd name="connsiteX3-29" fmla="*/ 2822366 w 3441344"/>
              <a:gd name="connsiteY3-30" fmla="*/ 2461846 h 2467516"/>
              <a:gd name="connsiteX4-31" fmla="*/ 0 w 3441344"/>
              <a:gd name="connsiteY4-32" fmla="*/ 2467516 h 2467516"/>
              <a:gd name="connsiteX5-33" fmla="*/ 0 w 3441344"/>
              <a:gd name="connsiteY5-34" fmla="*/ 0 h 24675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3441344" h="2467516">
                <a:moveTo>
                  <a:pt x="0" y="0"/>
                </a:moveTo>
                <a:lnTo>
                  <a:pt x="3441344" y="0"/>
                </a:lnTo>
                <a:lnTo>
                  <a:pt x="2822366" y="2461846"/>
                </a:lnTo>
                <a:lnTo>
                  <a:pt x="2822366" y="2461846"/>
                </a:lnTo>
                <a:lnTo>
                  <a:pt x="0" y="2467516"/>
                </a:lnTo>
                <a:lnTo>
                  <a:pt x="0" y="0"/>
                </a:lnTo>
                <a:close/>
              </a:path>
            </a:pathLst>
          </a:custGeom>
          <a:solidFill>
            <a:srgbClr val="115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6700" y="2909115"/>
            <a:ext cx="6243320" cy="11074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cs typeface="+mn-ea"/>
                <a:sym typeface="+mn-lt"/>
              </a:rPr>
              <a:t>PART    03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86129" y="2921497"/>
            <a:ext cx="3571240" cy="10153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zh-CN" altLang="en-US" sz="6600" b="1" spc="400" dirty="0">
                <a:solidFill>
                  <a:schemeClr val="bg1"/>
                </a:solidFill>
                <a:uFillTx/>
                <a:cs typeface="+mn-ea"/>
                <a:sym typeface="+mn-lt"/>
              </a:rPr>
              <a:t>开发排期</a:t>
            </a:r>
          </a:p>
        </p:txBody>
      </p:sp>
    </p:spTree>
  </p:cSld>
  <p:clrMapOvr>
    <a:masterClrMapping/>
  </p:clrMapOvr>
  <p:transition spd="slow" advClick="0" advTm="2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24"/>
          <p:cNvSpPr/>
          <p:nvPr/>
        </p:nvSpPr>
        <p:spPr>
          <a:xfrm>
            <a:off x="0" y="0"/>
            <a:ext cx="2247900" cy="838200"/>
          </a:xfrm>
          <a:custGeom>
            <a:avLst/>
            <a:gdLst>
              <a:gd name="connsiteX0" fmla="*/ 0 w 2641600"/>
              <a:gd name="connsiteY0" fmla="*/ 0 h 787400"/>
              <a:gd name="connsiteX1" fmla="*/ 2247900 w 2641600"/>
              <a:gd name="connsiteY1" fmla="*/ 0 h 787400"/>
              <a:gd name="connsiteX2" fmla="*/ 2641600 w 2641600"/>
              <a:gd name="connsiteY2" fmla="*/ 393700 h 787400"/>
              <a:gd name="connsiteX3" fmla="*/ 2247900 w 2641600"/>
              <a:gd name="connsiteY3" fmla="*/ 787400 h 787400"/>
              <a:gd name="connsiteX4" fmla="*/ 0 w 2641600"/>
              <a:gd name="connsiteY4" fmla="*/ 787400 h 787400"/>
              <a:gd name="connsiteX5" fmla="*/ 0 w 2641600"/>
              <a:gd name="connsiteY5" fmla="*/ 0 h 787400"/>
              <a:gd name="connsiteX0-1" fmla="*/ 0 w 2247900"/>
              <a:gd name="connsiteY0-2" fmla="*/ 0 h 787400"/>
              <a:gd name="connsiteX1-3" fmla="*/ 2247900 w 2247900"/>
              <a:gd name="connsiteY1-4" fmla="*/ 0 h 787400"/>
              <a:gd name="connsiteX2-5" fmla="*/ 2247900 w 2247900"/>
              <a:gd name="connsiteY2-6" fmla="*/ 787400 h 787400"/>
              <a:gd name="connsiteX3-7" fmla="*/ 0 w 2247900"/>
              <a:gd name="connsiteY3-8" fmla="*/ 787400 h 787400"/>
              <a:gd name="connsiteX4-9" fmla="*/ 0 w 2247900"/>
              <a:gd name="connsiteY4-10" fmla="*/ 0 h 787400"/>
              <a:gd name="connsiteX0-11" fmla="*/ 0 w 2247900"/>
              <a:gd name="connsiteY0-12" fmla="*/ 0 h 787400"/>
              <a:gd name="connsiteX1-13" fmla="*/ 2158690 w 2247900"/>
              <a:gd name="connsiteY1-14" fmla="*/ 0 h 787400"/>
              <a:gd name="connsiteX2-15" fmla="*/ 2247900 w 2247900"/>
              <a:gd name="connsiteY2-16" fmla="*/ 787400 h 787400"/>
              <a:gd name="connsiteX3-17" fmla="*/ 0 w 2247900"/>
              <a:gd name="connsiteY3-18" fmla="*/ 787400 h 787400"/>
              <a:gd name="connsiteX4-19" fmla="*/ 0 w 2247900"/>
              <a:gd name="connsiteY4-20" fmla="*/ 0 h 787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47900" h="787400">
                <a:moveTo>
                  <a:pt x="0" y="0"/>
                </a:moveTo>
                <a:lnTo>
                  <a:pt x="2158690" y="0"/>
                </a:lnTo>
                <a:lnTo>
                  <a:pt x="22479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苹方-简" panose="020B0400000000000000" charset="-122"/>
                <a:ea typeface="苹方-简" panose="020B0400000000000000" charset="-122"/>
                <a:cs typeface="+mn-ea"/>
                <a:sym typeface="+mn-lt"/>
              </a:rPr>
              <a:t>研发进展</a:t>
            </a:r>
          </a:p>
        </p:txBody>
      </p:sp>
      <p:sp>
        <p:nvSpPr>
          <p:cNvPr id="3" name="矩形 2"/>
          <p:cNvSpPr/>
          <p:nvPr/>
        </p:nvSpPr>
        <p:spPr>
          <a:xfrm>
            <a:off x="2247900" y="188595"/>
            <a:ext cx="527367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200" spc="1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cs typeface="+mn-ea"/>
              </a:rPr>
              <a:t>研发进展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927" y="5452485"/>
            <a:ext cx="1623813" cy="76214"/>
          </a:xfrm>
          <a:prstGeom prst="rect">
            <a:avLst/>
          </a:prstGeom>
          <a:solidFill>
            <a:srgbClr val="11559C"/>
          </a:solidFill>
          <a:ln w="15875" algn="ctr">
            <a:noFill/>
            <a:miter lim="800000"/>
          </a:ln>
        </p:spPr>
        <p:txBody>
          <a:bodyPr lIns="115172" tIns="57586" rIns="115172" bIns="57586" anchor="ctr"/>
          <a:lstStyle/>
          <a:p>
            <a:pPr algn="ctr" defTabSz="1216660">
              <a:defRPr/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sp>
        <p:nvSpPr>
          <p:cNvPr id="5" name="Freeform 9"/>
          <p:cNvSpPr>
            <a:spLocks noEditPoints="1"/>
          </p:cNvSpPr>
          <p:nvPr/>
        </p:nvSpPr>
        <p:spPr bwMode="auto">
          <a:xfrm>
            <a:off x="543612" y="1541750"/>
            <a:ext cx="3106355" cy="3193054"/>
          </a:xfrm>
          <a:custGeom>
            <a:avLst/>
            <a:gdLst>
              <a:gd name="T0" fmla="*/ 2147483647 w 2676"/>
              <a:gd name="T1" fmla="*/ 2147483647 h 2848"/>
              <a:gd name="T2" fmla="*/ 2147483647 w 2676"/>
              <a:gd name="T3" fmla="*/ 2147483647 h 2848"/>
              <a:gd name="T4" fmla="*/ 2147483647 w 2676"/>
              <a:gd name="T5" fmla="*/ 2147483647 h 2848"/>
              <a:gd name="T6" fmla="*/ 0 w 2676"/>
              <a:gd name="T7" fmla="*/ 2147483647 h 2848"/>
              <a:gd name="T8" fmla="*/ 2147483647 w 2676"/>
              <a:gd name="T9" fmla="*/ 2147483647 h 2848"/>
              <a:gd name="T10" fmla="*/ 2147483647 w 2676"/>
              <a:gd name="T11" fmla="*/ 2147483647 h 2848"/>
              <a:gd name="T12" fmla="*/ 2147483647 w 2676"/>
              <a:gd name="T13" fmla="*/ 2147483647 h 2848"/>
              <a:gd name="T14" fmla="*/ 2147483647 w 2676"/>
              <a:gd name="T15" fmla="*/ 0 h 2848"/>
              <a:gd name="T16" fmla="*/ 2147483647 w 2676"/>
              <a:gd name="T17" fmla="*/ 2147483647 h 2848"/>
              <a:gd name="T18" fmla="*/ 2147483647 w 2676"/>
              <a:gd name="T19" fmla="*/ 2147483647 h 2848"/>
              <a:gd name="T20" fmla="*/ 2147483647 w 2676"/>
              <a:gd name="T21" fmla="*/ 2147483647 h 2848"/>
              <a:gd name="T22" fmla="*/ 2147483647 w 2676"/>
              <a:gd name="T23" fmla="*/ 2147483647 h 2848"/>
              <a:gd name="T24" fmla="*/ 2147483647 w 2676"/>
              <a:gd name="T25" fmla="*/ 2147483647 h 2848"/>
              <a:gd name="T26" fmla="*/ 2147483647 w 2676"/>
              <a:gd name="T27" fmla="*/ 2147483647 h 2848"/>
              <a:gd name="T28" fmla="*/ 2147483647 w 2676"/>
              <a:gd name="T29" fmla="*/ 2147483647 h 2848"/>
              <a:gd name="T30" fmla="*/ 2147483647 w 2676"/>
              <a:gd name="T31" fmla="*/ 2147483647 h 2848"/>
              <a:gd name="T32" fmla="*/ 2147483647 w 2676"/>
              <a:gd name="T33" fmla="*/ 2147483647 h 2848"/>
              <a:gd name="T34" fmla="*/ 2147483647 w 2676"/>
              <a:gd name="T35" fmla="*/ 2147483647 h 2848"/>
              <a:gd name="T36" fmla="*/ 2147483647 w 2676"/>
              <a:gd name="T37" fmla="*/ 2147483647 h 2848"/>
              <a:gd name="T38" fmla="*/ 2147483647 w 2676"/>
              <a:gd name="T39" fmla="*/ 2147483647 h 2848"/>
              <a:gd name="T40" fmla="*/ 2147483647 w 2676"/>
              <a:gd name="T41" fmla="*/ 2147483647 h 2848"/>
              <a:gd name="T42" fmla="*/ 2147483647 w 2676"/>
              <a:gd name="T43" fmla="*/ 2147483647 h 2848"/>
              <a:gd name="T44" fmla="*/ 2147483647 w 2676"/>
              <a:gd name="T45" fmla="*/ 2147483647 h 2848"/>
              <a:gd name="T46" fmla="*/ 2147483647 w 2676"/>
              <a:gd name="T47" fmla="*/ 2147483647 h 2848"/>
              <a:gd name="T48" fmla="*/ 2147483647 w 2676"/>
              <a:gd name="T49" fmla="*/ 2147483647 h 2848"/>
              <a:gd name="T50" fmla="*/ 2147483647 w 2676"/>
              <a:gd name="T51" fmla="*/ 2147483647 h 2848"/>
              <a:gd name="T52" fmla="*/ 2147483647 w 2676"/>
              <a:gd name="T53" fmla="*/ 2147483647 h 2848"/>
              <a:gd name="T54" fmla="*/ 2147483647 w 2676"/>
              <a:gd name="T55" fmla="*/ 2147483647 h 2848"/>
              <a:gd name="T56" fmla="*/ 2147483647 w 2676"/>
              <a:gd name="T57" fmla="*/ 2147483647 h 2848"/>
              <a:gd name="T58" fmla="*/ 2147483647 w 2676"/>
              <a:gd name="T59" fmla="*/ 2147483647 h 2848"/>
              <a:gd name="T60" fmla="*/ 2147483647 w 2676"/>
              <a:gd name="T61" fmla="*/ 2147483647 h 2848"/>
              <a:gd name="T62" fmla="*/ 2147483647 w 2676"/>
              <a:gd name="T63" fmla="*/ 2147483647 h 2848"/>
              <a:gd name="T64" fmla="*/ 2147483647 w 2676"/>
              <a:gd name="T65" fmla="*/ 2147483647 h 2848"/>
              <a:gd name="T66" fmla="*/ 2147483647 w 2676"/>
              <a:gd name="T67" fmla="*/ 2147483647 h 2848"/>
              <a:gd name="T68" fmla="*/ 2147483647 w 2676"/>
              <a:gd name="T69" fmla="*/ 2147483647 h 2848"/>
              <a:gd name="T70" fmla="*/ 2147483647 w 2676"/>
              <a:gd name="T71" fmla="*/ 2147483647 h 2848"/>
              <a:gd name="T72" fmla="*/ 2147483647 w 2676"/>
              <a:gd name="T73" fmla="*/ 2147483647 h 2848"/>
              <a:gd name="T74" fmla="*/ 2147483647 w 2676"/>
              <a:gd name="T75" fmla="*/ 2147483647 h 2848"/>
              <a:gd name="T76" fmla="*/ 2147483647 w 2676"/>
              <a:gd name="T77" fmla="*/ 2147483647 h 2848"/>
              <a:gd name="T78" fmla="*/ 2147483647 w 2676"/>
              <a:gd name="T79" fmla="*/ 2147483647 h 2848"/>
              <a:gd name="T80" fmla="*/ 2147483647 w 2676"/>
              <a:gd name="T81" fmla="*/ 2147483647 h 2848"/>
              <a:gd name="T82" fmla="*/ 2147483647 w 2676"/>
              <a:gd name="T83" fmla="*/ 2147483647 h 2848"/>
              <a:gd name="T84" fmla="*/ 2147483647 w 2676"/>
              <a:gd name="T85" fmla="*/ 2147483647 h 2848"/>
              <a:gd name="T86" fmla="*/ 2147483647 w 2676"/>
              <a:gd name="T87" fmla="*/ 2147483647 h 2848"/>
              <a:gd name="T88" fmla="*/ 2147483647 w 2676"/>
              <a:gd name="T89" fmla="*/ 2147483647 h 2848"/>
              <a:gd name="T90" fmla="*/ 2147483647 w 2676"/>
              <a:gd name="T91" fmla="*/ 2147483647 h 2848"/>
              <a:gd name="T92" fmla="*/ 2147483647 w 2676"/>
              <a:gd name="T93" fmla="*/ 2147483647 h 2848"/>
              <a:gd name="T94" fmla="*/ 2147483647 w 2676"/>
              <a:gd name="T95" fmla="*/ 2147483647 h 2848"/>
              <a:gd name="T96" fmla="*/ 2147483647 w 2676"/>
              <a:gd name="T97" fmla="*/ 2147483647 h 2848"/>
              <a:gd name="T98" fmla="*/ 2147483647 w 2676"/>
              <a:gd name="T99" fmla="*/ 2147483647 h 2848"/>
              <a:gd name="T100" fmla="*/ 2147483647 w 2676"/>
              <a:gd name="T101" fmla="*/ 2147483647 h 2848"/>
              <a:gd name="T102" fmla="*/ 2147483647 w 2676"/>
              <a:gd name="T103" fmla="*/ 2147483647 h 2848"/>
              <a:gd name="T104" fmla="*/ 2147483647 w 2676"/>
              <a:gd name="T105" fmla="*/ 2147483647 h 2848"/>
              <a:gd name="T106" fmla="*/ 2147483647 w 2676"/>
              <a:gd name="T107" fmla="*/ 2147483647 h 2848"/>
              <a:gd name="T108" fmla="*/ 2147483647 w 2676"/>
              <a:gd name="T109" fmla="*/ 2147483647 h 2848"/>
              <a:gd name="T110" fmla="*/ 2147483647 w 2676"/>
              <a:gd name="T111" fmla="*/ 2147483647 h 2848"/>
              <a:gd name="T112" fmla="*/ 2147483647 w 2676"/>
              <a:gd name="T113" fmla="*/ 2147483647 h 2848"/>
              <a:gd name="T114" fmla="*/ 2147483647 w 2676"/>
              <a:gd name="T115" fmla="*/ 2147483647 h 2848"/>
              <a:gd name="T116" fmla="*/ 2147483647 w 2676"/>
              <a:gd name="T117" fmla="*/ 2147483647 h 2848"/>
              <a:gd name="T118" fmla="*/ 2147483647 w 2676"/>
              <a:gd name="T119" fmla="*/ 2147483647 h 2848"/>
              <a:gd name="T120" fmla="*/ 2147483647 w 2676"/>
              <a:gd name="T121" fmla="*/ 2147483647 h 2848"/>
              <a:gd name="T122" fmla="*/ 2147483647 w 2676"/>
              <a:gd name="T123" fmla="*/ 2147483647 h 284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76"/>
              <a:gd name="T187" fmla="*/ 0 h 2848"/>
              <a:gd name="T188" fmla="*/ 2676 w 2676"/>
              <a:gd name="T189" fmla="*/ 2848 h 2848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76" h="2848">
                <a:moveTo>
                  <a:pt x="764" y="1468"/>
                </a:moveTo>
                <a:lnTo>
                  <a:pt x="132" y="1468"/>
                </a:lnTo>
                <a:cubicBezTo>
                  <a:pt x="91" y="1468"/>
                  <a:pt x="58" y="1452"/>
                  <a:pt x="36" y="1427"/>
                </a:cubicBezTo>
                <a:cubicBezTo>
                  <a:pt x="12" y="1401"/>
                  <a:pt x="0" y="1365"/>
                  <a:pt x="0" y="1325"/>
                </a:cubicBezTo>
                <a:cubicBezTo>
                  <a:pt x="0" y="1220"/>
                  <a:pt x="16" y="1037"/>
                  <a:pt x="83" y="843"/>
                </a:cubicBezTo>
                <a:cubicBezTo>
                  <a:pt x="128" y="710"/>
                  <a:pt x="198" y="572"/>
                  <a:pt x="302" y="448"/>
                </a:cubicBezTo>
                <a:cubicBezTo>
                  <a:pt x="463" y="257"/>
                  <a:pt x="645" y="145"/>
                  <a:pt x="830" y="80"/>
                </a:cubicBezTo>
                <a:cubicBezTo>
                  <a:pt x="1014" y="16"/>
                  <a:pt x="1200" y="0"/>
                  <a:pt x="1369" y="0"/>
                </a:cubicBezTo>
                <a:cubicBezTo>
                  <a:pt x="1521" y="0"/>
                  <a:pt x="1738" y="26"/>
                  <a:pt x="1955" y="115"/>
                </a:cubicBezTo>
                <a:cubicBezTo>
                  <a:pt x="2115" y="180"/>
                  <a:pt x="2276" y="279"/>
                  <a:pt x="2412" y="426"/>
                </a:cubicBezTo>
                <a:cubicBezTo>
                  <a:pt x="2517" y="540"/>
                  <a:pt x="2583" y="667"/>
                  <a:pt x="2623" y="798"/>
                </a:cubicBezTo>
                <a:cubicBezTo>
                  <a:pt x="2669" y="953"/>
                  <a:pt x="2676" y="1113"/>
                  <a:pt x="2663" y="1258"/>
                </a:cubicBezTo>
                <a:cubicBezTo>
                  <a:pt x="2645" y="1440"/>
                  <a:pt x="2572" y="1589"/>
                  <a:pt x="2470" y="1716"/>
                </a:cubicBezTo>
                <a:cubicBezTo>
                  <a:pt x="2370" y="1841"/>
                  <a:pt x="2243" y="1944"/>
                  <a:pt x="2115" y="2036"/>
                </a:cubicBezTo>
                <a:cubicBezTo>
                  <a:pt x="1973" y="2139"/>
                  <a:pt x="1882" y="2230"/>
                  <a:pt x="1826" y="2320"/>
                </a:cubicBezTo>
                <a:cubicBezTo>
                  <a:pt x="1773" y="2408"/>
                  <a:pt x="1753" y="2497"/>
                  <a:pt x="1753" y="2597"/>
                </a:cubicBezTo>
                <a:lnTo>
                  <a:pt x="1753" y="2808"/>
                </a:lnTo>
                <a:lnTo>
                  <a:pt x="1753" y="2848"/>
                </a:lnTo>
                <a:lnTo>
                  <a:pt x="1713" y="2848"/>
                </a:lnTo>
                <a:lnTo>
                  <a:pt x="904" y="2848"/>
                </a:lnTo>
                <a:lnTo>
                  <a:pt x="864" y="2848"/>
                </a:lnTo>
                <a:lnTo>
                  <a:pt x="864" y="2808"/>
                </a:lnTo>
                <a:lnTo>
                  <a:pt x="864" y="2501"/>
                </a:lnTo>
                <a:cubicBezTo>
                  <a:pt x="864" y="2304"/>
                  <a:pt x="896" y="2146"/>
                  <a:pt x="963" y="2008"/>
                </a:cubicBezTo>
                <a:cubicBezTo>
                  <a:pt x="1029" y="1870"/>
                  <a:pt x="1127" y="1754"/>
                  <a:pt x="1258" y="1640"/>
                </a:cubicBezTo>
                <a:cubicBezTo>
                  <a:pt x="1295" y="1608"/>
                  <a:pt x="1342" y="1576"/>
                  <a:pt x="1391" y="1542"/>
                </a:cubicBezTo>
                <a:cubicBezTo>
                  <a:pt x="1526" y="1449"/>
                  <a:pt x="1684" y="1340"/>
                  <a:pt x="1684" y="1195"/>
                </a:cubicBezTo>
                <a:cubicBezTo>
                  <a:pt x="1684" y="1109"/>
                  <a:pt x="1649" y="1032"/>
                  <a:pt x="1585" y="977"/>
                </a:cubicBezTo>
                <a:cubicBezTo>
                  <a:pt x="1523" y="924"/>
                  <a:pt x="1435" y="891"/>
                  <a:pt x="1325" y="891"/>
                </a:cubicBezTo>
                <a:cubicBezTo>
                  <a:pt x="1211" y="891"/>
                  <a:pt x="1103" y="939"/>
                  <a:pt x="1020" y="1022"/>
                </a:cubicBezTo>
                <a:cubicBezTo>
                  <a:pt x="939" y="1103"/>
                  <a:pt x="882" y="1218"/>
                  <a:pt x="867" y="1355"/>
                </a:cubicBezTo>
                <a:cubicBezTo>
                  <a:pt x="865" y="1381"/>
                  <a:pt x="861" y="1405"/>
                  <a:pt x="848" y="1426"/>
                </a:cubicBezTo>
                <a:cubicBezTo>
                  <a:pt x="832" y="1452"/>
                  <a:pt x="807" y="1468"/>
                  <a:pt x="764" y="1468"/>
                </a:cubicBezTo>
                <a:close/>
                <a:moveTo>
                  <a:pt x="132" y="1388"/>
                </a:moveTo>
                <a:lnTo>
                  <a:pt x="764" y="1388"/>
                </a:lnTo>
                <a:cubicBezTo>
                  <a:pt x="774" y="1388"/>
                  <a:pt x="779" y="1387"/>
                  <a:pt x="780" y="1384"/>
                </a:cubicBezTo>
                <a:cubicBezTo>
                  <a:pt x="784" y="1378"/>
                  <a:pt x="786" y="1363"/>
                  <a:pt x="788" y="1347"/>
                </a:cubicBezTo>
                <a:cubicBezTo>
                  <a:pt x="805" y="1191"/>
                  <a:pt x="870" y="1059"/>
                  <a:pt x="963" y="966"/>
                </a:cubicBezTo>
                <a:cubicBezTo>
                  <a:pt x="1061" y="867"/>
                  <a:pt x="1190" y="811"/>
                  <a:pt x="1325" y="811"/>
                </a:cubicBezTo>
                <a:cubicBezTo>
                  <a:pt x="1455" y="811"/>
                  <a:pt x="1561" y="851"/>
                  <a:pt x="1637" y="916"/>
                </a:cubicBezTo>
                <a:cubicBezTo>
                  <a:pt x="1719" y="987"/>
                  <a:pt x="1764" y="1086"/>
                  <a:pt x="1764" y="1195"/>
                </a:cubicBezTo>
                <a:cubicBezTo>
                  <a:pt x="1764" y="1382"/>
                  <a:pt x="1588" y="1504"/>
                  <a:pt x="1436" y="1608"/>
                </a:cubicBezTo>
                <a:cubicBezTo>
                  <a:pt x="1389" y="1640"/>
                  <a:pt x="1344" y="1671"/>
                  <a:pt x="1311" y="1700"/>
                </a:cubicBezTo>
                <a:cubicBezTo>
                  <a:pt x="1187" y="1808"/>
                  <a:pt x="1095" y="1916"/>
                  <a:pt x="1034" y="2042"/>
                </a:cubicBezTo>
                <a:cubicBezTo>
                  <a:pt x="974" y="2169"/>
                  <a:pt x="944" y="2316"/>
                  <a:pt x="944" y="2501"/>
                </a:cubicBezTo>
                <a:lnTo>
                  <a:pt x="944" y="2768"/>
                </a:lnTo>
                <a:lnTo>
                  <a:pt x="1673" y="2768"/>
                </a:lnTo>
                <a:lnTo>
                  <a:pt x="1673" y="2597"/>
                </a:lnTo>
                <a:cubicBezTo>
                  <a:pt x="1673" y="2483"/>
                  <a:pt x="1696" y="2381"/>
                  <a:pt x="1758" y="2279"/>
                </a:cubicBezTo>
                <a:cubicBezTo>
                  <a:pt x="1819" y="2179"/>
                  <a:pt x="1917" y="2081"/>
                  <a:pt x="2069" y="1971"/>
                </a:cubicBezTo>
                <a:cubicBezTo>
                  <a:pt x="2191" y="1883"/>
                  <a:pt x="2313" y="1784"/>
                  <a:pt x="2408" y="1666"/>
                </a:cubicBezTo>
                <a:cubicBezTo>
                  <a:pt x="2500" y="1550"/>
                  <a:pt x="2567" y="1415"/>
                  <a:pt x="2583" y="1250"/>
                </a:cubicBezTo>
                <a:cubicBezTo>
                  <a:pt x="2596" y="1115"/>
                  <a:pt x="2590" y="966"/>
                  <a:pt x="2546" y="820"/>
                </a:cubicBezTo>
                <a:cubicBezTo>
                  <a:pt x="2510" y="701"/>
                  <a:pt x="2449" y="584"/>
                  <a:pt x="2353" y="481"/>
                </a:cubicBezTo>
                <a:cubicBezTo>
                  <a:pt x="2226" y="343"/>
                  <a:pt x="2075" y="250"/>
                  <a:pt x="1925" y="189"/>
                </a:cubicBezTo>
                <a:cubicBezTo>
                  <a:pt x="1719" y="105"/>
                  <a:pt x="1514" y="80"/>
                  <a:pt x="1369" y="80"/>
                </a:cubicBezTo>
                <a:cubicBezTo>
                  <a:pt x="1207" y="80"/>
                  <a:pt x="1030" y="95"/>
                  <a:pt x="857" y="156"/>
                </a:cubicBezTo>
                <a:cubicBezTo>
                  <a:pt x="684" y="216"/>
                  <a:pt x="514" y="321"/>
                  <a:pt x="363" y="500"/>
                </a:cubicBezTo>
                <a:cubicBezTo>
                  <a:pt x="266" y="614"/>
                  <a:pt x="201" y="744"/>
                  <a:pt x="158" y="869"/>
                </a:cubicBezTo>
                <a:cubicBezTo>
                  <a:pt x="95" y="1053"/>
                  <a:pt x="80" y="1226"/>
                  <a:pt x="80" y="1325"/>
                </a:cubicBezTo>
                <a:cubicBezTo>
                  <a:pt x="80" y="1346"/>
                  <a:pt x="85" y="1363"/>
                  <a:pt x="95" y="1374"/>
                </a:cubicBezTo>
                <a:cubicBezTo>
                  <a:pt x="103" y="1383"/>
                  <a:pt x="115" y="1388"/>
                  <a:pt x="132" y="1388"/>
                </a:cubicBezTo>
                <a:close/>
              </a:path>
            </a:pathLst>
          </a:custGeom>
          <a:solidFill>
            <a:srgbClr val="11559C"/>
          </a:solidFill>
          <a:ln w="9525">
            <a:noFill/>
            <a:round/>
          </a:ln>
        </p:spPr>
        <p:txBody>
          <a:bodyPr lIns="91428" tIns="45713" rIns="91428" bIns="45713"/>
          <a:lstStyle/>
          <a:p>
            <a:pPr defTabSz="913765">
              <a:defRPr/>
            </a:pP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500757" y="5452485"/>
            <a:ext cx="9693667" cy="76214"/>
          </a:xfrm>
          <a:prstGeom prst="rect">
            <a:avLst/>
          </a:prstGeom>
          <a:solidFill>
            <a:srgbClr val="11559C"/>
          </a:solidFill>
          <a:ln w="15875" algn="ctr">
            <a:noFill/>
            <a:miter lim="800000"/>
          </a:ln>
        </p:spPr>
        <p:txBody>
          <a:bodyPr lIns="115172" tIns="57586" rIns="115172" bIns="57586" anchor="ctr"/>
          <a:lstStyle/>
          <a:p>
            <a:pPr algn="ctr" defTabSz="1216660">
              <a:defRPr/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540439" y="4918989"/>
            <a:ext cx="1046034" cy="77802"/>
          </a:xfrm>
          <a:prstGeom prst="rect">
            <a:avLst/>
          </a:prstGeom>
          <a:solidFill>
            <a:srgbClr val="11559C"/>
          </a:solidFill>
          <a:ln w="15875" algn="ctr">
            <a:noFill/>
            <a:miter lim="800000"/>
          </a:ln>
        </p:spPr>
        <p:txBody>
          <a:bodyPr lIns="115172" tIns="57586" rIns="115172" bIns="57586" anchor="ctr"/>
          <a:lstStyle/>
          <a:p>
            <a:pPr algn="ctr" defTabSz="1216660">
              <a:defRPr/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 rot="5400000">
            <a:off x="1279234" y="5180193"/>
            <a:ext cx="609713" cy="87303"/>
          </a:xfrm>
          <a:prstGeom prst="rect">
            <a:avLst/>
          </a:prstGeom>
          <a:solidFill>
            <a:srgbClr val="11559C"/>
          </a:solidFill>
          <a:ln w="15875" algn="ctr">
            <a:noFill/>
            <a:miter lim="800000"/>
          </a:ln>
        </p:spPr>
        <p:txBody>
          <a:bodyPr rot="10800000" vert="eaVert" lIns="115172" tIns="57586" rIns="115172" bIns="57586" anchor="ctr"/>
          <a:lstStyle/>
          <a:p>
            <a:pPr algn="ctr" defTabSz="1216660">
              <a:defRPr/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 rot="5400000">
            <a:off x="2238759" y="5180987"/>
            <a:ext cx="609713" cy="85715"/>
          </a:xfrm>
          <a:prstGeom prst="rect">
            <a:avLst/>
          </a:prstGeom>
          <a:solidFill>
            <a:srgbClr val="11559C"/>
          </a:solidFill>
          <a:ln w="15875" algn="ctr">
            <a:noFill/>
            <a:miter lim="800000"/>
          </a:ln>
        </p:spPr>
        <p:txBody>
          <a:bodyPr rot="10800000" vert="eaVert" lIns="115172" tIns="57586" rIns="115172" bIns="57586" anchor="ctr"/>
          <a:lstStyle/>
          <a:p>
            <a:pPr algn="ctr" defTabSz="1216660">
              <a:defRPr/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grpSp>
        <p:nvGrpSpPr>
          <p:cNvPr id="10" name="组合 54"/>
          <p:cNvGrpSpPr/>
          <p:nvPr/>
        </p:nvGrpSpPr>
        <p:grpSpPr bwMode="auto">
          <a:xfrm>
            <a:off x="3891238" y="5333403"/>
            <a:ext cx="350794" cy="314383"/>
            <a:chOff x="4971660" y="1569718"/>
            <a:chExt cx="144016" cy="144016"/>
          </a:xfrm>
        </p:grpSpPr>
        <p:sp>
          <p:nvSpPr>
            <p:cNvPr id="11" name="椭圆 55"/>
            <p:cNvSpPr>
              <a:spLocks noChangeArrowheads="1"/>
            </p:cNvSpPr>
            <p:nvPr/>
          </p:nvSpPr>
          <p:spPr bwMode="auto">
            <a:xfrm>
              <a:off x="4971660" y="1569718"/>
              <a:ext cx="144016" cy="144016"/>
            </a:xfrm>
            <a:prstGeom prst="ellipse">
              <a:avLst/>
            </a:prstGeom>
            <a:solidFill>
              <a:srgbClr val="11559C"/>
            </a:solidFill>
            <a:ln w="15875" algn="ctr">
              <a:noFill/>
              <a:round/>
            </a:ln>
          </p:spPr>
          <p:txBody>
            <a:bodyPr lIns="153563" tIns="76781" rIns="153563" bIns="76781" anchor="ctr"/>
            <a:lstStyle/>
            <a:p>
              <a:pPr algn="ctr" defTabSz="1216660">
                <a:defRPr/>
              </a:pP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endParaRPr>
            </a:p>
          </p:txBody>
        </p:sp>
        <p:sp>
          <p:nvSpPr>
            <p:cNvPr id="12" name="椭圆 56"/>
            <p:cNvSpPr>
              <a:spLocks noChangeArrowheads="1"/>
            </p:cNvSpPr>
            <p:nvPr/>
          </p:nvSpPr>
          <p:spPr bwMode="auto">
            <a:xfrm>
              <a:off x="5006027" y="1603875"/>
              <a:ext cx="75281" cy="75701"/>
            </a:xfrm>
            <a:prstGeom prst="ellipse">
              <a:avLst/>
            </a:prstGeom>
            <a:solidFill>
              <a:schemeClr val="bg1"/>
            </a:solidFill>
            <a:ln w="15875" algn="ctr">
              <a:noFill/>
              <a:round/>
            </a:ln>
          </p:spPr>
          <p:txBody>
            <a:bodyPr lIns="153563" tIns="76781" rIns="153563" bIns="76781" anchor="ctr"/>
            <a:lstStyle/>
            <a:p>
              <a:pPr algn="ctr" defTabSz="1216660">
                <a:defRPr/>
              </a:pP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endParaRPr>
            </a:p>
          </p:txBody>
        </p:sp>
      </p:grp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>
            <a:off x="4053141" y="2156226"/>
            <a:ext cx="12698" cy="3000931"/>
          </a:xfrm>
          <a:prstGeom prst="line">
            <a:avLst/>
          </a:prstGeom>
          <a:noFill/>
          <a:ln w="9525" algn="ctr">
            <a:solidFill>
              <a:srgbClr val="11559C"/>
            </a:solidFill>
            <a:prstDash val="dash"/>
            <a:round/>
            <a:headEnd type="oval" w="med" len="med"/>
          </a:ln>
        </p:spPr>
      </p:cxnSp>
      <p:sp>
        <p:nvSpPr>
          <p:cNvPr id="14" name="TextBox 72"/>
          <p:cNvSpPr txBox="1">
            <a:spLocks noChangeArrowheads="1"/>
          </p:cNvSpPr>
          <p:nvPr/>
        </p:nvSpPr>
        <p:spPr bwMode="auto">
          <a:xfrm>
            <a:off x="4250055" y="2415540"/>
            <a:ext cx="1982804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defTabSz="1216660"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-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20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26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年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9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月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5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日</a:t>
            </a:r>
          </a:p>
        </p:txBody>
      </p:sp>
      <p:sp>
        <p:nvSpPr>
          <p:cNvPr id="15" name="TextBox 73"/>
          <p:cNvSpPr txBox="1">
            <a:spLocks noChangeArrowheads="1"/>
          </p:cNvSpPr>
          <p:nvPr/>
        </p:nvSpPr>
        <p:spPr bwMode="auto">
          <a:xfrm>
            <a:off x="4158615" y="2692400"/>
            <a:ext cx="2313305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需求分析</a:t>
            </a:r>
            <a:r>
              <a: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(</a:t>
            </a: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完成</a:t>
            </a:r>
            <a:r>
              <a: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)</a:t>
            </a:r>
            <a:endParaRPr lang="zh-CN" sz="13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原型设计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功能详细设计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数据库设计</a:t>
            </a:r>
            <a:endParaRPr lang="zh-CN" altLang="en-US" sz="13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endParaRPr lang="zh-CN" sz="13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  <a:p>
            <a:pPr marL="342900" indent="-342900" algn="just" defTabSz="1216660">
              <a:lnSpc>
                <a:spcPct val="150000"/>
              </a:lnSpc>
              <a:defRPr/>
            </a:pPr>
            <a:endParaRPr lang="zh-CN" altLang="en-US" sz="13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  <p:grpSp>
        <p:nvGrpSpPr>
          <p:cNvPr id="17" name="组合 113"/>
          <p:cNvGrpSpPr/>
          <p:nvPr/>
        </p:nvGrpSpPr>
        <p:grpSpPr bwMode="auto">
          <a:xfrm>
            <a:off x="6471638" y="5333403"/>
            <a:ext cx="350794" cy="314383"/>
            <a:chOff x="4971660" y="1569718"/>
            <a:chExt cx="144016" cy="144016"/>
          </a:xfrm>
        </p:grpSpPr>
        <p:sp>
          <p:nvSpPr>
            <p:cNvPr id="18" name="椭圆 114"/>
            <p:cNvSpPr>
              <a:spLocks noChangeArrowheads="1"/>
            </p:cNvSpPr>
            <p:nvPr/>
          </p:nvSpPr>
          <p:spPr bwMode="auto">
            <a:xfrm>
              <a:off x="4971660" y="1569718"/>
              <a:ext cx="144016" cy="144016"/>
            </a:xfrm>
            <a:prstGeom prst="ellipse">
              <a:avLst/>
            </a:prstGeom>
            <a:solidFill>
              <a:srgbClr val="EE880B"/>
            </a:solidFill>
            <a:ln w="15875" algn="ctr">
              <a:noFill/>
              <a:round/>
            </a:ln>
          </p:spPr>
          <p:txBody>
            <a:bodyPr lIns="153563" tIns="76781" rIns="153563" bIns="76781" anchor="ctr"/>
            <a:lstStyle/>
            <a:p>
              <a:pPr algn="ctr" defTabSz="1216660">
                <a:defRPr/>
              </a:pP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endParaRPr>
            </a:p>
          </p:txBody>
        </p:sp>
        <p:sp>
          <p:nvSpPr>
            <p:cNvPr id="19" name="椭圆 115"/>
            <p:cNvSpPr>
              <a:spLocks noChangeArrowheads="1"/>
            </p:cNvSpPr>
            <p:nvPr/>
          </p:nvSpPr>
          <p:spPr bwMode="auto">
            <a:xfrm>
              <a:off x="5006027" y="1603875"/>
              <a:ext cx="75281" cy="75701"/>
            </a:xfrm>
            <a:prstGeom prst="ellipse">
              <a:avLst/>
            </a:prstGeom>
            <a:solidFill>
              <a:schemeClr val="bg1"/>
            </a:solidFill>
            <a:ln w="15875" algn="ctr">
              <a:noFill/>
              <a:round/>
            </a:ln>
          </p:spPr>
          <p:txBody>
            <a:bodyPr lIns="153563" tIns="76781" rIns="153563" bIns="76781" anchor="ctr"/>
            <a:lstStyle/>
            <a:p>
              <a:pPr algn="ctr" defTabSz="1216660">
                <a:defRPr/>
              </a:pP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endParaRPr>
            </a:p>
          </p:txBody>
        </p:sp>
      </p:grp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6624019" y="2156226"/>
            <a:ext cx="28570" cy="3000931"/>
          </a:xfrm>
          <a:prstGeom prst="line">
            <a:avLst/>
          </a:prstGeom>
          <a:noFill/>
          <a:ln w="9525" algn="ctr">
            <a:solidFill>
              <a:srgbClr val="EE880B"/>
            </a:solidFill>
            <a:prstDash val="dash"/>
            <a:round/>
            <a:headEnd type="oval" w="med" len="med"/>
          </a:ln>
        </p:spPr>
      </p:cxnSp>
      <p:sp>
        <p:nvSpPr>
          <p:cNvPr id="21" name="TextBox 117"/>
          <p:cNvSpPr txBox="1">
            <a:spLocks noChangeArrowheads="1"/>
          </p:cNvSpPr>
          <p:nvPr/>
        </p:nvSpPr>
        <p:spPr bwMode="auto">
          <a:xfrm>
            <a:off x="6830060" y="2415540"/>
            <a:ext cx="1951990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defTabSz="1216660"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20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26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年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10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月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10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日</a:t>
            </a:r>
          </a:p>
        </p:txBody>
      </p:sp>
      <p:sp>
        <p:nvSpPr>
          <p:cNvPr id="22" name="TextBox 118"/>
          <p:cNvSpPr txBox="1">
            <a:spLocks noChangeArrowheads="1"/>
          </p:cNvSpPr>
          <p:nvPr/>
        </p:nvSpPr>
        <p:spPr bwMode="auto">
          <a:xfrm>
            <a:off x="6738620" y="2705100"/>
            <a:ext cx="243459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后台框架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接口开发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前端框架开发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数据库开发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OCR</a:t>
            </a: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算法调优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系统前后端联调</a:t>
            </a:r>
          </a:p>
        </p:txBody>
      </p:sp>
      <p:grpSp>
        <p:nvGrpSpPr>
          <p:cNvPr id="23" name="组合 125"/>
          <p:cNvGrpSpPr/>
          <p:nvPr/>
        </p:nvGrpSpPr>
        <p:grpSpPr bwMode="auto">
          <a:xfrm>
            <a:off x="9173405" y="5333403"/>
            <a:ext cx="350796" cy="314383"/>
            <a:chOff x="4971660" y="1569718"/>
            <a:chExt cx="144016" cy="144016"/>
          </a:xfrm>
        </p:grpSpPr>
        <p:sp>
          <p:nvSpPr>
            <p:cNvPr id="25" name="椭圆 126"/>
            <p:cNvSpPr>
              <a:spLocks noChangeArrowheads="1"/>
            </p:cNvSpPr>
            <p:nvPr/>
          </p:nvSpPr>
          <p:spPr bwMode="auto">
            <a:xfrm>
              <a:off x="4971660" y="1569718"/>
              <a:ext cx="144016" cy="144016"/>
            </a:xfrm>
            <a:prstGeom prst="ellipse">
              <a:avLst/>
            </a:prstGeom>
            <a:solidFill>
              <a:schemeClr val="accent2"/>
            </a:solidFill>
            <a:ln w="15875" algn="ctr">
              <a:noFill/>
              <a:round/>
            </a:ln>
          </p:spPr>
          <p:txBody>
            <a:bodyPr lIns="153563" tIns="76781" rIns="153563" bIns="76781" anchor="ctr"/>
            <a:lstStyle/>
            <a:p>
              <a:pPr algn="ctr" defTabSz="1216660">
                <a:defRPr/>
              </a:pP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endParaRPr>
            </a:p>
          </p:txBody>
        </p:sp>
        <p:sp>
          <p:nvSpPr>
            <p:cNvPr id="26" name="椭圆 127"/>
            <p:cNvSpPr>
              <a:spLocks noChangeArrowheads="1"/>
            </p:cNvSpPr>
            <p:nvPr/>
          </p:nvSpPr>
          <p:spPr bwMode="auto">
            <a:xfrm>
              <a:off x="5006027" y="1603875"/>
              <a:ext cx="75281" cy="75701"/>
            </a:xfrm>
            <a:prstGeom prst="ellipse">
              <a:avLst/>
            </a:prstGeom>
            <a:solidFill>
              <a:schemeClr val="bg1"/>
            </a:solidFill>
            <a:ln w="15875" algn="ctr">
              <a:noFill/>
              <a:round/>
            </a:ln>
          </p:spPr>
          <p:txBody>
            <a:bodyPr lIns="153563" tIns="76781" rIns="153563" bIns="76781" anchor="ctr"/>
            <a:lstStyle/>
            <a:p>
              <a:pPr algn="ctr" defTabSz="1216660">
                <a:defRPr/>
              </a:pP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endParaRPr>
            </a:p>
          </p:txBody>
        </p:sp>
      </p:grp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9354357" y="2172736"/>
            <a:ext cx="0" cy="2967588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 type="oval" w="med" len="med"/>
          </a:ln>
        </p:spPr>
      </p:cxnSp>
      <p:sp>
        <p:nvSpPr>
          <p:cNvPr id="28" name="TextBox 129"/>
          <p:cNvSpPr txBox="1">
            <a:spLocks noChangeArrowheads="1"/>
          </p:cNvSpPr>
          <p:nvPr/>
        </p:nvSpPr>
        <p:spPr bwMode="auto">
          <a:xfrm>
            <a:off x="9523730" y="2415540"/>
            <a:ext cx="2668270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defTabSz="1216660"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2026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年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10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月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31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日</a:t>
            </a:r>
          </a:p>
        </p:txBody>
      </p:sp>
      <p:sp>
        <p:nvSpPr>
          <p:cNvPr id="29" name="TextBox 130"/>
          <p:cNvSpPr txBox="1">
            <a:spLocks noChangeArrowheads="1"/>
          </p:cNvSpPr>
          <p:nvPr/>
        </p:nvSpPr>
        <p:spPr bwMode="auto">
          <a:xfrm>
            <a:off x="9440545" y="2734945"/>
            <a:ext cx="220345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系统完整测试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系统</a:t>
            </a:r>
            <a:r>
              <a: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BUG</a:t>
            </a: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修复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后台管理平台功能优化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平台功能完善</a:t>
            </a:r>
          </a:p>
          <a:p>
            <a:pPr marL="342900" indent="-342900" algn="just" defTabSz="121666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苹方-简" panose="020B0400000000000000" charset="-122"/>
                <a:ea typeface="苹方-简" panose="020B0400000000000000" charset="-122"/>
                <a:sym typeface="Source Han Serif SC" panose="02020400000000000000" pitchFamily="18" charset="-122"/>
              </a:rPr>
              <a:t>使用手册编制</a:t>
            </a:r>
          </a:p>
          <a:p>
            <a:pPr marL="342900" indent="-342900" algn="just" defTabSz="1216660">
              <a:lnSpc>
                <a:spcPct val="150000"/>
              </a:lnSpc>
              <a:defRPr/>
            </a:pPr>
            <a:endParaRPr lang="zh-CN" altLang="en-US" sz="1300" dirty="0">
              <a:solidFill>
                <a:schemeClr val="tx1">
                  <a:lumMod val="95000"/>
                  <a:lumOff val="5000"/>
                </a:schemeClr>
              </a:solidFill>
              <a:latin typeface="苹方-简" panose="020B0400000000000000" charset="-122"/>
              <a:ea typeface="苹方-简" panose="020B0400000000000000" charset="-122"/>
              <a:sym typeface="Source Han Serif SC" panose="02020400000000000000" pitchFamily="18" charset="-122"/>
            </a:endParaRPr>
          </a:p>
        </p:txBody>
      </p:sp>
    </p:spTree>
  </p:cSld>
  <p:clrMapOvr>
    <a:masterClrMapping/>
  </p:clrMapOvr>
  <p:transition spd="slow" advClick="0" advTm="200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jszx\Desktop\SUCAI\500523489.jpg500523489"/>
          <p:cNvPicPr>
            <a:picLocks noChangeAspect="1" noChangeArrowheads="1"/>
          </p:cNvPicPr>
          <p:nvPr/>
        </p:nvPicPr>
        <p:blipFill>
          <a:blip r:embed="rId3"/>
          <a:srcRect t="14040"/>
          <a:stretch>
            <a:fillRect/>
          </a:stretch>
        </p:blipFill>
        <p:spPr bwMode="auto">
          <a:xfrm>
            <a:off x="-10160" y="-27940"/>
            <a:ext cx="12202795" cy="699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椭圆 26"/>
          <p:cNvSpPr/>
          <p:nvPr/>
        </p:nvSpPr>
        <p:spPr>
          <a:xfrm>
            <a:off x="2676525" y="0"/>
            <a:ext cx="6837363" cy="6837363"/>
          </a:xfrm>
          <a:prstGeom prst="ellipse">
            <a:avLst/>
          </a:prstGeom>
          <a:noFill/>
          <a:ln w="6350" cap="flat" cmpd="sng">
            <a:solidFill>
              <a:srgbClr val="FFFFFF">
                <a:alpha val="3900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221038" y="590550"/>
            <a:ext cx="5726112" cy="5726113"/>
          </a:xfrm>
          <a:prstGeom prst="ellipse">
            <a:avLst/>
          </a:prstGeom>
          <a:solidFill>
            <a:srgbClr val="263346">
              <a:alpha val="68999"/>
            </a:srgbClr>
          </a:solidFill>
          <a:ln w="9525">
            <a:noFill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苹方-简" panose="020B0400000000000000" charset="-122"/>
              <a:ea typeface="苹方-简" panose="020B0400000000000000" charset="-122"/>
              <a:sym typeface="宋体" panose="02010600030101010101" pitchFamily="2" charset="-122"/>
            </a:endParaRPr>
          </a:p>
        </p:txBody>
      </p:sp>
      <p:sp>
        <p:nvSpPr>
          <p:cNvPr id="8" name="椭圆 10"/>
          <p:cNvSpPr/>
          <p:nvPr/>
        </p:nvSpPr>
        <p:spPr>
          <a:xfrm>
            <a:off x="3360738" y="730250"/>
            <a:ext cx="5446712" cy="5446713"/>
          </a:xfrm>
          <a:prstGeom prst="ellipse">
            <a:avLst/>
          </a:prstGeom>
          <a:noFill/>
          <a:ln w="88900" cap="flat" cmpd="sng">
            <a:solidFill>
              <a:srgbClr val="D0EAEB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苹方-简" panose="020B0400000000000000" charset="-122"/>
              <a:ea typeface="苹方-简" panose="020B0400000000000000" charset="-122"/>
              <a:sym typeface="宋体" panose="02010600030101010101" pitchFamily="2" charset="-122"/>
            </a:endParaRPr>
          </a:p>
        </p:txBody>
      </p:sp>
      <p:sp>
        <p:nvSpPr>
          <p:cNvPr id="9" name="文本框 12"/>
          <p:cNvSpPr/>
          <p:nvPr/>
        </p:nvSpPr>
        <p:spPr>
          <a:xfrm>
            <a:off x="3690303" y="3619183"/>
            <a:ext cx="48234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spc="2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账实一致·监管可溯·作业可视</a:t>
            </a:r>
          </a:p>
        </p:txBody>
      </p:sp>
      <p:sp>
        <p:nvSpPr>
          <p:cNvPr id="11" name="文本框 23"/>
          <p:cNvSpPr/>
          <p:nvPr/>
        </p:nvSpPr>
        <p:spPr>
          <a:xfrm>
            <a:off x="4414838" y="1514475"/>
            <a:ext cx="3522980" cy="1938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2000" b="1" spc="1100" dirty="0">
                <a:solidFill>
                  <a:schemeClr val="bg1"/>
                </a:solidFill>
                <a:uFillTx/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谢谢</a:t>
            </a:r>
          </a:p>
        </p:txBody>
      </p:sp>
      <p:sp>
        <p:nvSpPr>
          <p:cNvPr id="12" name="文本框 24"/>
          <p:cNvSpPr/>
          <p:nvPr/>
        </p:nvSpPr>
        <p:spPr>
          <a:xfrm>
            <a:off x="3696336" y="4218305"/>
            <a:ext cx="4776470" cy="17068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以报关单号与生产批次贯通库存与关务，以 </a:t>
            </a:r>
            <a:r>
              <a:rPr lang="en-US" altLang="zh-CN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OCR </a:t>
            </a:r>
            <a:r>
              <a:rPr lang="zh-CN" altLang="en-US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与驾驶舱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降低现场录入和监管成本，以堆位平面图把仓内布局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与在库实物放到同一张图上。推动仓储管理由经验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驱动转向单据和数据驱动，服务广西丰联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苹方-简" panose="020B0400000000000000" charset="-122"/>
                <a:ea typeface="苹方-简" panose="020B0400000000000000" charset="-122"/>
                <a:sym typeface="华文宋体" panose="02010600040101010101" pitchFamily="2" charset="-122"/>
              </a:rPr>
              <a:t>铜业保税物流数字化升级。</a:t>
            </a:r>
          </a:p>
        </p:txBody>
      </p:sp>
      <p:sp>
        <p:nvSpPr>
          <p:cNvPr id="13" name="椭圆 25"/>
          <p:cNvSpPr/>
          <p:nvPr/>
        </p:nvSpPr>
        <p:spPr>
          <a:xfrm>
            <a:off x="2946400" y="298450"/>
            <a:ext cx="6311900" cy="6310313"/>
          </a:xfrm>
          <a:prstGeom prst="ellipse">
            <a:avLst/>
          </a:prstGeom>
          <a:noFill/>
          <a:ln w="6350" cap="flat" cmpd="sng">
            <a:solidFill>
              <a:srgbClr val="FFFFFF">
                <a:alpha val="5000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苹方-简" panose="020B0400000000000000" charset="-122"/>
              <a:ea typeface="苹方-简" panose="020B0400000000000000" charset="-122"/>
              <a:sym typeface="宋体" panose="02010600030101010101" pitchFamily="2" charset="-122"/>
            </a:endParaRPr>
          </a:p>
        </p:txBody>
      </p:sp>
      <p:sp>
        <p:nvSpPr>
          <p:cNvPr id="14" name="椭圆 27"/>
          <p:cNvSpPr/>
          <p:nvPr/>
        </p:nvSpPr>
        <p:spPr>
          <a:xfrm>
            <a:off x="1773238" y="-906462"/>
            <a:ext cx="8637587" cy="8637587"/>
          </a:xfrm>
          <a:prstGeom prst="ellipse">
            <a:avLst/>
          </a:prstGeom>
          <a:noFill/>
          <a:ln w="6350" cap="flat" cmpd="sng">
            <a:solidFill>
              <a:srgbClr val="FFFFFF">
                <a:alpha val="28999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7271" y="3380740"/>
            <a:ext cx="5054600" cy="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703999&quot;,&quot;origin&quot;:0,&quot;type&quot;:&quot;pictures&quot;,&quot;user&quot;:&quot;461024061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502.6,&quot;top&quot;:116.1,&quot;width&quot;:311.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5.9726790450928,&quot;left&quot;:82.95,&quot;top&quot;:335,&quot;width&quot;:774.2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21677165354333,&quot;left&quot;:68.71133858267716,&quot;top&quot;:132.37692913385825,&quot;width&quot;:823.8500787401575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ywql13qi">
      <a:majorFont>
        <a:latin typeface="字魂58号-创中黑"/>
        <a:ea typeface="字魂58号-创中黑"/>
        <a:cs typeface=""/>
      </a:majorFont>
      <a:minorFont>
        <a:latin typeface="字魂58号-创中黑"/>
        <a:ea typeface="字魂58号-创中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3283</Words>
  <Application>Microsoft Office PowerPoint</Application>
  <PresentationFormat>宽屏</PresentationFormat>
  <Paragraphs>172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Lato Hairline</vt:lpstr>
      <vt:lpstr>Lato Regular</vt:lpstr>
      <vt:lpstr>等线</vt:lpstr>
      <vt:lpstr>苹方-简</vt:lpstr>
      <vt:lpstr>宋体</vt:lpstr>
      <vt:lpstr>微软雅黑</vt:lpstr>
      <vt:lpstr>造字工房悦黑（非商用）常规体</vt:lpstr>
      <vt:lpstr>字魂58号-创中黑</vt:lpstr>
      <vt:lpstr>Arial</vt:lpstr>
      <vt:lpstr>Lato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join mr</cp:lastModifiedBy>
  <cp:revision>52</cp:revision>
  <dcterms:created xsi:type="dcterms:W3CDTF">2026-08-26T13:27:00Z</dcterms:created>
  <dcterms:modified xsi:type="dcterms:W3CDTF">2026-09-09T07:06:33Z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DDD7125CBB444E46937E4BE7D35B4885_13</vt:lpwstr>
  </property>
</Properties>
</file>